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y="6858000" cx="12192000"/>
  <p:notesSz cx="6858000" cy="9144000"/>
  <p:embeddedFontLst>
    <p:embeddedFont>
      <p:font typeface="PT Sans Narrow"/>
      <p:regular r:id="rId82"/>
      <p:bold r:id="rId83"/>
    </p:embeddedFont>
    <p:embeddedFont>
      <p:font typeface="Century Gothic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8" roundtripDataSignature="AMtx7mjRDH5VVo6pJmwKBnQ0H0dq8+fm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B5D49B-46B4-410F-B933-D0EB36130DBD}">
  <a:tblStyle styleId="{99B5D49B-46B4-410F-B933-D0EB36130D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6200382-4F93-456C-9F40-2445E6791A1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9FF1A17-D060-4668-91F8-E0C8C404D1BC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475DE706-4D9C-4892-A1B5-FE5E060F1A38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CenturyGothic-regular.fntdata"/><Relationship Id="rId83" Type="http://schemas.openxmlformats.org/officeDocument/2006/relationships/font" Target="fonts/PTSansNarrow-bold.fntdata"/><Relationship Id="rId42" Type="http://schemas.openxmlformats.org/officeDocument/2006/relationships/slide" Target="slides/slide37.xml"/><Relationship Id="rId86" Type="http://schemas.openxmlformats.org/officeDocument/2006/relationships/font" Target="fonts/CenturyGothic-italic.fntdata"/><Relationship Id="rId41" Type="http://schemas.openxmlformats.org/officeDocument/2006/relationships/slide" Target="slides/slide36.xml"/><Relationship Id="rId85" Type="http://schemas.openxmlformats.org/officeDocument/2006/relationships/font" Target="fonts/CenturyGothic-bold.fntdata"/><Relationship Id="rId44" Type="http://schemas.openxmlformats.org/officeDocument/2006/relationships/slide" Target="slides/slide39.xml"/><Relationship Id="rId88" Type="http://customschemas.google.com/relationships/presentationmetadata" Target="metadata"/><Relationship Id="rId43" Type="http://schemas.openxmlformats.org/officeDocument/2006/relationships/slide" Target="slides/slide38.xml"/><Relationship Id="rId87" Type="http://schemas.openxmlformats.org/officeDocument/2006/relationships/font" Target="fonts/CenturyGothic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font" Target="fonts/PTSansNarrow-regular.fntdata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883694a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883694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1a8f40e32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11a8f40e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1a8f40e3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111a8f40e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25835b83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1125835b8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25835b83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1125835b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25835b83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1125835b8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1a8f40a60_0_4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111a8f40a60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25835b83e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1125835b83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25835b83e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1125835b83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25835b83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1125835b83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25835b83e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1125835b83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25afdb20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1125afdb2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25afdb20d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1125afdb20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25afdb20d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1125afdb20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25afdb20d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125afdb20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25afdb20d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125afdb20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25afdb20d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1125afdb20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25afdb20d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1125afdb20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25afdb20d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1125afdb20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25afdb20d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1125afdb20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25afdb20d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1125afdb20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25afdb20d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1125afdb20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25afdb20d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1125afdb20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25afdb20d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1125afdb20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25afdb20d_0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125afdb20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1e9a3adc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111e9a3a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25afdb20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1125afdb20d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25afdb20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1125afdb20d_0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125afdb20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g1125afdb20d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125afdb20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1125afdb20d_0_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25afdb20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1125afdb20d_0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125afdb20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g1125afdb20d_0_2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25afdb20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1125afdb20d_0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125afdb20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1125afdb20d_0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25afdb20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1125afdb20d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125afdb20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g1125afdb20d_0_2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125afdb20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g1125afdb20d_0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25afdb20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1125afdb20d_0_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125afdb20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1125afdb20d_0_2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11e9a3adc6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111e9a3adc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1e9a3adc6_0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111e9a3adc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1e9a3adc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111e9a3ad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1e9a3ad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g111e9a3adc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1e9a3ad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111e9a3adc6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1e9a3adc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g111e9a3adc6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11e9a3adc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g111e9a3adc6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11e9a3adc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g111e9a3adc6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11e9a3ad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g111e9a3adc6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1e9a3adc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111e9a3adc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11e9a3adc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g111e9a3adc6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1e9a3adc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g111e9a3adc6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1e9a3adc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g111e9a3adc6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11a8f40a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111a8f40a6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dcfad3361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11dcfad33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1693f1a66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21693f1a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fad336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g11dcfad3361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afdc7c83cc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afdc7c83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afdc7c83cc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afdc7c83c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afdc7c83cc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afdc7c83cc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9b474e04c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9b474e04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9e11b927b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9e11b927b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afdc7c83cc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afdc7c83c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afdc7c83cc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afdc7c83c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9b474e04cd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9b474e04c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afdc7c83cc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afdc7c83cc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afdc7c83cc_1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afdc7c83cc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afdc7c83cc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afdc7c83cc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afdc7c83cc_1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afdc7c83cc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afdc7c83cc_1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afdc7c83cc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afdc7c83cc_1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afdc7c83cc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afdc7c83cc_1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afdc7c83cc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afdc7c83cc_1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afdc7c83cc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afdc7c83cc_1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afdc7c83cc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b81965fff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b81965f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afdc7c83cc_1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afdc7c83cc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3"/>
          <p:cNvSpPr txBox="1"/>
          <p:nvPr>
            <p:ph type="title"/>
          </p:nvPr>
        </p:nvSpPr>
        <p:spPr>
          <a:xfrm rot="5400000">
            <a:off x="6863537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4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2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w3schools.com/tags/tag_tbody.asp" TargetMode="External"/><Relationship Id="rId10" Type="http://schemas.openxmlformats.org/officeDocument/2006/relationships/hyperlink" Target="https://www.w3schools.com/tags/tag_thead.asp" TargetMode="External"/><Relationship Id="rId13" Type="http://schemas.openxmlformats.org/officeDocument/2006/relationships/image" Target="../media/image7.png"/><Relationship Id="rId12" Type="http://schemas.openxmlformats.org/officeDocument/2006/relationships/hyperlink" Target="https://www.w3schools.com/tags/tag_tfoot.asp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w3schools.com/tags/tag_table.asp" TargetMode="External"/><Relationship Id="rId4" Type="http://schemas.openxmlformats.org/officeDocument/2006/relationships/hyperlink" Target="https://www.w3schools.com/tags/tag_th.asp" TargetMode="External"/><Relationship Id="rId9" Type="http://schemas.openxmlformats.org/officeDocument/2006/relationships/hyperlink" Target="https://www.w3schools.com/tags/tag_col.asp" TargetMode="External"/><Relationship Id="rId5" Type="http://schemas.openxmlformats.org/officeDocument/2006/relationships/hyperlink" Target="https://www.w3schools.com/tags/tag_tr.asp" TargetMode="External"/><Relationship Id="rId6" Type="http://schemas.openxmlformats.org/officeDocument/2006/relationships/hyperlink" Target="https://www.w3schools.com/tags/tag_td.asp" TargetMode="External"/><Relationship Id="rId7" Type="http://schemas.openxmlformats.org/officeDocument/2006/relationships/hyperlink" Target="https://www.w3schools.com/tags/tag_caption.asp" TargetMode="External"/><Relationship Id="rId8" Type="http://schemas.openxmlformats.org/officeDocument/2006/relationships/hyperlink" Target="https://www.w3schools.com/tags/tag_colgroup.asp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w3schools.com/tags/tag_form.asp" TargetMode="External"/><Relationship Id="rId4" Type="http://schemas.openxmlformats.org/officeDocument/2006/relationships/hyperlink" Target="https://www.w3schools.com/tags/tag_input.asp" TargetMode="External"/><Relationship Id="rId9" Type="http://schemas.openxmlformats.org/officeDocument/2006/relationships/hyperlink" Target="https://www.w3schools.com/tags/tag_button.asp" TargetMode="External"/><Relationship Id="rId5" Type="http://schemas.openxmlformats.org/officeDocument/2006/relationships/hyperlink" Target="https://www.w3schools.com/tags/tag_textarea.asp" TargetMode="External"/><Relationship Id="rId6" Type="http://schemas.openxmlformats.org/officeDocument/2006/relationships/hyperlink" Target="https://www.w3schools.com/tags/tag_label.asp" TargetMode="External"/><Relationship Id="rId7" Type="http://schemas.openxmlformats.org/officeDocument/2006/relationships/hyperlink" Target="https://www.w3schools.com/tags/tag_select.asp" TargetMode="External"/><Relationship Id="rId8" Type="http://schemas.openxmlformats.org/officeDocument/2006/relationships/hyperlink" Target="https://www.w3schools.com/tags/tag_option.asp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www.w3schools.com/tags/tag_audio.asp" TargetMode="External"/><Relationship Id="rId4" Type="http://schemas.openxmlformats.org/officeDocument/2006/relationships/hyperlink" Target="https://www.w3schools.com/tags/tag_video.asp" TargetMode="External"/><Relationship Id="rId5" Type="http://schemas.openxmlformats.org/officeDocument/2006/relationships/hyperlink" Target="https://www.w3schools.com/tags/tag_progress.asp" TargetMode="External"/><Relationship Id="rId6" Type="http://schemas.openxmlformats.org/officeDocument/2006/relationships/hyperlink" Target="https://www.w3schools.com/tags/tag_nav.asp" TargetMode="External"/><Relationship Id="rId7" Type="http://schemas.openxmlformats.org/officeDocument/2006/relationships/hyperlink" Target="https://www.w3schools.com/html/html5_canvas.asp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/>
          <p:nvPr>
            <p:ph type="ctrTitle"/>
          </p:nvPr>
        </p:nvSpPr>
        <p:spPr>
          <a:xfrm>
            <a:off x="397650" y="902475"/>
            <a:ext cx="11396700" cy="3617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/>
              <a:t>Web Technology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Module II: HTML5 and Web Page Structuring 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883694a7_0_1"/>
          <p:cNvSpPr txBox="1"/>
          <p:nvPr>
            <p:ph type="ctrTitle"/>
          </p:nvPr>
        </p:nvSpPr>
        <p:spPr>
          <a:xfrm>
            <a:off x="810000" y="317375"/>
            <a:ext cx="10572000" cy="445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HTML basics – elements, tags, attributes, document structure.Text formatting and hyperlinks. 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Lists, tables, anchors, forms and input elements. HTML5 semantic tags – header, footer, nav, article, section. 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Embedding media – audio, video, iframes. Canvas and SVG basics. 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Responsive design with HTML meta viewport. Accessibility standards – ARIA roles, alt text, best practices.</a:t>
            </a:r>
            <a:r>
              <a:rPr lang="en-US" sz="3200"/>
              <a:t> 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1a8f40e32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26" name="Google Shape;126;g111a8f40e32_0_5"/>
          <p:cNvSpPr txBox="1"/>
          <p:nvPr/>
        </p:nvSpPr>
        <p:spPr>
          <a:xfrm>
            <a:off x="4624500" y="2399550"/>
            <a:ext cx="217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="0" i="0" lang="en-US" sz="58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0" i="0" lang="en-US" sz="58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="0" i="0" lang="en-US" sz="5800" u="none" cap="none" strike="noStrik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endParaRPr b="0" i="0" sz="5800" u="none" cap="none" strike="noStrike"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g111a8f40e32_0_5"/>
          <p:cNvSpPr txBox="1"/>
          <p:nvPr/>
        </p:nvSpPr>
        <p:spPr>
          <a:xfrm>
            <a:off x="632275" y="5137384"/>
            <a:ext cx="2170800" cy="8313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Hyper</a:t>
            </a:r>
            <a:r>
              <a:rPr b="0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42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g111a8f40e32_0_5"/>
          <p:cNvSpPr txBox="1"/>
          <p:nvPr/>
        </p:nvSpPr>
        <p:spPr>
          <a:xfrm>
            <a:off x="3705313" y="5137384"/>
            <a:ext cx="20643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Text</a:t>
            </a:r>
            <a:endParaRPr b="0" i="0" sz="40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111a8f40e32_0_5"/>
          <p:cNvSpPr txBox="1"/>
          <p:nvPr/>
        </p:nvSpPr>
        <p:spPr>
          <a:xfrm>
            <a:off x="6671850" y="5137384"/>
            <a:ext cx="2283000" cy="8004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Markup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0" name="Google Shape;130;g111a8f40e32_0_5"/>
          <p:cNvCxnSpPr>
            <a:endCxn id="127" idx="0"/>
          </p:cNvCxnSpPr>
          <p:nvPr/>
        </p:nvCxnSpPr>
        <p:spPr>
          <a:xfrm flipH="1">
            <a:off x="1717675" y="3399484"/>
            <a:ext cx="3166500" cy="17379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g111a8f40e32_0_5"/>
          <p:cNvCxnSpPr>
            <a:endCxn id="128" idx="0"/>
          </p:cNvCxnSpPr>
          <p:nvPr/>
        </p:nvCxnSpPr>
        <p:spPr>
          <a:xfrm flipH="1">
            <a:off x="4737463" y="3515884"/>
            <a:ext cx="697200" cy="1621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g111a8f40e32_0_5"/>
          <p:cNvCxnSpPr/>
          <p:nvPr/>
        </p:nvCxnSpPr>
        <p:spPr>
          <a:xfrm>
            <a:off x="5946675" y="3460545"/>
            <a:ext cx="1430100" cy="16203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g111a8f40e32_0_5"/>
          <p:cNvSpPr txBox="1"/>
          <p:nvPr/>
        </p:nvSpPr>
        <p:spPr>
          <a:xfrm>
            <a:off x="9349225" y="5076028"/>
            <a:ext cx="2458800" cy="8004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Language</a:t>
            </a:r>
            <a:endParaRPr b="0" i="0" sz="4000" u="none" cap="none" strike="noStrike"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4" name="Google Shape;134;g111a8f40e32_0_5"/>
          <p:cNvCxnSpPr/>
          <p:nvPr/>
        </p:nvCxnSpPr>
        <p:spPr>
          <a:xfrm>
            <a:off x="6587825" y="3516036"/>
            <a:ext cx="3642000" cy="15033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1a8f40e32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Intro</a:t>
            </a:r>
            <a:endParaRPr/>
          </a:p>
        </p:txBody>
      </p:sp>
      <p:sp>
        <p:nvSpPr>
          <p:cNvPr id="140" name="Google Shape;140;g111a8f40e32_0_0"/>
          <p:cNvSpPr txBox="1"/>
          <p:nvPr>
            <p:ph idx="1" type="body"/>
          </p:nvPr>
        </p:nvSpPr>
        <p:spPr>
          <a:xfrm>
            <a:off x="818712" y="246503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PT Sans Narrow"/>
                <a:ea typeface="PT Sans Narrow"/>
                <a:cs typeface="PT Sans Narrow"/>
                <a:sym typeface="PT Sans Narrow"/>
              </a:rPr>
              <a:t>•HTML stands for Hyper Text Markup Language</a:t>
            </a:r>
            <a:endParaRPr sz="3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PT Sans Narrow"/>
                <a:ea typeface="PT Sans Narrow"/>
                <a:cs typeface="PT Sans Narrow"/>
                <a:sym typeface="PT Sans Narrow"/>
              </a:rPr>
              <a:t>•HTML is the standard markup language for creating Web pages</a:t>
            </a:r>
            <a:endParaRPr sz="3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PT Sans Narrow"/>
                <a:ea typeface="PT Sans Narrow"/>
                <a:cs typeface="PT Sans Narrow"/>
                <a:sym typeface="PT Sans Narrow"/>
              </a:rPr>
              <a:t>•HTML describes the structure of a Web page</a:t>
            </a:r>
            <a:endParaRPr sz="3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PT Sans Narrow"/>
                <a:ea typeface="PT Sans Narrow"/>
                <a:cs typeface="PT Sans Narrow"/>
                <a:sym typeface="PT Sans Narrow"/>
              </a:rPr>
              <a:t>•HTML consists of a series of elements</a:t>
            </a:r>
            <a:endParaRPr sz="3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PT Sans Narrow"/>
                <a:ea typeface="PT Sans Narrow"/>
                <a:cs typeface="PT Sans Narrow"/>
                <a:sym typeface="PT Sans Narrow"/>
              </a:rPr>
              <a:t>•HTML elements tell the browser how to display the content</a:t>
            </a:r>
            <a:endParaRPr sz="3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25835b83e_0_1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Versions</a:t>
            </a:r>
            <a:endParaRPr/>
          </a:p>
        </p:txBody>
      </p:sp>
      <p:graphicFrame>
        <p:nvGraphicFramePr>
          <p:cNvPr id="146" name="Google Shape;146;g1125835b83e_0_12"/>
          <p:cNvGraphicFramePr/>
          <p:nvPr/>
        </p:nvGraphicFramePr>
        <p:xfrm>
          <a:off x="2820050" y="224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2842600"/>
                <a:gridCol w="2842600"/>
              </a:tblGrid>
              <a:tr h="81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en-US" sz="3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Version</a:t>
                      </a:r>
                      <a:endParaRPr b="1" sz="3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en-US" sz="3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Year</a:t>
                      </a:r>
                      <a:endParaRPr b="1" sz="3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1991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 2.0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1995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 3.2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1997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 4.01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1999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XHTML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2000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HTML5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2014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25835b83e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Tags</a:t>
            </a:r>
            <a:endParaRPr/>
          </a:p>
        </p:txBody>
      </p:sp>
      <p:sp>
        <p:nvSpPr>
          <p:cNvPr id="152" name="Google Shape;152;g1125835b83e_0_0"/>
          <p:cNvSpPr txBox="1"/>
          <p:nvPr>
            <p:ph idx="1" type="body"/>
          </p:nvPr>
        </p:nvSpPr>
        <p:spPr>
          <a:xfrm>
            <a:off x="537250" y="2379400"/>
            <a:ext cx="11430900" cy="4108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PT Sans Narrow"/>
              <a:buChar char="●"/>
            </a:pP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HTML tags are element names surrounded by angle brackets:</a:t>
            </a:r>
            <a:endParaRPr sz="26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PT Sans Narrow"/>
              <a:buChar char="●"/>
            </a:pPr>
            <a:r>
              <a:rPr lang="en-US" sz="26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&lt;tagname&gt;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content goes here...</a:t>
            </a:r>
            <a:r>
              <a:rPr lang="en-US" sz="26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&lt;/tagname&gt;</a:t>
            </a:r>
            <a:endParaRPr sz="2600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PT Sans Narrow"/>
              <a:buChar char="●"/>
            </a:pP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HTML tags normally come </a:t>
            </a:r>
            <a:r>
              <a:rPr b="1" lang="en-US" sz="2600">
                <a:latin typeface="PT Sans Narrow"/>
                <a:ea typeface="PT Sans Narrow"/>
                <a:cs typeface="PT Sans Narrow"/>
                <a:sym typeface="PT Sans Narrow"/>
              </a:rPr>
              <a:t>in pairs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 like &lt;p&gt; and &lt;/p&gt;</a:t>
            </a:r>
            <a:endParaRPr sz="26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PT Sans Narrow"/>
              <a:buChar char="●"/>
            </a:pP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The first tag in a pair is the </a:t>
            </a:r>
            <a:r>
              <a:rPr b="1" lang="en-US" sz="2600">
                <a:latin typeface="PT Sans Narrow"/>
                <a:ea typeface="PT Sans Narrow"/>
                <a:cs typeface="PT Sans Narrow"/>
                <a:sym typeface="PT Sans Narrow"/>
              </a:rPr>
              <a:t>start tag,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 the second tag is the </a:t>
            </a:r>
            <a:r>
              <a:rPr b="1" lang="en-US" sz="2600">
                <a:latin typeface="PT Sans Narrow"/>
                <a:ea typeface="PT Sans Narrow"/>
                <a:cs typeface="PT Sans Narrow"/>
                <a:sym typeface="PT Sans Narrow"/>
              </a:rPr>
              <a:t>end tag</a:t>
            </a:r>
            <a:endParaRPr b="1" sz="26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PT Sans Narrow"/>
              <a:buChar char="●"/>
            </a:pP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1" lang="en-US" sz="2600">
                <a:latin typeface="PT Sans Narrow"/>
                <a:ea typeface="PT Sans Narrow"/>
                <a:cs typeface="PT Sans Narrow"/>
                <a:sym typeface="PT Sans Narrow"/>
              </a:rPr>
              <a:t>end tag 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is written like the start tag, but with a </a:t>
            </a:r>
            <a:r>
              <a:rPr b="1" lang="en-US" sz="2600">
                <a:latin typeface="PT Sans Narrow"/>
                <a:ea typeface="PT Sans Narrow"/>
                <a:cs typeface="PT Sans Narrow"/>
                <a:sym typeface="PT Sans Narrow"/>
              </a:rPr>
              <a:t>forward slash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 inserted before the tag name </a:t>
            </a:r>
            <a:endParaRPr sz="22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25835b83e_0_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Page Structure</a:t>
            </a:r>
            <a:endParaRPr/>
          </a:p>
        </p:txBody>
      </p:sp>
      <p:pic>
        <p:nvPicPr>
          <p:cNvPr id="158" name="Google Shape;158;g1125835b83e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900" y="1814918"/>
            <a:ext cx="9687125" cy="505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1a8f40a60_0_48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Elements</a:t>
            </a:r>
            <a:endParaRPr/>
          </a:p>
        </p:txBody>
      </p:sp>
      <p:sp>
        <p:nvSpPr>
          <p:cNvPr id="164" name="Google Shape;164;g111a8f40a60_0_483"/>
          <p:cNvSpPr txBox="1"/>
          <p:nvPr>
            <p:ph idx="1" type="body"/>
          </p:nvPr>
        </p:nvSpPr>
        <p:spPr>
          <a:xfrm>
            <a:off x="818700" y="2116775"/>
            <a:ext cx="10554600" cy="46731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Headings,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paragraphs,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line break,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●"/>
            </a:pPr>
            <a:r>
              <a:rPr lang="en-US" sz="2400">
                <a:solidFill>
                  <a:srgbClr val="FFFF00"/>
                </a:solidFill>
              </a:rPr>
              <a:t>Text Formatting (Value Addition)</a:t>
            </a:r>
            <a:endParaRPr sz="2400">
              <a:solidFill>
                <a:srgbClr val="FFFF00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colors and fonts,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links,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●"/>
            </a:pPr>
            <a:r>
              <a:rPr lang="en-US" sz="2400">
                <a:solidFill>
                  <a:srgbClr val="FFFF00"/>
                </a:solidFill>
              </a:rPr>
              <a:t>Hyperlink-anchor tag ( Value Addition)</a:t>
            </a:r>
            <a:endParaRPr sz="2400">
              <a:solidFill>
                <a:srgbClr val="FFFF00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images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lists,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tables,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frames and forms,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FFFF00"/>
                </a:solidFill>
              </a:rPr>
              <a:t>Span and Div tag ( Value Addition)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25835b83e_0_1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PT Sans Narrow"/>
                <a:ea typeface="PT Sans Narrow"/>
                <a:cs typeface="PT Sans Narrow"/>
                <a:sym typeface="PT Sans Narrow"/>
              </a:rPr>
              <a:t>HTML- Heading Tags</a:t>
            </a:r>
            <a:endParaRPr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0" name="Google Shape;170;g1125835b83e_0_19"/>
          <p:cNvSpPr txBox="1"/>
          <p:nvPr>
            <p:ph idx="1" type="body"/>
          </p:nvPr>
        </p:nvSpPr>
        <p:spPr>
          <a:xfrm>
            <a:off x="818700" y="2222284"/>
            <a:ext cx="10554600" cy="759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HTML headings are defined with the </a:t>
            </a:r>
            <a:r>
              <a:rPr b="1" lang="en-US" sz="21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&lt;h1&gt;</a:t>
            </a:r>
            <a:r>
              <a:rPr lang="en-US" sz="21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to </a:t>
            </a:r>
            <a:r>
              <a:rPr b="1" lang="en-US" sz="21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&lt;h6&gt;</a:t>
            </a: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 tags. &lt;h1&gt; defines the most important heading. &lt;h6&gt; defines the least important heading:</a:t>
            </a:r>
            <a:endParaRPr sz="1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71" name="Google Shape;171;g1125835b83e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350" y="3225034"/>
            <a:ext cx="3416067" cy="357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1125835b83e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7817" y="3225034"/>
            <a:ext cx="3322262" cy="357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1125835b83e_0_19"/>
          <p:cNvSpPr/>
          <p:nvPr/>
        </p:nvSpPr>
        <p:spPr>
          <a:xfrm>
            <a:off x="5233125" y="4711300"/>
            <a:ext cx="2109000" cy="75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6B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1125835b83e_0_19"/>
          <p:cNvSpPr txBox="1"/>
          <p:nvPr/>
        </p:nvSpPr>
        <p:spPr>
          <a:xfrm>
            <a:off x="5577750" y="4195425"/>
            <a:ext cx="124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i="0" sz="2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25835b83e_0_2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PT Sans Narrow"/>
                <a:ea typeface="PT Sans Narrow"/>
                <a:cs typeface="PT Sans Narrow"/>
                <a:sym typeface="PT Sans Narrow"/>
              </a:rPr>
              <a:t>HTML- Paragraph Tag, Line Break and Horizontal Line</a:t>
            </a:r>
            <a:endParaRPr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0" name="Google Shape;180;g1125835b83e_0_29"/>
          <p:cNvSpPr txBox="1"/>
          <p:nvPr>
            <p:ph idx="1" type="body"/>
          </p:nvPr>
        </p:nvSpPr>
        <p:spPr>
          <a:xfrm>
            <a:off x="287650" y="2040175"/>
            <a:ext cx="5643300" cy="1245000"/>
          </a:xfrm>
          <a:prstGeom prst="rect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9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&lt;p&gt; &lt;/p&gt;</a:t>
            </a: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 is used for paragraph tags. 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&lt;p&gt;This is my first paragraph&lt;/p&gt;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1" name="Google Shape;181;g1125835b83e_0_29"/>
          <p:cNvSpPr txBox="1"/>
          <p:nvPr>
            <p:ph idx="1" type="body"/>
          </p:nvPr>
        </p:nvSpPr>
        <p:spPr>
          <a:xfrm>
            <a:off x="2989050" y="3527775"/>
            <a:ext cx="6431700" cy="141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9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&lt;br&gt; </a:t>
            </a: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is used for Line break- </a:t>
            </a:r>
            <a:r>
              <a:rPr b="1" lang="en-US" sz="320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is Singular Tag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&amp;nbsp for space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2" name="Google Shape;182;g1125835b83e_0_29"/>
          <p:cNvSpPr txBox="1"/>
          <p:nvPr>
            <p:ph idx="1" type="body"/>
          </p:nvPr>
        </p:nvSpPr>
        <p:spPr>
          <a:xfrm>
            <a:off x="5738700" y="5121575"/>
            <a:ext cx="5643300" cy="12450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9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&lt;hr&gt;</a:t>
            </a: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 is used to add Horizontal line. 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Its is Singular Tag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25835b83e_0_39"/>
          <p:cNvSpPr txBox="1"/>
          <p:nvPr>
            <p:ph type="title"/>
          </p:nvPr>
        </p:nvSpPr>
        <p:spPr>
          <a:xfrm rot="5400000">
            <a:off x="6655175" y="2114525"/>
            <a:ext cx="5551500" cy="2494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Text Formatting Tags</a:t>
            </a:r>
            <a:endParaRPr/>
          </a:p>
        </p:txBody>
      </p:sp>
      <p:graphicFrame>
        <p:nvGraphicFramePr>
          <p:cNvPr id="188" name="Google Shape;188;g1125835b83e_0_39"/>
          <p:cNvGraphicFramePr/>
          <p:nvPr/>
        </p:nvGraphicFramePr>
        <p:xfrm>
          <a:off x="516525" y="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3118525"/>
                <a:gridCol w="3451875"/>
              </a:tblGrid>
              <a:tr h="39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&lt;b&gt;&lt;/b&gt;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bold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&lt;i&gt;&lt;/i&gt;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i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italicized</a:t>
                      </a:r>
                      <a:endParaRPr i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&lt;u&gt;&lt;/u&gt;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underlined</a:t>
                      </a:r>
                      <a:endParaRPr sz="23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&lt;sup&gt;&lt;/sup&gt;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Sample</a:t>
                      </a:r>
                      <a:r>
                        <a:rPr baseline="30000" lang="en-US" sz="36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superscript</a:t>
                      </a:r>
                      <a:endParaRPr baseline="30000" sz="36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&lt;sub&gt;&lt;/sub&gt;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Sample</a:t>
                      </a:r>
                      <a:r>
                        <a:rPr baseline="-25000" lang="en-US" sz="36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subscript</a:t>
                      </a:r>
                      <a:endParaRPr baseline="-25000" sz="36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&lt;strong&gt;&lt;/strong&gt;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strong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&lt;em&gt;&lt;/em&gt;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i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emphasized</a:t>
                      </a:r>
                      <a:endParaRPr i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&lt;pre&gt;&lt;/pre&gt;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Preformatted text</a:t>
                      </a:r>
                      <a:endParaRPr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&lt;blockquote&gt;&lt;/blockquote&gt;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Quoted text block</a:t>
                      </a:r>
                      <a:endParaRPr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&lt;del&gt;&lt;/del&gt;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Deleted text – </a:t>
                      </a:r>
                      <a:r>
                        <a:rPr lang="en-US" sz="2300" u="none" cap="none" strike="sng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strike through</a:t>
                      </a:r>
                      <a:endParaRPr sz="2300" u="none" cap="none" strike="sng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25835b83e_0_4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Fonts &amp; Colors</a:t>
            </a:r>
            <a:endParaRPr/>
          </a:p>
        </p:txBody>
      </p:sp>
      <p:sp>
        <p:nvSpPr>
          <p:cNvPr id="194" name="Google Shape;194;g1125835b83e_0_47"/>
          <p:cNvSpPr txBox="1"/>
          <p:nvPr>
            <p:ph idx="1" type="body"/>
          </p:nvPr>
        </p:nvSpPr>
        <p:spPr>
          <a:xfrm>
            <a:off x="2970900" y="2586425"/>
            <a:ext cx="62502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highlight>
                  <a:srgbClr val="249C90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&lt;Font&gt;</a:t>
            </a:r>
            <a:r>
              <a:rPr lang="en-US" sz="3500">
                <a:latin typeface="PT Sans Narrow"/>
                <a:ea typeface="PT Sans Narrow"/>
                <a:cs typeface="PT Sans Narrow"/>
                <a:sym typeface="PT Sans Narrow"/>
              </a:rPr>
              <a:t> Text Comes Here </a:t>
            </a:r>
            <a:r>
              <a:rPr lang="en-US" sz="3500">
                <a:highlight>
                  <a:srgbClr val="249C90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&lt;/Font&gt;</a:t>
            </a:r>
            <a:endParaRPr sz="3500">
              <a:highlight>
                <a:srgbClr val="249C90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5" name="Google Shape;195;g1125835b83e_0_47"/>
          <p:cNvSpPr txBox="1"/>
          <p:nvPr/>
        </p:nvSpPr>
        <p:spPr>
          <a:xfrm>
            <a:off x="3153300" y="3556925"/>
            <a:ext cx="5885400" cy="25221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What attributes can use with Font tag:</a:t>
            </a:r>
            <a:endParaRPr b="0" i="0" sz="3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face </a:t>
            </a:r>
            <a:endParaRPr b="0" i="0" sz="3300" u="none" cap="none" strike="noStrike">
              <a:solidFill>
                <a:srgbClr val="00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size </a:t>
            </a:r>
            <a:endParaRPr b="0" i="0" sz="3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</a:t>
            </a:r>
            <a:endParaRPr b="0" i="0" sz="23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25afdb20d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Fonts &amp; Colors</a:t>
            </a:r>
            <a:endParaRPr/>
          </a:p>
        </p:txBody>
      </p:sp>
      <p:sp>
        <p:nvSpPr>
          <p:cNvPr id="201" name="Google Shape;201;g1125afdb20d_0_0"/>
          <p:cNvSpPr txBox="1"/>
          <p:nvPr/>
        </p:nvSpPr>
        <p:spPr>
          <a:xfrm>
            <a:off x="573950" y="3769350"/>
            <a:ext cx="1988700" cy="18609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face </a:t>
            </a:r>
            <a:endParaRPr b="0" i="0" sz="3300" u="none" cap="none" strike="noStrike">
              <a:solidFill>
                <a:srgbClr val="00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size </a:t>
            </a:r>
            <a:endParaRPr b="0" i="0" sz="3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</a:t>
            </a:r>
            <a:endParaRPr b="0" i="0" sz="23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02" name="Google Shape;202;g1125afdb20d_0_0"/>
          <p:cNvSpPr txBox="1"/>
          <p:nvPr/>
        </p:nvSpPr>
        <p:spPr>
          <a:xfrm>
            <a:off x="4443600" y="3151750"/>
            <a:ext cx="6938400" cy="9459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</a:t>
            </a:r>
            <a:r>
              <a:rPr b="1" i="0" lang="en-US" sz="2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set font face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using face attribute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1" i="0" lang="en-US" sz="2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Example:-</a:t>
            </a:r>
            <a:r>
              <a:rPr b="1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face = "Times New Roman" 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203" name="Google Shape;203;g1125afdb20d_0_0"/>
          <p:cNvCxnSpPr>
            <a:endCxn id="202" idx="1"/>
          </p:cNvCxnSpPr>
          <p:nvPr/>
        </p:nvCxnSpPr>
        <p:spPr>
          <a:xfrm flipH="1" rot="10800000">
            <a:off x="1895100" y="3624700"/>
            <a:ext cx="2548500" cy="5100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25afdb20d_0_8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Fonts &amp; Colors</a:t>
            </a:r>
            <a:endParaRPr/>
          </a:p>
        </p:txBody>
      </p:sp>
      <p:sp>
        <p:nvSpPr>
          <p:cNvPr id="209" name="Google Shape;209;g1125afdb20d_0_89"/>
          <p:cNvSpPr txBox="1"/>
          <p:nvPr/>
        </p:nvSpPr>
        <p:spPr>
          <a:xfrm>
            <a:off x="573950" y="3769350"/>
            <a:ext cx="1988700" cy="18609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face </a:t>
            </a:r>
            <a:endParaRPr b="0" i="0" sz="3300" u="none" cap="none" strike="noStrike">
              <a:solidFill>
                <a:srgbClr val="00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size </a:t>
            </a:r>
            <a:endParaRPr b="0" i="0" sz="3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</a:t>
            </a:r>
            <a:endParaRPr b="0" i="0" sz="23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10" name="Google Shape;210;g1125afdb20d_0_89"/>
          <p:cNvSpPr txBox="1"/>
          <p:nvPr/>
        </p:nvSpPr>
        <p:spPr>
          <a:xfrm>
            <a:off x="4262225" y="3005275"/>
            <a:ext cx="6938400" cy="176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set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content font size</a:t>
            </a: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using size attribute.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range of accepted values is from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1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(smallest) to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7(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largest)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default size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of a font is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3</a:t>
            </a:r>
            <a:endParaRPr b="1" i="0" sz="2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</a:t>
            </a: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:- &lt;font size = "5"&gt; Hello &lt;/font&gt;</a:t>
            </a:r>
            <a:endParaRPr b="1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211" name="Google Shape;211;g1125afdb20d_0_89"/>
          <p:cNvCxnSpPr>
            <a:endCxn id="210" idx="1"/>
          </p:cNvCxnSpPr>
          <p:nvPr/>
        </p:nvCxnSpPr>
        <p:spPr>
          <a:xfrm flipH="1" rot="10800000">
            <a:off x="2062025" y="3885325"/>
            <a:ext cx="2200200" cy="7950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125afdb20d_0_10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Fonts &amp; Colors</a:t>
            </a:r>
            <a:endParaRPr/>
          </a:p>
        </p:txBody>
      </p:sp>
      <p:sp>
        <p:nvSpPr>
          <p:cNvPr id="217" name="Google Shape;217;g1125afdb20d_0_100"/>
          <p:cNvSpPr txBox="1"/>
          <p:nvPr/>
        </p:nvSpPr>
        <p:spPr>
          <a:xfrm>
            <a:off x="573950" y="3769350"/>
            <a:ext cx="1988700" cy="18609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face </a:t>
            </a:r>
            <a:endParaRPr b="0" i="0" sz="3300" u="none" cap="none" strike="noStrike">
              <a:solidFill>
                <a:srgbClr val="00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size </a:t>
            </a:r>
            <a:endParaRPr b="0" i="0" sz="3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</a:t>
            </a:r>
            <a:endParaRPr b="0" i="0" sz="23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18" name="Google Shape;218;g1125afdb20d_0_100"/>
          <p:cNvSpPr txBox="1"/>
          <p:nvPr/>
        </p:nvSpPr>
        <p:spPr>
          <a:xfrm>
            <a:off x="4368425" y="3427775"/>
            <a:ext cx="6938400" cy="19548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set font color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using color attribute.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specify the color either by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name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or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hexadecimal code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for that color.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color =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"#FF00FF"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color =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"red"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219" name="Google Shape;219;g1125afdb20d_0_100"/>
          <p:cNvCxnSpPr>
            <a:endCxn id="218" idx="1"/>
          </p:cNvCxnSpPr>
          <p:nvPr/>
        </p:nvCxnSpPr>
        <p:spPr>
          <a:xfrm flipH="1" rot="10800000">
            <a:off x="2062025" y="4405175"/>
            <a:ext cx="2306400" cy="8370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25afdb20d_0_11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Fonts &amp; Colors</a:t>
            </a:r>
            <a:endParaRPr/>
          </a:p>
        </p:txBody>
      </p:sp>
      <p:sp>
        <p:nvSpPr>
          <p:cNvPr id="225" name="Google Shape;225;g1125afdb20d_0_111"/>
          <p:cNvSpPr txBox="1"/>
          <p:nvPr/>
        </p:nvSpPr>
        <p:spPr>
          <a:xfrm>
            <a:off x="573950" y="3769350"/>
            <a:ext cx="1988700" cy="18609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face </a:t>
            </a:r>
            <a:endParaRPr b="0" i="0" sz="3300" u="none" cap="none" strike="noStrike">
              <a:solidFill>
                <a:srgbClr val="00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size </a:t>
            </a:r>
            <a:endParaRPr b="0" i="0" sz="3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38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300"/>
              <a:buFont typeface="PT Sans Narrow"/>
              <a:buChar char="●"/>
            </a:pPr>
            <a:r>
              <a:rPr b="0" i="0" lang="en-US" sz="3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</a:t>
            </a:r>
            <a:endParaRPr b="0" i="0" sz="23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26" name="Google Shape;226;g1125afdb20d_0_111"/>
          <p:cNvSpPr txBox="1"/>
          <p:nvPr/>
        </p:nvSpPr>
        <p:spPr>
          <a:xfrm>
            <a:off x="4262225" y="1970750"/>
            <a:ext cx="6938400" cy="9459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</a:t>
            </a:r>
            <a:r>
              <a:rPr b="1" i="0" lang="en-US" sz="2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set font face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using face attribute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1" i="0" lang="en-US" sz="23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Example:-</a:t>
            </a:r>
            <a:r>
              <a:rPr b="1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face = "Times New Roman" 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27" name="Google Shape;227;g1125afdb20d_0_111"/>
          <p:cNvSpPr txBox="1"/>
          <p:nvPr/>
        </p:nvSpPr>
        <p:spPr>
          <a:xfrm>
            <a:off x="4262225" y="3005275"/>
            <a:ext cx="6938400" cy="176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set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content font size</a:t>
            </a: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using size attribute.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range of accepted values is from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1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(smallest) to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7(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largest)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 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default size</a:t>
            </a:r>
            <a:r>
              <a:rPr b="0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of a font is </a:t>
            </a: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3</a:t>
            </a:r>
            <a:endParaRPr b="1" i="0" sz="2300" u="none" cap="none" strike="noStrike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1" i="0" lang="en-US" sz="23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</a:t>
            </a: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:- &lt;font size = "5"&gt; Hello &lt;/font&gt;</a:t>
            </a:r>
            <a:endParaRPr b="1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28" name="Google Shape;228;g1125afdb20d_0_111"/>
          <p:cNvSpPr txBox="1"/>
          <p:nvPr/>
        </p:nvSpPr>
        <p:spPr>
          <a:xfrm>
            <a:off x="4262225" y="4854000"/>
            <a:ext cx="6938400" cy="19548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set font color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using color attribute.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You can specify the color either by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color name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or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hexadecimal code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for that color.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color =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"#FF00FF"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300"/>
              <a:buFont typeface="PT Sans Narrow"/>
              <a:buChar char="●"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&lt;font color =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"red"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 Hello &lt;/font&gt;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229" name="Google Shape;229;g1125afdb20d_0_111"/>
          <p:cNvCxnSpPr>
            <a:endCxn id="226" idx="1"/>
          </p:cNvCxnSpPr>
          <p:nvPr/>
        </p:nvCxnSpPr>
        <p:spPr>
          <a:xfrm flipH="1" rot="10800000">
            <a:off x="1955825" y="2443700"/>
            <a:ext cx="2306400" cy="16539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g1125afdb20d_0_111"/>
          <p:cNvCxnSpPr>
            <a:endCxn id="227" idx="1"/>
          </p:cNvCxnSpPr>
          <p:nvPr/>
        </p:nvCxnSpPr>
        <p:spPr>
          <a:xfrm flipH="1" rot="10800000">
            <a:off x="2062025" y="3885325"/>
            <a:ext cx="2200200" cy="7950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g1125afdb20d_0_111"/>
          <p:cNvCxnSpPr>
            <a:endCxn id="228" idx="1"/>
          </p:cNvCxnSpPr>
          <p:nvPr/>
        </p:nvCxnSpPr>
        <p:spPr>
          <a:xfrm>
            <a:off x="2107625" y="5181000"/>
            <a:ext cx="2154600" cy="6504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25afdb20d_0_16"/>
          <p:cNvSpPr txBox="1"/>
          <p:nvPr>
            <p:ph type="title"/>
          </p:nvPr>
        </p:nvSpPr>
        <p:spPr>
          <a:xfrm>
            <a:off x="385175" y="432013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300"/>
              <a:t>HyperLinks-</a:t>
            </a:r>
            <a:r>
              <a:rPr lang="en-US"/>
              <a:t> </a:t>
            </a:r>
            <a:r>
              <a:rPr lang="en-US" sz="4300">
                <a:solidFill>
                  <a:srgbClr val="00FF00"/>
                </a:solidFill>
              </a:rPr>
              <a:t>Value Addition</a:t>
            </a:r>
            <a:endParaRPr sz="4300">
              <a:solidFill>
                <a:srgbClr val="00FF00"/>
              </a:solidFill>
            </a:endParaRPr>
          </a:p>
        </p:txBody>
      </p:sp>
      <p:sp>
        <p:nvSpPr>
          <p:cNvPr id="237" name="Google Shape;237;g1125afdb20d_0_16"/>
          <p:cNvSpPr/>
          <p:nvPr/>
        </p:nvSpPr>
        <p:spPr>
          <a:xfrm>
            <a:off x="876100" y="2362625"/>
            <a:ext cx="10081200" cy="7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0" i="0" lang="en-US" sz="24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&lt;a&gt; tag defines a hyperlink,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which is used to link from one page to another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38" name="Google Shape;238;g1125afdb20d_0_16"/>
          <p:cNvSpPr/>
          <p:nvPr/>
        </p:nvSpPr>
        <p:spPr>
          <a:xfrm>
            <a:off x="876100" y="3444635"/>
            <a:ext cx="9955800" cy="7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The</a:t>
            </a:r>
            <a:r>
              <a:rPr b="1" i="0" lang="en-US" sz="25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href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1" i="0" lang="en-US" sz="24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attribute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of &lt;a&gt; element indicates the link's destination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39" name="Google Shape;239;g1125afdb20d_0_16"/>
          <p:cNvSpPr/>
          <p:nvPr/>
        </p:nvSpPr>
        <p:spPr>
          <a:xfrm>
            <a:off x="876100" y="4593497"/>
            <a:ext cx="9955800" cy="7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0" i="0" lang="en-US" sz="24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target attribute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specifies where to open the </a:t>
            </a:r>
            <a:r>
              <a:rPr b="0" i="0" lang="en-US" sz="24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linked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document.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0" name="Google Shape;240;g1125afdb20d_0_16"/>
          <p:cNvSpPr/>
          <p:nvPr/>
        </p:nvSpPr>
        <p:spPr>
          <a:xfrm>
            <a:off x="876100" y="5800173"/>
            <a:ext cx="9877500" cy="7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Example- </a:t>
            </a:r>
            <a:r>
              <a:rPr b="1" i="0" lang="en-US" sz="24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target = _blank</a:t>
            </a: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- Opens the linked document in a new window or tab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25afdb20d_0_4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HyperLinks</a:t>
            </a:r>
            <a:endParaRPr/>
          </a:p>
        </p:txBody>
      </p:sp>
      <p:sp>
        <p:nvSpPr>
          <p:cNvPr id="246" name="Google Shape;246;g1125afdb20d_0_46"/>
          <p:cNvSpPr/>
          <p:nvPr/>
        </p:nvSpPr>
        <p:spPr>
          <a:xfrm>
            <a:off x="6832200" y="2330875"/>
            <a:ext cx="48855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href="a1.html"&gt; Click &lt;/a&gt;</a:t>
            </a:r>
            <a:endParaRPr b="1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7" name="Google Shape;247;g1125afdb20d_0_46"/>
          <p:cNvSpPr/>
          <p:nvPr/>
        </p:nvSpPr>
        <p:spPr>
          <a:xfrm>
            <a:off x="6866400" y="3521968"/>
            <a:ext cx="49464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href="../parent.html"&gt; Click &lt;/a&gt;</a:t>
            </a:r>
            <a:endParaRPr b="1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8" name="Google Shape;248;g1125afdb20d_0_46"/>
          <p:cNvSpPr/>
          <p:nvPr/>
        </p:nvSpPr>
        <p:spPr>
          <a:xfrm>
            <a:off x="6832200" y="4713089"/>
            <a:ext cx="49464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href="WTL/a1.html"&gt; Click &lt;/a&gt;</a:t>
            </a:r>
            <a:endParaRPr b="1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9" name="Google Shape;249;g1125afdb20d_0_46"/>
          <p:cNvSpPr/>
          <p:nvPr/>
        </p:nvSpPr>
        <p:spPr>
          <a:xfrm>
            <a:off x="6832200" y="5964151"/>
            <a:ext cx="53598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href="http://www.snjb.org"&gt;Click Here&lt;/a&gt;</a:t>
            </a:r>
            <a:endParaRPr b="1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50" name="Google Shape;250;g1125afdb20d_0_46"/>
          <p:cNvSpPr/>
          <p:nvPr/>
        </p:nvSpPr>
        <p:spPr>
          <a:xfrm>
            <a:off x="91050" y="2400157"/>
            <a:ext cx="56730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to a document called </a:t>
            </a:r>
            <a:r>
              <a:rPr b="1" i="0" lang="en-US" sz="2300" u="none" cap="none" strike="noStrike">
                <a:solidFill>
                  <a:srgbClr val="00C6BB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a1.html</a:t>
            </a:r>
            <a:r>
              <a:rPr b="0" i="0" lang="en-US" sz="2300" u="none" cap="none" strike="noStrike">
                <a:solidFill>
                  <a:srgbClr val="00C6BB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in the same directory</a:t>
            </a:r>
            <a:endParaRPr b="0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51" name="Google Shape;251;g1125afdb20d_0_46"/>
          <p:cNvSpPr/>
          <p:nvPr/>
        </p:nvSpPr>
        <p:spPr>
          <a:xfrm>
            <a:off x="91050" y="3521968"/>
            <a:ext cx="63861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to a document called </a:t>
            </a:r>
            <a:r>
              <a:rPr b="0" i="0" lang="en-US" sz="2300" u="none" cap="none" strike="noStrike">
                <a:solidFill>
                  <a:srgbClr val="FF99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parent.html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in the </a:t>
            </a:r>
            <a:r>
              <a:rPr b="1" i="0" lang="en-US" sz="2300" u="none" cap="none" strike="noStrike">
                <a:solidFill>
                  <a:srgbClr val="FF99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parent directory</a:t>
            </a:r>
            <a:endParaRPr b="1" i="0" sz="2500" u="none" cap="none" strike="noStrike">
              <a:solidFill>
                <a:srgbClr val="FF99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52" name="Google Shape;252;g1125afdb20d_0_46"/>
          <p:cNvSpPr/>
          <p:nvPr/>
        </p:nvSpPr>
        <p:spPr>
          <a:xfrm>
            <a:off x="91050" y="4713089"/>
            <a:ext cx="63861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to a document called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a1.html</a:t>
            </a: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in the subdirectory </a:t>
            </a:r>
            <a:r>
              <a:rPr b="0" i="0" lang="en-US" sz="2300" u="none" cap="none" strike="noStrike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WTL</a:t>
            </a:r>
            <a:endParaRPr b="1" i="0" sz="2500" u="none" cap="none" strike="noStrike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53" name="Google Shape;253;g1125afdb20d_0_46"/>
          <p:cNvSpPr/>
          <p:nvPr/>
        </p:nvSpPr>
        <p:spPr>
          <a:xfrm>
            <a:off x="91050" y="5964151"/>
            <a:ext cx="63861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to an external Web site </a:t>
            </a:r>
            <a:r>
              <a:rPr b="1" i="0" lang="en-US" sz="2300" u="none" cap="none" strike="noStrike">
                <a:solidFill>
                  <a:srgbClr val="EA9999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snjb.org</a:t>
            </a:r>
            <a:endParaRPr b="1" i="0" sz="2500" u="none" cap="none" strike="noStrike">
              <a:solidFill>
                <a:srgbClr val="EA9999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25afdb20d_0_6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HyperLinks</a:t>
            </a:r>
            <a:endParaRPr/>
          </a:p>
        </p:txBody>
      </p:sp>
      <p:sp>
        <p:nvSpPr>
          <p:cNvPr id="259" name="Google Shape;259;g1125afdb20d_0_62"/>
          <p:cNvSpPr/>
          <p:nvPr/>
        </p:nvSpPr>
        <p:spPr>
          <a:xfrm>
            <a:off x="3259500" y="2045313"/>
            <a:ext cx="5673000" cy="71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to the same Document</a:t>
            </a:r>
            <a:endParaRPr b="1" i="0" sz="25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60" name="Google Shape;260;g1125afdb20d_0_62"/>
          <p:cNvSpPr/>
          <p:nvPr/>
        </p:nvSpPr>
        <p:spPr>
          <a:xfrm>
            <a:off x="3547650" y="3082575"/>
            <a:ext cx="5096700" cy="377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Example:- </a:t>
            </a:r>
            <a:endParaRPr b="1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href="#section1"&gt;Introduction&lt;/a&gt;&lt;br&gt;</a:t>
            </a:r>
            <a:endParaRPr b="0" i="0" sz="21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&lt;a href="#section2"&gt;background&lt;/a&gt;&lt;br&gt;</a:t>
            </a:r>
            <a:endParaRPr b="0" i="0" sz="21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&lt;h2 id="section1"&gt;Introduction&lt;/h2&gt;</a:t>
            </a:r>
            <a:endParaRPr b="0" i="0" sz="21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... Section 1 follows here …</a:t>
            </a:r>
            <a:endParaRPr b="0" i="0" sz="21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&lt;h2 id="section2"&gt;background&lt;/h2&gt;</a:t>
            </a:r>
            <a:endParaRPr b="0" i="0" sz="21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... Section 2 follows here ...</a:t>
            </a:r>
            <a:endParaRPr b="0" i="0" sz="2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125afdb20d_0_75"/>
          <p:cNvSpPr txBox="1"/>
          <p:nvPr>
            <p:ph type="title"/>
          </p:nvPr>
        </p:nvSpPr>
        <p:spPr>
          <a:xfrm>
            <a:off x="521725" y="4016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Link tag</a:t>
            </a:r>
            <a:endParaRPr/>
          </a:p>
        </p:txBody>
      </p:sp>
      <p:sp>
        <p:nvSpPr>
          <p:cNvPr id="266" name="Google Shape;266;g1125afdb20d_0_75"/>
          <p:cNvSpPr/>
          <p:nvPr/>
        </p:nvSpPr>
        <p:spPr>
          <a:xfrm>
            <a:off x="3019350" y="3691100"/>
            <a:ext cx="5172300" cy="71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 tag is used to Link to an external style sheet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67" name="Google Shape;267;g1125afdb20d_0_75"/>
          <p:cNvSpPr/>
          <p:nvPr/>
        </p:nvSpPr>
        <p:spPr>
          <a:xfrm>
            <a:off x="3246925" y="2086950"/>
            <a:ext cx="4474500" cy="138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</a:t>
            </a:r>
            <a:r>
              <a:rPr b="0" i="0" lang="en-US" sz="2150" u="none" cap="none" strike="noStrike">
                <a:solidFill>
                  <a:srgbClr val="A52A2A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head</a:t>
            </a: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</a:t>
            </a:r>
            <a:endParaRPr b="0" i="0" sz="2150" u="none" cap="none" strike="noStrike">
              <a:solidFill>
                <a:srgbClr val="0000C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  </a:t>
            </a: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</a:t>
            </a:r>
            <a:r>
              <a:rPr b="0" i="0" lang="en-US" sz="2150" u="none" cap="none" strike="noStrike">
                <a:solidFill>
                  <a:srgbClr val="A52A2A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link</a:t>
            </a:r>
            <a:r>
              <a:rPr b="0" i="0" lang="en-US" sz="2150" u="none" cap="none" strike="noStrike">
                <a:solidFill>
                  <a:srgbClr val="FF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rel</a:t>
            </a: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="stylesheet"</a:t>
            </a:r>
            <a:r>
              <a:rPr b="0" i="0" lang="en-US" sz="2150" u="none" cap="none" strike="noStrike">
                <a:solidFill>
                  <a:srgbClr val="FF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href</a:t>
            </a: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="styles.css"&gt;</a:t>
            </a:r>
            <a:endParaRPr b="0" i="0" sz="2150" u="none" cap="none" strike="noStrike">
              <a:solidFill>
                <a:srgbClr val="0000C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</a:t>
            </a:r>
            <a:r>
              <a:rPr b="0" i="0" lang="en-US" sz="2150" u="none" cap="none" strike="noStrike">
                <a:solidFill>
                  <a:srgbClr val="A52A2A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/head</a:t>
            </a:r>
            <a:r>
              <a:rPr b="0" i="0" lang="en-US" sz="2150" u="none" cap="none" strike="noStrike">
                <a:solidFill>
                  <a:srgbClr val="0000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</a:t>
            </a:r>
            <a:endParaRPr b="0" i="0" sz="33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68" name="Google Shape;268;g1125afdb20d_0_75"/>
          <p:cNvSpPr/>
          <p:nvPr/>
        </p:nvSpPr>
        <p:spPr>
          <a:xfrm>
            <a:off x="991075" y="4716388"/>
            <a:ext cx="9633300" cy="71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</a:t>
            </a:r>
            <a:r>
              <a:rPr b="1" i="0" lang="en-US" sz="22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&lt;link&gt;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tag defines the relationship between the current document and an external resource.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69" name="Google Shape;269;g1125afdb20d_0_75"/>
          <p:cNvSpPr/>
          <p:nvPr/>
        </p:nvSpPr>
        <p:spPr>
          <a:xfrm>
            <a:off x="273100" y="5765600"/>
            <a:ext cx="11810400" cy="71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rel-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Required attribute. It specifies the relationship between the current document and the linked document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125afdb20d_0_12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Images- img tag</a:t>
            </a:r>
            <a:endParaRPr/>
          </a:p>
        </p:txBody>
      </p:sp>
      <p:sp>
        <p:nvSpPr>
          <p:cNvPr id="275" name="Google Shape;275;g1125afdb20d_0_122"/>
          <p:cNvSpPr/>
          <p:nvPr/>
        </p:nvSpPr>
        <p:spPr>
          <a:xfrm>
            <a:off x="3641425" y="2117300"/>
            <a:ext cx="3822000" cy="77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249C9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&lt;img  src= “index.jpeg” &gt;</a:t>
            </a:r>
            <a:endParaRPr b="1" i="0" sz="3800" u="none" cap="none" strike="noStrike">
              <a:solidFill>
                <a:srgbClr val="249C9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graphicFrame>
        <p:nvGraphicFramePr>
          <p:cNvPr id="276" name="Google Shape;276;g1125afdb20d_0_122"/>
          <p:cNvGraphicFramePr/>
          <p:nvPr/>
        </p:nvGraphicFramePr>
        <p:xfrm>
          <a:off x="2428275" y="321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1400175"/>
                <a:gridCol w="6076950"/>
              </a:tblGrid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src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Location of image file 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alt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Substitute text for display (e.g. in text mode)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height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Number of pixels of the height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width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Number of pixels of the width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border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Size of border, 0 for no border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g1125afdb20d_0_122"/>
          <p:cNvSpPr/>
          <p:nvPr/>
        </p:nvSpPr>
        <p:spPr>
          <a:xfrm>
            <a:off x="256500" y="3609850"/>
            <a:ext cx="1805544" cy="1653048"/>
          </a:xfrm>
          <a:prstGeom prst="cloud">
            <a:avLst/>
          </a:prstGeom>
          <a:solidFill>
            <a:schemeClr val="lt2"/>
          </a:solidFill>
          <a:ln cap="flat" cmpd="sng" w="76200">
            <a:solidFill>
              <a:srgbClr val="00C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EFEFE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img tag attributes</a:t>
            </a:r>
            <a:endParaRPr b="1" i="0" sz="2200" u="none" cap="none" strike="noStrike">
              <a:solidFill>
                <a:srgbClr val="FEFEFE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78" name="Google Shape;278;g1125afdb20d_0_122"/>
          <p:cNvSpPr/>
          <p:nvPr/>
        </p:nvSpPr>
        <p:spPr>
          <a:xfrm>
            <a:off x="1257900" y="5860675"/>
            <a:ext cx="10287000" cy="77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None/>
            </a:pPr>
            <a:r>
              <a:rPr b="1" i="0" lang="en-US" sz="2650" u="none" cap="none" strike="noStrike">
                <a:solidFill>
                  <a:srgbClr val="249C9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&lt;img  src= “index.jpeg” alt= “Home page” height= "500" width="600" border= “2” &gt;</a:t>
            </a:r>
            <a:endParaRPr b="1" i="0" sz="3800" u="none" cap="none" strike="noStrike">
              <a:solidFill>
                <a:srgbClr val="249C9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125afdb20d_0_13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List tag</a:t>
            </a:r>
            <a:endParaRPr/>
          </a:p>
        </p:txBody>
      </p:sp>
      <p:sp>
        <p:nvSpPr>
          <p:cNvPr id="284" name="Google Shape;284;g1125afdb20d_0_133"/>
          <p:cNvSpPr txBox="1"/>
          <p:nvPr/>
        </p:nvSpPr>
        <p:spPr>
          <a:xfrm>
            <a:off x="4964050" y="2018025"/>
            <a:ext cx="2170800" cy="197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List Types</a:t>
            </a:r>
            <a:endParaRPr b="0" i="0" sz="5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5" name="Google Shape;285;g1125afdb20d_0_133"/>
          <p:cNvSpPr txBox="1"/>
          <p:nvPr/>
        </p:nvSpPr>
        <p:spPr>
          <a:xfrm>
            <a:off x="810000" y="4588450"/>
            <a:ext cx="3000000" cy="800400"/>
          </a:xfrm>
          <a:prstGeom prst="rect">
            <a:avLst/>
          </a:prstGeom>
          <a:noFill/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EA9999"/>
                </a:solidFill>
                <a:latin typeface="Cambria"/>
                <a:ea typeface="Cambria"/>
                <a:cs typeface="Cambria"/>
                <a:sym typeface="Cambria"/>
              </a:rPr>
              <a:t>Ordered</a:t>
            </a:r>
            <a:endParaRPr b="0" i="0" sz="4200" u="none" cap="none" strike="noStrike">
              <a:solidFill>
                <a:srgbClr val="EA999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6" name="Google Shape;286;g1125afdb20d_0_133"/>
          <p:cNvSpPr txBox="1"/>
          <p:nvPr/>
        </p:nvSpPr>
        <p:spPr>
          <a:xfrm>
            <a:off x="4549450" y="4588450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Unordered</a:t>
            </a:r>
            <a:endParaRPr b="0" i="0" sz="40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g1125afdb20d_0_133"/>
          <p:cNvSpPr txBox="1"/>
          <p:nvPr/>
        </p:nvSpPr>
        <p:spPr>
          <a:xfrm>
            <a:off x="8382000" y="4588450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Definition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88" name="Google Shape;288;g1125afdb20d_0_133"/>
          <p:cNvCxnSpPr>
            <a:endCxn id="285" idx="0"/>
          </p:cNvCxnSpPr>
          <p:nvPr/>
        </p:nvCxnSpPr>
        <p:spPr>
          <a:xfrm flipH="1">
            <a:off x="2310000" y="3452050"/>
            <a:ext cx="2346600" cy="11364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g1125afdb20d_0_133"/>
          <p:cNvCxnSpPr>
            <a:stCxn id="284" idx="2"/>
            <a:endCxn id="286" idx="0"/>
          </p:cNvCxnSpPr>
          <p:nvPr/>
        </p:nvCxnSpPr>
        <p:spPr>
          <a:xfrm>
            <a:off x="6049450" y="3988125"/>
            <a:ext cx="0" cy="6003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1125afdb20d_0_133"/>
          <p:cNvCxnSpPr>
            <a:endCxn id="287" idx="0"/>
          </p:cNvCxnSpPr>
          <p:nvPr/>
        </p:nvCxnSpPr>
        <p:spPr>
          <a:xfrm>
            <a:off x="7311900" y="3512650"/>
            <a:ext cx="2570100" cy="10758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g1125afdb20d_0_133"/>
          <p:cNvSpPr txBox="1"/>
          <p:nvPr/>
        </p:nvSpPr>
        <p:spPr>
          <a:xfrm>
            <a:off x="886550" y="5575350"/>
            <a:ext cx="3000000" cy="1092900"/>
          </a:xfrm>
          <a:prstGeom prst="rect">
            <a:avLst/>
          </a:prstGeom>
          <a:noFill/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900" u="none" cap="none" strike="noStrike">
                <a:solidFill>
                  <a:srgbClr val="EA9999"/>
                </a:solidFill>
                <a:latin typeface="Cambria"/>
                <a:ea typeface="Cambria"/>
                <a:cs typeface="Cambria"/>
                <a:sym typeface="Cambria"/>
              </a:rPr>
              <a:t>&lt;ol&gt;</a:t>
            </a:r>
            <a:endParaRPr b="1" i="0" sz="6100" u="none" cap="none" strike="noStrike">
              <a:solidFill>
                <a:srgbClr val="EA999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2" name="Google Shape;292;g1125afdb20d_0_133"/>
          <p:cNvSpPr txBox="1"/>
          <p:nvPr/>
        </p:nvSpPr>
        <p:spPr>
          <a:xfrm>
            <a:off x="4549450" y="5575350"/>
            <a:ext cx="3000000" cy="10929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9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&lt;ul&gt;</a:t>
            </a:r>
            <a:endParaRPr b="1" i="0" sz="59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3" name="Google Shape;293;g1125afdb20d_0_133"/>
          <p:cNvSpPr txBox="1"/>
          <p:nvPr/>
        </p:nvSpPr>
        <p:spPr>
          <a:xfrm>
            <a:off x="8382000" y="5575350"/>
            <a:ext cx="3000000" cy="10929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59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&lt;dl&gt;</a:t>
            </a:r>
            <a:endParaRPr b="1" i="0" sz="59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25afdb20d_0_14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List tag- Ordered List</a:t>
            </a:r>
            <a:endParaRPr/>
          </a:p>
        </p:txBody>
      </p:sp>
      <p:sp>
        <p:nvSpPr>
          <p:cNvPr id="299" name="Google Shape;299;g1125afdb20d_0_147"/>
          <p:cNvSpPr txBox="1"/>
          <p:nvPr/>
        </p:nvSpPr>
        <p:spPr>
          <a:xfrm>
            <a:off x="106225" y="452297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type="1"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0" name="Google Shape;300;g1125afdb20d_0_147"/>
          <p:cNvSpPr txBox="1"/>
          <p:nvPr/>
        </p:nvSpPr>
        <p:spPr>
          <a:xfrm>
            <a:off x="4916767" y="223192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type="A"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1" name="Google Shape;301;g1125afdb20d_0_147"/>
          <p:cNvSpPr txBox="1"/>
          <p:nvPr/>
        </p:nvSpPr>
        <p:spPr>
          <a:xfrm>
            <a:off x="9423853" y="223192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type="a"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2" name="Google Shape;302;g1125afdb20d_0_147"/>
          <p:cNvSpPr txBox="1"/>
          <p:nvPr/>
        </p:nvSpPr>
        <p:spPr>
          <a:xfrm>
            <a:off x="4916767" y="452297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type="I"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3" name="Google Shape;303;g1125afdb20d_0_147"/>
          <p:cNvSpPr txBox="1"/>
          <p:nvPr/>
        </p:nvSpPr>
        <p:spPr>
          <a:xfrm>
            <a:off x="9423858" y="452297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type="i"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4" name="Google Shape;304;g1125afdb20d_0_147"/>
          <p:cNvSpPr txBox="1"/>
          <p:nvPr/>
        </p:nvSpPr>
        <p:spPr>
          <a:xfrm>
            <a:off x="106225" y="2231925"/>
            <a:ext cx="2379000" cy="20811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&lt;/ol&gt;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5" name="Google Shape;305;g1125afdb20d_0_147"/>
          <p:cNvSpPr txBox="1"/>
          <p:nvPr/>
        </p:nvSpPr>
        <p:spPr>
          <a:xfrm>
            <a:off x="2964350" y="2687100"/>
            <a:ext cx="14733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1. 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2. Orange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3.Grapefruit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6" name="Google Shape;306;g1125afdb20d_0_147"/>
          <p:cNvSpPr txBox="1"/>
          <p:nvPr/>
        </p:nvSpPr>
        <p:spPr>
          <a:xfrm>
            <a:off x="2964350" y="4912375"/>
            <a:ext cx="14733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1. 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2. Orange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3.Grapefruit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7" name="Google Shape;307;g1125afdb20d_0_147"/>
          <p:cNvSpPr txBox="1"/>
          <p:nvPr/>
        </p:nvSpPr>
        <p:spPr>
          <a:xfrm>
            <a:off x="7536914" y="2737950"/>
            <a:ext cx="1645800" cy="1200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alpha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Apple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alpha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alpha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08" name="Google Shape;308;g1125afdb20d_0_147"/>
          <p:cNvSpPr txBox="1"/>
          <p:nvPr/>
        </p:nvSpPr>
        <p:spPr>
          <a:xfrm>
            <a:off x="7536914" y="4963225"/>
            <a:ext cx="1645800" cy="1200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roman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Apple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roman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Sans Narrow"/>
              <a:buAutoNum type="romanU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25afdb20d_0_161"/>
          <p:cNvSpPr txBox="1"/>
          <p:nvPr>
            <p:ph type="title"/>
          </p:nvPr>
        </p:nvSpPr>
        <p:spPr>
          <a:xfrm>
            <a:off x="810000" y="402800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List tag- Unordered List</a:t>
            </a:r>
            <a:endParaRPr/>
          </a:p>
        </p:txBody>
      </p:sp>
      <p:sp>
        <p:nvSpPr>
          <p:cNvPr id="314" name="Google Shape;314;g1125afdb20d_0_161"/>
          <p:cNvSpPr txBox="1"/>
          <p:nvPr/>
        </p:nvSpPr>
        <p:spPr>
          <a:xfrm>
            <a:off x="6191250" y="2231913"/>
            <a:ext cx="2379000" cy="2013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&lt;ul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type="disk" 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&lt;/ul&gt;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5" name="Google Shape;315;g1125afdb20d_0_161"/>
          <p:cNvSpPr txBox="1"/>
          <p:nvPr/>
        </p:nvSpPr>
        <p:spPr>
          <a:xfrm>
            <a:off x="6191242" y="4538150"/>
            <a:ext cx="2379000" cy="2013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&lt;ul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type="Circle" 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&lt;/ul&gt;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6" name="Google Shape;316;g1125afdb20d_0_161"/>
          <p:cNvSpPr txBox="1"/>
          <p:nvPr/>
        </p:nvSpPr>
        <p:spPr>
          <a:xfrm>
            <a:off x="409667" y="4447125"/>
            <a:ext cx="2379000" cy="2013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&lt;ul </a:t>
            </a:r>
            <a:r>
              <a:rPr b="0" i="0" lang="en-US" sz="2200" u="none" cap="none" strike="noStrike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type="Square" </a:t>
            </a: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&lt;/ul&gt;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7" name="Google Shape;317;g1125afdb20d_0_161"/>
          <p:cNvSpPr txBox="1"/>
          <p:nvPr/>
        </p:nvSpPr>
        <p:spPr>
          <a:xfrm>
            <a:off x="409675" y="2231925"/>
            <a:ext cx="2379000" cy="2013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&lt;ul 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&lt;li&gt;Apple&lt;/li&gt;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&lt;li&gt;Orange&lt;/li&gt;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&lt;li&gt;Grapefruit&lt;/li&gt;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&lt;/ul&gt;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8" name="Google Shape;318;g1125afdb20d_0_161"/>
          <p:cNvSpPr txBox="1"/>
          <p:nvPr/>
        </p:nvSpPr>
        <p:spPr>
          <a:xfrm>
            <a:off x="3522463" y="2520200"/>
            <a:ext cx="19350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19" name="Google Shape;319;g1125afdb20d_0_161"/>
          <p:cNvSpPr txBox="1"/>
          <p:nvPr/>
        </p:nvSpPr>
        <p:spPr>
          <a:xfrm>
            <a:off x="9212863" y="2520200"/>
            <a:ext cx="19350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20" name="Google Shape;320;g1125afdb20d_0_161"/>
          <p:cNvSpPr txBox="1"/>
          <p:nvPr/>
        </p:nvSpPr>
        <p:spPr>
          <a:xfrm>
            <a:off x="3522450" y="4676050"/>
            <a:ext cx="19350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❏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21" name="Google Shape;321;g1125afdb20d_0_161"/>
          <p:cNvSpPr txBox="1"/>
          <p:nvPr/>
        </p:nvSpPr>
        <p:spPr>
          <a:xfrm>
            <a:off x="9030775" y="4925000"/>
            <a:ext cx="2589900" cy="1302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○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Apple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○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Orang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T Sans Narrow"/>
              <a:buChar char="○"/>
            </a:pPr>
            <a:r>
              <a:rPr b="0" i="0" lang="en-US" sz="22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Grapefruit</a:t>
            </a:r>
            <a:endParaRPr b="0" i="0" sz="22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25afdb20d_0_180"/>
          <p:cNvSpPr txBox="1"/>
          <p:nvPr>
            <p:ph type="title"/>
          </p:nvPr>
        </p:nvSpPr>
        <p:spPr>
          <a:xfrm>
            <a:off x="521725" y="4016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List tag- Definition List</a:t>
            </a:r>
            <a:endParaRPr/>
          </a:p>
        </p:txBody>
      </p:sp>
      <p:sp>
        <p:nvSpPr>
          <p:cNvPr id="327" name="Google Shape;327;g1125afdb20d_0_180"/>
          <p:cNvSpPr/>
          <p:nvPr/>
        </p:nvSpPr>
        <p:spPr>
          <a:xfrm>
            <a:off x="226150" y="2374925"/>
            <a:ext cx="5659500" cy="157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 Narrow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Create definition lists using &lt;dl&gt;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 Narrow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definition in &lt;dd&gt; tag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 Narrow"/>
              <a:buChar char="●"/>
            </a:pPr>
            <a:r>
              <a:rPr b="0" i="0" lang="en-US" sz="24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text is in &lt;dt&gt; tag, </a:t>
            </a:r>
            <a:endParaRPr b="0" i="0" sz="24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28" name="Google Shape;328;g1125afdb20d_0_180"/>
          <p:cNvSpPr/>
          <p:nvPr/>
        </p:nvSpPr>
        <p:spPr>
          <a:xfrm>
            <a:off x="688625" y="4089725"/>
            <a:ext cx="4474500" cy="253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&lt;dl&gt;</a:t>
            </a:r>
            <a:endParaRPr b="1" i="0" sz="2400" u="none" cap="none" strike="noStrike">
              <a:solidFill>
                <a:srgbClr val="0070C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&lt;dt&gt;HTML&lt;/dt&gt;</a:t>
            </a:r>
            <a:endParaRPr b="1" i="0" sz="2400" u="none" cap="none" strike="noStrike">
              <a:solidFill>
                <a:srgbClr val="0070C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&lt;dd&gt;A markup language …&lt;/dd&gt;</a:t>
            </a:r>
            <a:endParaRPr b="1" i="0" sz="2400" u="none" cap="none" strike="noStrike">
              <a:solidFill>
                <a:srgbClr val="0070C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&lt;dt&gt;CSS&lt;/dt&gt;</a:t>
            </a:r>
            <a:endParaRPr b="1" i="0" sz="2400" u="none" cap="none" strike="noStrike">
              <a:solidFill>
                <a:srgbClr val="0070C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&lt;dd&gt;Language used to …&lt;/dd&gt;</a:t>
            </a:r>
            <a:endParaRPr b="1" i="0" sz="2400" u="none" cap="none" strike="noStrike">
              <a:solidFill>
                <a:srgbClr val="0070C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&lt;/dl&gt;</a:t>
            </a:r>
            <a:endParaRPr b="0" i="0" sz="2350" u="none" cap="none" strike="noStrike">
              <a:solidFill>
                <a:srgbClr val="0000C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329" name="Google Shape;329;g1125afdb20d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175" y="2687053"/>
            <a:ext cx="4975800" cy="3216600"/>
          </a:xfrm>
          <a:prstGeom prst="rect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125afdb20d_0_191"/>
          <p:cNvSpPr txBox="1"/>
          <p:nvPr>
            <p:ph type="title"/>
          </p:nvPr>
        </p:nvSpPr>
        <p:spPr>
          <a:xfrm>
            <a:off x="1088325" y="658496"/>
            <a:ext cx="3547500" cy="1094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4500"/>
              <a:t>HTML Table</a:t>
            </a:r>
            <a:endParaRPr sz="4500"/>
          </a:p>
        </p:txBody>
      </p:sp>
      <p:pic>
        <p:nvPicPr>
          <p:cNvPr id="335" name="Google Shape;335;g1125afdb20d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598595">
            <a:off x="3704271" y="2130563"/>
            <a:ext cx="4593383" cy="294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11e9a3adc6_0_0"/>
          <p:cNvSpPr txBox="1"/>
          <p:nvPr>
            <p:ph type="title"/>
          </p:nvPr>
        </p:nvSpPr>
        <p:spPr>
          <a:xfrm>
            <a:off x="1088325" y="658496"/>
            <a:ext cx="3547500" cy="1094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4500"/>
              <a:t>HTML Table</a:t>
            </a:r>
            <a:endParaRPr sz="4500"/>
          </a:p>
        </p:txBody>
      </p:sp>
      <p:graphicFrame>
        <p:nvGraphicFramePr>
          <p:cNvPr id="341" name="Google Shape;341;g111e9a3adc6_0_0"/>
          <p:cNvGraphicFramePr/>
          <p:nvPr/>
        </p:nvGraphicFramePr>
        <p:xfrm>
          <a:off x="4878575" y="427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1307150"/>
                <a:gridCol w="5727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Tag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Description</a:t>
                      </a:r>
                      <a:endParaRPr b="1" sz="23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&lt;table&gt;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&lt;th&gt;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header cell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&lt;tr&gt;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row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&lt;td&gt;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cell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&lt;caption&gt;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table caption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&lt;colgroup&gt;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Specifies a group of one or more columns in a table for formatting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&lt;col&gt;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Specifies column properties for each column within a &lt;colgroup&gt; element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&lt;thead&gt;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Groups the header content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&lt;tbody&gt;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Groups the body content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&lt;tfoot&gt;</a:t>
                      </a:r>
                      <a:endParaRPr sz="2100" u="sng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Groups the footer content in a table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2" name="Google Shape;342;g111e9a3adc6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1598595">
            <a:off x="821775" y="3353915"/>
            <a:ext cx="3087524" cy="197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25afdb20d_0_202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</a:t>
            </a:r>
            <a:endParaRPr/>
          </a:p>
        </p:txBody>
      </p:sp>
      <p:graphicFrame>
        <p:nvGraphicFramePr>
          <p:cNvPr id="348" name="Google Shape;348;g1125afdb20d_0_202"/>
          <p:cNvGraphicFramePr/>
          <p:nvPr/>
        </p:nvGraphicFramePr>
        <p:xfrm>
          <a:off x="2819110" y="2984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{66200382-4F93-456C-9F40-2445E6791A1A}</a:tableStyleId>
              </a:tblPr>
              <a:tblGrid>
                <a:gridCol w="2167475"/>
                <a:gridCol w="2167475"/>
                <a:gridCol w="216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     &lt;th&gt;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 &lt;th&gt;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&lt;th&gt;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g1125afdb20d_0_202"/>
          <p:cNvSpPr txBox="1"/>
          <p:nvPr/>
        </p:nvSpPr>
        <p:spPr>
          <a:xfrm>
            <a:off x="1508494" y="2998161"/>
            <a:ext cx="763500" cy="3693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b="1" i="0" sz="18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50" name="Google Shape;350;g1125afdb20d_0_202"/>
          <p:cNvSpPr txBox="1"/>
          <p:nvPr/>
        </p:nvSpPr>
        <p:spPr>
          <a:xfrm>
            <a:off x="1501604" y="4147910"/>
            <a:ext cx="763500" cy="3693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b="1" i="0" sz="18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51" name="Google Shape;351;g1125afdb20d_0_202"/>
          <p:cNvSpPr txBox="1"/>
          <p:nvPr/>
        </p:nvSpPr>
        <p:spPr>
          <a:xfrm>
            <a:off x="1483650" y="3757703"/>
            <a:ext cx="763500" cy="3693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b="1" i="0" sz="18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52" name="Google Shape;352;g1125afdb20d_0_202"/>
          <p:cNvSpPr txBox="1"/>
          <p:nvPr/>
        </p:nvSpPr>
        <p:spPr>
          <a:xfrm>
            <a:off x="1505040" y="3367493"/>
            <a:ext cx="763500" cy="3693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b="1" i="0" sz="18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353" name="Google Shape;353;g1125afdb20d_0_202"/>
          <p:cNvCxnSpPr>
            <a:stCxn id="349" idx="3"/>
          </p:cNvCxnSpPr>
          <p:nvPr/>
        </p:nvCxnSpPr>
        <p:spPr>
          <a:xfrm>
            <a:off x="2271994" y="3182811"/>
            <a:ext cx="547200" cy="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cxnSp>
        <p:nvCxnSpPr>
          <p:cNvPr id="354" name="Google Shape;354;g1125afdb20d_0_202"/>
          <p:cNvCxnSpPr/>
          <p:nvPr/>
        </p:nvCxnSpPr>
        <p:spPr>
          <a:xfrm>
            <a:off x="2268495" y="3546932"/>
            <a:ext cx="547200" cy="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cxnSp>
        <p:nvCxnSpPr>
          <p:cNvPr id="355" name="Google Shape;355;g1125afdb20d_0_202"/>
          <p:cNvCxnSpPr/>
          <p:nvPr/>
        </p:nvCxnSpPr>
        <p:spPr>
          <a:xfrm>
            <a:off x="2268498" y="3907645"/>
            <a:ext cx="547200" cy="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cxnSp>
        <p:nvCxnSpPr>
          <p:cNvPr id="356" name="Google Shape;356;g1125afdb20d_0_202"/>
          <p:cNvCxnSpPr/>
          <p:nvPr/>
        </p:nvCxnSpPr>
        <p:spPr>
          <a:xfrm>
            <a:off x="2268496" y="4311701"/>
            <a:ext cx="547200" cy="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sp>
        <p:nvSpPr>
          <p:cNvPr id="357" name="Google Shape;357;g1125afdb20d_0_202"/>
          <p:cNvSpPr txBox="1"/>
          <p:nvPr/>
        </p:nvSpPr>
        <p:spPr>
          <a:xfrm>
            <a:off x="3304168" y="4987077"/>
            <a:ext cx="885600" cy="4002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b="1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58" name="Google Shape;358;g1125afdb20d_0_202"/>
          <p:cNvSpPr txBox="1"/>
          <p:nvPr/>
        </p:nvSpPr>
        <p:spPr>
          <a:xfrm>
            <a:off x="5742568" y="4951139"/>
            <a:ext cx="885600" cy="4002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b="1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59" name="Google Shape;359;g1125afdb20d_0_202"/>
          <p:cNvSpPr txBox="1"/>
          <p:nvPr/>
        </p:nvSpPr>
        <p:spPr>
          <a:xfrm>
            <a:off x="7874765" y="4900453"/>
            <a:ext cx="885600" cy="400200"/>
          </a:xfrm>
          <a:prstGeom prst="rect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b="1" i="0" sz="2000" u="none" cap="none" strike="noStrike">
              <a:solidFill>
                <a:schemeClr val="l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360" name="Google Shape;360;g1125afdb20d_0_202"/>
          <p:cNvCxnSpPr/>
          <p:nvPr/>
        </p:nvCxnSpPr>
        <p:spPr>
          <a:xfrm rot="10800000">
            <a:off x="3734914" y="4496299"/>
            <a:ext cx="0" cy="46710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cxnSp>
        <p:nvCxnSpPr>
          <p:cNvPr id="361" name="Google Shape;361;g1125afdb20d_0_202"/>
          <p:cNvCxnSpPr/>
          <p:nvPr/>
        </p:nvCxnSpPr>
        <p:spPr>
          <a:xfrm rot="10800000">
            <a:off x="6112447" y="4496299"/>
            <a:ext cx="0" cy="46710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  <p:cxnSp>
        <p:nvCxnSpPr>
          <p:cNvPr id="362" name="Google Shape;362;g1125afdb20d_0_202"/>
          <p:cNvCxnSpPr/>
          <p:nvPr/>
        </p:nvCxnSpPr>
        <p:spPr>
          <a:xfrm rot="10800000">
            <a:off x="8305510" y="4415183"/>
            <a:ext cx="0" cy="467100"/>
          </a:xfrm>
          <a:prstGeom prst="straightConnector1">
            <a:avLst/>
          </a:prstGeom>
          <a:noFill/>
          <a:ln cap="flat" cmpd="sng" w="38100">
            <a:solidFill>
              <a:srgbClr val="FEFEFE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125afdb20d_0_221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Example-1</a:t>
            </a:r>
            <a:endParaRPr/>
          </a:p>
        </p:txBody>
      </p:sp>
      <p:graphicFrame>
        <p:nvGraphicFramePr>
          <p:cNvPr id="368" name="Google Shape;368;g1125afdb20d_0_221"/>
          <p:cNvGraphicFramePr/>
          <p:nvPr/>
        </p:nvGraphicFramePr>
        <p:xfrm>
          <a:off x="2358910" y="29764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{66200382-4F93-456C-9F40-2445E6791A1A}</a:tableStyleId>
              </a:tblPr>
              <a:tblGrid>
                <a:gridCol w="2167475"/>
                <a:gridCol w="2167475"/>
                <a:gridCol w="216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      Roll-No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Address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Bhavana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Nashik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Amit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Pune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3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Neha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Mumbai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9" name="Google Shape;369;g1125afdb20d_0_221"/>
          <p:cNvSpPr txBox="1"/>
          <p:nvPr/>
        </p:nvSpPr>
        <p:spPr>
          <a:xfrm>
            <a:off x="3436400" y="2219825"/>
            <a:ext cx="4206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Student Database Table</a:t>
            </a:r>
            <a:endParaRPr b="1" i="0" sz="25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25afdb20d_0_227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Example-1</a:t>
            </a:r>
            <a:endParaRPr/>
          </a:p>
        </p:txBody>
      </p:sp>
      <p:sp>
        <p:nvSpPr>
          <p:cNvPr id="375" name="Google Shape;375;g1125afdb20d_0_227"/>
          <p:cNvSpPr txBox="1"/>
          <p:nvPr>
            <p:ph idx="1" type="body"/>
          </p:nvPr>
        </p:nvSpPr>
        <p:spPr>
          <a:xfrm>
            <a:off x="473050" y="2203775"/>
            <a:ext cx="5140800" cy="45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&lt;html&gt;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&lt;body&gt;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&lt;table border=1 width=50% cellspacing=0&gt;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t/>
            </a:r>
            <a:endParaRPr sz="1950">
              <a:latin typeface="Cambria"/>
              <a:ea typeface="Cambria"/>
              <a:cs typeface="Cambria"/>
              <a:sym typeface="Cambria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&lt;th&gt;RollNo&lt;/th&gt;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&lt;th&gt;Name&lt;/th&gt;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&lt;th&gt;Address&lt;/th&gt;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t/>
            </a:r>
            <a:endParaRPr sz="1950">
              <a:latin typeface="Cambria"/>
              <a:ea typeface="Cambria"/>
              <a:cs typeface="Cambria"/>
              <a:sym typeface="Cambria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&lt;td&gt;1&lt;/td&gt;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&lt;td&gt;Bhavana&lt;/td&gt;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   &lt;td&gt;Nashik&lt;/td&gt;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>
                <a:latin typeface="Cambria"/>
                <a:ea typeface="Cambria"/>
                <a:cs typeface="Cambria"/>
                <a:sym typeface="Cambria"/>
              </a:rPr>
              <a:t>    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t/>
            </a:r>
            <a:endParaRPr sz="1950"/>
          </a:p>
        </p:txBody>
      </p:sp>
      <p:sp>
        <p:nvSpPr>
          <p:cNvPr id="376" name="Google Shape;376;g1125afdb20d_0_227"/>
          <p:cNvSpPr txBox="1"/>
          <p:nvPr>
            <p:ph idx="2" type="body"/>
          </p:nvPr>
        </p:nvSpPr>
        <p:spPr>
          <a:xfrm>
            <a:off x="6687175" y="2203767"/>
            <a:ext cx="4368900" cy="45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&lt;td&gt;2&lt;/td&gt;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&lt;td&gt;Amit&lt;/td&gt;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&lt;td&gt;Pune&lt;/td&gt;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&lt;/tr&gt; 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t/>
            </a:r>
            <a:endParaRPr sz="195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&lt;td&gt;3&lt;/td&gt;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&lt;td&gt;Neha&lt;/td&gt;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  &lt;td&gt;Mumbai&lt;/td&gt;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  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  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&lt;/table&gt;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&lt;/body&gt;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950"/>
              <a:t>&lt;/html&gt;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25afdb20d_0_233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Example-2</a:t>
            </a:r>
            <a:endParaRPr/>
          </a:p>
        </p:txBody>
      </p:sp>
      <p:graphicFrame>
        <p:nvGraphicFramePr>
          <p:cNvPr id="382" name="Google Shape;382;g1125afdb20d_0_233"/>
          <p:cNvGraphicFramePr/>
          <p:nvPr/>
        </p:nvGraphicFramePr>
        <p:xfrm>
          <a:off x="2151535" y="2665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{C9FF1A17-D060-4668-91F8-E0C8C404D1BC}</a:tableStyleId>
              </a:tblPr>
              <a:tblGrid>
                <a:gridCol w="2167475"/>
                <a:gridCol w="2167475"/>
                <a:gridCol w="216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      Roll-No</a:t>
                      </a:r>
                      <a:endParaRPr b="1" sz="2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Name</a:t>
                      </a:r>
                      <a:endParaRPr b="1" sz="2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Address</a:t>
                      </a:r>
                      <a:endParaRPr b="1" sz="2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Bhavana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Nashik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Amit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Pune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3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Neha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Mumbai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25afdb20d_0_238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Example-2</a:t>
            </a:r>
            <a:endParaRPr/>
          </a:p>
        </p:txBody>
      </p:sp>
      <p:sp>
        <p:nvSpPr>
          <p:cNvPr id="388" name="Google Shape;388;g1125afdb20d_0_238"/>
          <p:cNvSpPr txBox="1"/>
          <p:nvPr>
            <p:ph idx="1" type="body"/>
          </p:nvPr>
        </p:nvSpPr>
        <p:spPr>
          <a:xfrm>
            <a:off x="1080000" y="2518525"/>
            <a:ext cx="8473800" cy="3895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&lt;body&gt;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&lt;table border=1 width=50% cellspacing=0&gt;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400">
                <a:latin typeface="PT Sans Narrow"/>
                <a:ea typeface="PT Sans Narrow"/>
                <a:cs typeface="PT Sans Narrow"/>
                <a:sym typeface="PT Sans Narrow"/>
              </a:rPr>
              <a:t>    &lt;tr bgcolor=red&gt;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      &lt;th&gt;RollNo&lt;/th&gt;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      &lt;th&gt;Name&lt;/th&gt;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      &lt;th&gt;Address&lt;/th&gt;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    &lt;/tr&gt;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25afdb20d_0_243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Example-3</a:t>
            </a:r>
            <a:endParaRPr/>
          </a:p>
        </p:txBody>
      </p:sp>
      <p:graphicFrame>
        <p:nvGraphicFramePr>
          <p:cNvPr id="394" name="Google Shape;394;g1125afdb20d_0_243"/>
          <p:cNvGraphicFramePr/>
          <p:nvPr/>
        </p:nvGraphicFramePr>
        <p:xfrm>
          <a:off x="2151535" y="2665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{66200382-4F93-456C-9F40-2445E6791A1A}</a:tableStyleId>
              </a:tblPr>
              <a:tblGrid>
                <a:gridCol w="2167475"/>
                <a:gridCol w="2167475"/>
                <a:gridCol w="2167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      Roll-No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</a:rPr>
                        <a:t>Address</a:t>
                      </a:r>
                      <a:endParaRPr b="1" sz="2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Bhavana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Nashik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Amit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Pune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3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Neha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Mumbai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4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Sameer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Chandwad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5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Varun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lt1"/>
                          </a:solidFill>
                        </a:rPr>
                        <a:t>Bhopal</a:t>
                      </a:r>
                      <a:endParaRPr sz="26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125afdb20d_0_248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Example-3</a:t>
            </a:r>
            <a:endParaRPr/>
          </a:p>
        </p:txBody>
      </p:sp>
      <p:sp>
        <p:nvSpPr>
          <p:cNvPr id="400" name="Google Shape;400;g1125afdb20d_0_248"/>
          <p:cNvSpPr txBox="1"/>
          <p:nvPr>
            <p:ph idx="1" type="body"/>
          </p:nvPr>
        </p:nvSpPr>
        <p:spPr>
          <a:xfrm>
            <a:off x="1080000" y="2533350"/>
            <a:ext cx="7366200" cy="408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70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&lt;head&gt;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   &lt;style&gt;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   tr:nth-child(even)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   {    background-color:skyblue;</a:t>
            </a:r>
            <a:r>
              <a:rPr lang="en-US" sz="2700"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   }</a:t>
            </a:r>
            <a:endParaRPr b="1"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   &lt;/style&gt;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US" sz="2700">
                <a:latin typeface="PT Sans Narrow"/>
                <a:ea typeface="PT Sans Narrow"/>
                <a:cs typeface="PT Sans Narrow"/>
                <a:sym typeface="PT Sans Narrow"/>
              </a:rPr>
              <a:t>&lt;/head&gt;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 sz="2700">
                <a:latin typeface="PT Sans Narrow"/>
                <a:ea typeface="PT Sans Narrow"/>
                <a:cs typeface="PT Sans Narrow"/>
                <a:sym typeface="PT Sans Narrow"/>
              </a:rPr>
              <a:t>&lt;body&gt;</a:t>
            </a:r>
            <a:endParaRPr sz="27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25afdb20d_0_253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Example-4</a:t>
            </a:r>
            <a:endParaRPr/>
          </a:p>
        </p:txBody>
      </p:sp>
      <p:graphicFrame>
        <p:nvGraphicFramePr>
          <p:cNvPr id="406" name="Google Shape;406;g1125afdb20d_0_253"/>
          <p:cNvGraphicFramePr/>
          <p:nvPr/>
        </p:nvGraphicFramePr>
        <p:xfrm>
          <a:off x="2151535" y="2665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{66200382-4F93-456C-9F40-2445E6791A1A}</a:tableStyleId>
              </a:tblPr>
              <a:tblGrid>
                <a:gridCol w="1577475"/>
                <a:gridCol w="3503025"/>
                <a:gridCol w="2540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      Roll-No</a:t>
                      </a:r>
                      <a:endParaRPr b="1" sz="29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 sz="2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chemeClr val="lt1"/>
                          </a:solidFill>
                        </a:rPr>
                        <a:t>Address</a:t>
                      </a:r>
                      <a:endParaRPr b="1" sz="2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1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Bhavana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Nashik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Amit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Pune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3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Neha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Mumbai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4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Sameer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Chandwad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5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Varun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Bhopal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125afdb20d_0_258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Example-4</a:t>
            </a:r>
            <a:endParaRPr/>
          </a:p>
        </p:txBody>
      </p:sp>
      <p:sp>
        <p:nvSpPr>
          <p:cNvPr id="412" name="Google Shape;412;g1125afdb20d_0_258"/>
          <p:cNvSpPr txBox="1"/>
          <p:nvPr>
            <p:ph idx="1" type="body"/>
          </p:nvPr>
        </p:nvSpPr>
        <p:spPr>
          <a:xfrm>
            <a:off x="1080000" y="2133300"/>
            <a:ext cx="9380400" cy="47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&lt;body&gt;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&lt;table border=1 width=50% cellspacing=0&gt;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81"/>
              </a:spcBef>
              <a:spcAft>
                <a:spcPts val="0"/>
              </a:spcAft>
              <a:buSzPts val="1503"/>
              <a:buNone/>
            </a:pPr>
            <a:r>
              <a:rPr b="1" lang="en-US" sz="2303">
                <a:latin typeface="PT Sans Narrow"/>
                <a:ea typeface="PT Sans Narrow"/>
                <a:cs typeface="PT Sans Narrow"/>
                <a:sym typeface="PT Sans Narrow"/>
              </a:rPr>
              <a:t>&lt;colgroup&gt;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81"/>
              </a:spcBef>
              <a:spcAft>
                <a:spcPts val="0"/>
              </a:spcAft>
              <a:buSzPts val="1503"/>
              <a:buNone/>
            </a:pPr>
            <a:r>
              <a:rPr b="1" lang="en-US" sz="2303">
                <a:latin typeface="PT Sans Narrow"/>
                <a:ea typeface="PT Sans Narrow"/>
                <a:cs typeface="PT Sans Narrow"/>
                <a:sym typeface="PT Sans Narrow"/>
              </a:rPr>
              <a:t>&lt;col style="background-color:skyblue"&gt;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81"/>
              </a:spcBef>
              <a:spcAft>
                <a:spcPts val="0"/>
              </a:spcAft>
              <a:buSzPts val="1503"/>
              <a:buNone/>
            </a:pPr>
            <a:r>
              <a:rPr b="1" lang="en-US" sz="2303">
                <a:latin typeface="PT Sans Narrow"/>
                <a:ea typeface="PT Sans Narrow"/>
                <a:cs typeface="PT Sans Narrow"/>
                <a:sym typeface="PT Sans Narrow"/>
              </a:rPr>
              <a:t>&lt;/colgroup&gt;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&lt;tr&gt;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  &lt;th&gt;RollNo&lt;/th&gt;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  &lt;th&gt;Name&lt;/th&gt;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  &lt;th&gt;Address&lt;/th&gt;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&lt;/tr&gt;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95000"/>
              </a:lnSpc>
              <a:spcBef>
                <a:spcPts val="407"/>
              </a:spcBef>
              <a:spcAft>
                <a:spcPts val="0"/>
              </a:spcAft>
              <a:buSzPts val="1272"/>
              <a:buNone/>
            </a:pPr>
            <a:r>
              <a:rPr lang="en-US" sz="2071">
                <a:latin typeface="PT Sans Narrow"/>
                <a:ea typeface="PT Sans Narrow"/>
                <a:cs typeface="PT Sans Narrow"/>
                <a:sym typeface="PT Sans Narrow"/>
              </a:rPr>
              <a:t>    &lt;tr&gt;</a:t>
            </a:r>
            <a:endParaRPr sz="1925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125afdb20d_0_263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Example- 5</a:t>
            </a:r>
            <a:endParaRPr/>
          </a:p>
        </p:txBody>
      </p:sp>
      <p:graphicFrame>
        <p:nvGraphicFramePr>
          <p:cNvPr id="418" name="Google Shape;418;g1125afdb20d_0_263"/>
          <p:cNvGraphicFramePr/>
          <p:nvPr/>
        </p:nvGraphicFramePr>
        <p:xfrm>
          <a:off x="3160025" y="3385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{66200382-4F93-456C-9F40-2445E6791A1A}</a:tableStyleId>
              </a:tblPr>
              <a:tblGrid>
                <a:gridCol w="1524000"/>
                <a:gridCol w="1727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B050"/>
                          </a:solidFill>
                        </a:rPr>
                        <a:t>Month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B050"/>
                          </a:solidFill>
                        </a:rPr>
                        <a:t>Savings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January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$100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February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$80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Sum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$180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9" name="Google Shape;419;g1125afdb20d_0_263"/>
          <p:cNvSpPr txBox="1"/>
          <p:nvPr/>
        </p:nvSpPr>
        <p:spPr>
          <a:xfrm>
            <a:off x="7325623" y="3337462"/>
            <a:ext cx="2133600" cy="3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&lt;thead&gt;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1125afdb20d_0_263"/>
          <p:cNvSpPr txBox="1"/>
          <p:nvPr/>
        </p:nvSpPr>
        <p:spPr>
          <a:xfrm>
            <a:off x="7305957" y="4466025"/>
            <a:ext cx="2133600" cy="3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&lt;tfoot&gt;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1125afdb20d_0_263"/>
          <p:cNvSpPr txBox="1"/>
          <p:nvPr/>
        </p:nvSpPr>
        <p:spPr>
          <a:xfrm>
            <a:off x="7325623" y="3901743"/>
            <a:ext cx="2133600" cy="3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&lt;tbody&gt;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1125afdb20d_0_263"/>
          <p:cNvSpPr/>
          <p:nvPr/>
        </p:nvSpPr>
        <p:spPr>
          <a:xfrm>
            <a:off x="6512825" y="3706794"/>
            <a:ext cx="609600" cy="759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g1125afdb20d_0_263"/>
          <p:cNvCxnSpPr/>
          <p:nvPr/>
        </p:nvCxnSpPr>
        <p:spPr>
          <a:xfrm rot="10800000">
            <a:off x="6512825" y="3522128"/>
            <a:ext cx="609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4" name="Google Shape;424;g1125afdb20d_0_263"/>
          <p:cNvCxnSpPr/>
          <p:nvPr/>
        </p:nvCxnSpPr>
        <p:spPr>
          <a:xfrm rot="10800000">
            <a:off x="6404670" y="4650691"/>
            <a:ext cx="609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25afdb20d_0_274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Example- 5</a:t>
            </a:r>
            <a:endParaRPr/>
          </a:p>
        </p:txBody>
      </p:sp>
      <p:sp>
        <p:nvSpPr>
          <p:cNvPr id="430" name="Google Shape;430;g1125afdb20d_0_274"/>
          <p:cNvSpPr txBox="1"/>
          <p:nvPr>
            <p:ph idx="1" type="body"/>
          </p:nvPr>
        </p:nvSpPr>
        <p:spPr>
          <a:xfrm>
            <a:off x="1091625" y="2222275"/>
            <a:ext cx="3603900" cy="4413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&lt;html&gt;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&lt;body&gt;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&lt;table border=1 bordercolor=black&gt;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b="1" lang="en-US" sz="1765"/>
              <a:t>    &lt;thead style=color:green&gt;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&lt;tr&gt;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 &lt;th&gt;Month&lt;/th&gt;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 &lt;th&gt;savings&lt;/th&gt;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 &lt;/tr&gt;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</a:t>
            </a:r>
            <a:r>
              <a:rPr b="1" lang="en-US" sz="1765"/>
              <a:t>&lt;/thead&gt;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b="1" lang="en-US" sz="1765"/>
              <a:t>     &lt;tbody style=color:blue&gt;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&lt;tr&gt;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 &lt;td&gt;Jan&lt;/td&gt;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  &lt;td&gt;$100&lt;/td&gt;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&lt;/tr&gt;</a:t>
            </a:r>
            <a:endParaRPr sz="1765"/>
          </a:p>
          <a:p>
            <a:pPr indent="0" lvl="0" marL="1143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65"/>
              <a:buNone/>
            </a:pPr>
            <a:r>
              <a:rPr lang="en-US" sz="1765"/>
              <a:t>    </a:t>
            </a:r>
            <a:endParaRPr sz="1765"/>
          </a:p>
        </p:txBody>
      </p:sp>
      <p:sp>
        <p:nvSpPr>
          <p:cNvPr id="431" name="Google Shape;431;g1125afdb20d_0_274"/>
          <p:cNvSpPr txBox="1"/>
          <p:nvPr>
            <p:ph idx="2" type="body"/>
          </p:nvPr>
        </p:nvSpPr>
        <p:spPr>
          <a:xfrm>
            <a:off x="6205800" y="2074150"/>
            <a:ext cx="4221900" cy="4561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&lt;tr&gt;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 &lt;td&gt;Feb&lt;/td&gt;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 &lt;td&gt;$80&lt;/td&gt;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&lt;/tr&gt;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</a:t>
            </a:r>
            <a:r>
              <a:rPr b="1" lang="en-US" sz="1800"/>
              <a:t>&lt;/tbody&gt;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b="1" lang="en-US" sz="1800"/>
              <a:t>     &lt;tfoot style=color:red&gt;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&lt;tr&gt;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 &lt;td&gt;Total&lt;/td&gt;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 &lt;td&gt;$180&lt;/td&gt;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   &lt;/tr&gt;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</a:t>
            </a:r>
            <a:r>
              <a:rPr b="1" lang="en-US" sz="1800"/>
              <a:t>&lt;/tfoot&gt;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 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&lt;/table&gt;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&lt;/body&gt;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lang="en-US" sz="1800"/>
              <a:t>&lt;/html&gt;</a:t>
            </a:r>
            <a:endParaRPr/>
          </a:p>
          <a:p>
            <a:pPr indent="-1143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25afdb20d_0_280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Table Example-6</a:t>
            </a:r>
            <a:endParaRPr/>
          </a:p>
        </p:txBody>
      </p:sp>
      <p:graphicFrame>
        <p:nvGraphicFramePr>
          <p:cNvPr id="437" name="Google Shape;437;g1125afdb20d_0_280"/>
          <p:cNvGraphicFramePr/>
          <p:nvPr/>
        </p:nvGraphicFramePr>
        <p:xfrm>
          <a:off x="596875" y="2554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{66200382-4F93-456C-9F40-2445E6791A1A}</a:tableStyleId>
              </a:tblPr>
              <a:tblGrid>
                <a:gridCol w="2246775"/>
                <a:gridCol w="2246775"/>
                <a:gridCol w="2246775"/>
                <a:gridCol w="2246775"/>
                <a:gridCol w="2246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Time/Day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Monday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Tuesday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Wednesday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Thursday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</a:rPr>
                        <a:t>10:00-11:00</a:t>
                      </a:r>
                      <a:endParaRPr b="1"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DBMS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Maths 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DBMS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DBMS</a:t>
                      </a:r>
                      <a:endParaRPr sz="1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</a:rPr>
                        <a:t>11:00-12:00</a:t>
                      </a:r>
                      <a:endParaRPr b="1"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WT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DBMS</a:t>
                      </a:r>
                      <a:endParaRPr sz="1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WT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Maths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</a:rPr>
                        <a:t>12:00-12:30</a:t>
                      </a:r>
                      <a:endParaRPr b="1"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                                      </a:t>
                      </a:r>
                      <a:r>
                        <a:rPr b="1" lang="en-US" sz="2100" u="none" cap="none" strike="noStrike"/>
                        <a:t>Lunch Break</a:t>
                      </a:r>
                      <a:endParaRPr b="1"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</a:rPr>
                        <a:t>12:30-1:30</a:t>
                      </a:r>
                      <a:endParaRPr b="1"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Maths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 DBMSL(PR)</a:t>
                      </a:r>
                      <a:endParaRPr sz="17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  T1 Batch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Maths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DBMSL(PR)</a:t>
                      </a:r>
                      <a:endParaRPr sz="17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  T2 Batch</a:t>
                      </a:r>
                      <a:endParaRPr sz="1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chemeClr val="lt1"/>
                          </a:solidFill>
                        </a:rPr>
                        <a:t>1:30-2:30</a:t>
                      </a:r>
                      <a:endParaRPr b="1"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ADS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chemeClr val="lt1"/>
                          </a:solidFill>
                        </a:rPr>
                        <a:t>ADS</a:t>
                      </a:r>
                      <a:endParaRPr sz="2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25afdb20d_0_285"/>
          <p:cNvSpPr txBox="1"/>
          <p:nvPr>
            <p:ph idx="4294967295" type="body"/>
          </p:nvPr>
        </p:nvSpPr>
        <p:spPr>
          <a:xfrm>
            <a:off x="562750" y="275300"/>
            <a:ext cx="4876800" cy="5943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&lt;html&gt;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&lt;body&gt;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&lt;table border=1 width=50% align=center&gt;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&lt;th&gt;Time/Day &lt;/th&gt;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&lt;th&gt; Mon &lt;/th&gt;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&lt;th&gt; Tue &lt;/th&gt;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&lt;th&gt; Wed &lt;/th&gt;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&lt;th&gt; Thus &lt;/th&gt;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&lt;/tr&gt;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&lt;td&gt;10:00-11:00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&lt;td&gt;DBMS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&lt;td&gt;Maths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&lt;td&gt;DBMS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&lt;td&gt;DBMS&lt;/td&gt;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&lt;/tr&gt;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&lt;tr&gt;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&lt;td&gt;11:00-12:00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&lt;td&gt;WT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&lt;td&gt;DBMS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&lt;td&gt;WT 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&lt;td&gt;Maths&lt;/td&gt;</a:t>
            </a:r>
            <a:endParaRPr sz="2100"/>
          </a:p>
          <a:p>
            <a:pPr indent="0" lvl="0" marL="1143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&lt;/tr&gt;</a:t>
            </a:r>
            <a:endParaRPr sz="2100"/>
          </a:p>
          <a:p>
            <a:pPr indent="-152400" lvl="0" marL="34290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/>
          </a:p>
        </p:txBody>
      </p:sp>
      <p:sp>
        <p:nvSpPr>
          <p:cNvPr id="443" name="Google Shape;443;g1125afdb20d_0_285"/>
          <p:cNvSpPr txBox="1"/>
          <p:nvPr>
            <p:ph idx="4294967295" type="body"/>
          </p:nvPr>
        </p:nvSpPr>
        <p:spPr>
          <a:xfrm>
            <a:off x="6187025" y="357650"/>
            <a:ext cx="4876800" cy="577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&lt;td&gt;12:00-12:30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 colspan=4 align=center bgcolor=yellow&gt;Lunch Break&lt;/td&gt;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&lt;td&gt;12:30-1:30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&lt;td&gt;Maths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 rowspan=2&gt;DBMSL(PR) Batch T1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&lt;td&gt;Maths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 rowspan=2&gt;DBMSL(PR) Batch T2&lt;/td&gt;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&lt;td&gt;1:30-2:30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&lt;td&gt;ADS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&lt;td&gt;ADS &lt;/td&gt;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&lt;/tr&gt;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&lt;/table&gt;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&lt;/body&gt;</a:t>
            </a:r>
            <a:endParaRPr sz="2000"/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&lt;/html&gt;</a:t>
            </a:r>
            <a:endParaRPr sz="2000"/>
          </a:p>
          <a:p>
            <a:pPr indent="-152400" lvl="0" marL="34290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11e9a3adc6_0_16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Span and Div tag- </a:t>
            </a:r>
            <a:r>
              <a:rPr lang="en-US">
                <a:solidFill>
                  <a:srgbClr val="FFFF00"/>
                </a:solidFill>
              </a:rPr>
              <a:t>Value Addition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49" name="Google Shape;449;g111e9a3adc6_0_165"/>
          <p:cNvSpPr txBox="1"/>
          <p:nvPr>
            <p:ph idx="1" type="body"/>
          </p:nvPr>
        </p:nvSpPr>
        <p:spPr>
          <a:xfrm>
            <a:off x="697300" y="2540875"/>
            <a:ext cx="10397100" cy="367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950">
                <a:latin typeface="PT Sans Narrow"/>
                <a:ea typeface="PT Sans Narrow"/>
                <a:cs typeface="PT Sans Narrow"/>
                <a:sym typeface="PT Sans Narrow"/>
              </a:rPr>
              <a:t>•The &lt;span&gt; tag is an inline container </a:t>
            </a:r>
            <a:r>
              <a:rPr b="1" lang="en-US" sz="295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used to mark up a part of a text, or a part of a document</a:t>
            </a:r>
            <a:r>
              <a:rPr lang="en-US" sz="2950">
                <a:latin typeface="PT Sans Narrow"/>
                <a:ea typeface="PT Sans Narrow"/>
                <a:cs typeface="PT Sans Narrow"/>
                <a:sym typeface="PT Sans Narrow"/>
              </a:rPr>
              <a:t>.</a:t>
            </a:r>
            <a:endParaRPr sz="29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29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950">
                <a:latin typeface="PT Sans Narrow"/>
                <a:ea typeface="PT Sans Narrow"/>
                <a:cs typeface="PT Sans Narrow"/>
                <a:sym typeface="PT Sans Narrow"/>
              </a:rPr>
              <a:t>•The &lt;span&gt; tag is much like the &lt;div&gt; element, but </a:t>
            </a:r>
            <a:r>
              <a:rPr b="1" lang="en-US" sz="3050">
                <a:solidFill>
                  <a:srgbClr val="00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&lt;div&gt; is a block-level element</a:t>
            </a:r>
            <a:r>
              <a:rPr lang="en-US" sz="2950">
                <a:latin typeface="PT Sans Narrow"/>
                <a:ea typeface="PT Sans Narrow"/>
                <a:cs typeface="PT Sans Narrow"/>
                <a:sym typeface="PT Sans Narrow"/>
              </a:rPr>
              <a:t> and  </a:t>
            </a:r>
            <a:r>
              <a:rPr lang="en-US" sz="305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&lt;span&gt; is an inline element.</a:t>
            </a:r>
            <a:endParaRPr sz="3050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65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11e9a3adc6_0_17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Span and Div tag- </a:t>
            </a:r>
            <a:r>
              <a:rPr lang="en-US">
                <a:solidFill>
                  <a:srgbClr val="FFFF00"/>
                </a:solidFill>
              </a:rPr>
              <a:t>Value Addition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55" name="Google Shape;455;g111e9a3adc6_0_171"/>
          <p:cNvSpPr txBox="1"/>
          <p:nvPr>
            <p:ph idx="1" type="body"/>
          </p:nvPr>
        </p:nvSpPr>
        <p:spPr>
          <a:xfrm>
            <a:off x="272475" y="2267750"/>
            <a:ext cx="5491800" cy="43182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&lt;body&gt;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My mother has &lt;</a:t>
            </a:r>
            <a:r>
              <a:rPr b="1" lang="en-US" sz="2450">
                <a:latin typeface="PT Sans Narrow"/>
                <a:ea typeface="PT Sans Narrow"/>
                <a:cs typeface="PT Sans Narrow"/>
                <a:sym typeface="PT Sans Narrow"/>
              </a:rPr>
              <a:t>span</a:t>
            </a: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 style="color:blue"&gt; blue &lt;/span&gt; eyes and my father has &lt;</a:t>
            </a:r>
            <a:r>
              <a:rPr b="1" lang="en-US" sz="2450">
                <a:latin typeface="PT Sans Narrow"/>
                <a:ea typeface="PT Sans Narrow"/>
                <a:cs typeface="PT Sans Narrow"/>
                <a:sym typeface="PT Sans Narrow"/>
              </a:rPr>
              <a:t>span</a:t>
            </a: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 style="color:green"&gt;dark green&lt;/span&gt; eyes.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&lt;/body&gt;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&lt;/html&gt;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56" name="Google Shape;456;g111e9a3adc6_0_171"/>
          <p:cNvSpPr txBox="1"/>
          <p:nvPr>
            <p:ph idx="1" type="body"/>
          </p:nvPr>
        </p:nvSpPr>
        <p:spPr>
          <a:xfrm>
            <a:off x="6235975" y="2267750"/>
            <a:ext cx="5809500" cy="43182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&lt;body&gt;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My mother has &lt;</a:t>
            </a:r>
            <a:r>
              <a:rPr b="1" lang="en-US" sz="2450">
                <a:latin typeface="PT Sans Narrow"/>
                <a:ea typeface="PT Sans Narrow"/>
                <a:cs typeface="PT Sans Narrow"/>
                <a:sym typeface="PT Sans Narrow"/>
              </a:rPr>
              <a:t>div</a:t>
            </a: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 style="color:blue"&gt; blue &lt;/div&gt; eyes and my father has &lt;</a:t>
            </a:r>
            <a:r>
              <a:rPr b="1" lang="en-US" sz="2450">
                <a:latin typeface="PT Sans Narrow"/>
                <a:ea typeface="PT Sans Narrow"/>
                <a:cs typeface="PT Sans Narrow"/>
                <a:sym typeface="PT Sans Narrow"/>
              </a:rPr>
              <a:t>div</a:t>
            </a: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 style= "color:green"&gt; dark green&lt;/div&gt; eyes.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&lt;/body&gt;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2450">
                <a:latin typeface="PT Sans Narrow"/>
                <a:ea typeface="PT Sans Narrow"/>
                <a:cs typeface="PT Sans Narrow"/>
                <a:sym typeface="PT Sans Narrow"/>
              </a:rPr>
              <a:t>&lt;/html&gt;</a:t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5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11e9a3adc6_0_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Frames</a:t>
            </a:r>
            <a:endParaRPr/>
          </a:p>
        </p:txBody>
      </p:sp>
      <p:sp>
        <p:nvSpPr>
          <p:cNvPr id="462" name="Google Shape;462;g111e9a3adc6_0_6"/>
          <p:cNvSpPr txBox="1"/>
          <p:nvPr>
            <p:ph idx="1" type="body"/>
          </p:nvPr>
        </p:nvSpPr>
        <p:spPr>
          <a:xfrm>
            <a:off x="697300" y="2268498"/>
            <a:ext cx="10554600" cy="4182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simple three-framed page: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&lt;frameset cols="25%,50%,25%"&gt;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&lt;frame src="frame_a.htm"&gt;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&lt;frame src="frame_b.htm"&gt;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&lt;frame src="frame_c.htm"&gt;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&lt;/frameset&gt;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Each &lt;frame&gt; in a &lt;frameset&gt; can have different attributes, such as border, scrolling, the ability to resize, etc.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</p:txBody>
      </p:sp>
      <p:pic>
        <p:nvPicPr>
          <p:cNvPr id="463" name="Google Shape;463;g111e9a3adc6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850" y="2882775"/>
            <a:ext cx="67366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11e9a3adc6_0_18"/>
          <p:cNvSpPr txBox="1"/>
          <p:nvPr>
            <p:ph type="ctrTitle"/>
          </p:nvPr>
        </p:nvSpPr>
        <p:spPr>
          <a:xfrm>
            <a:off x="397650" y="902475"/>
            <a:ext cx="11396700" cy="3617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/>
              <a:t>Web Technology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59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opic: 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HTML Forms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9" name="Google Shape;469;g111e9a3adc6_0_18"/>
          <p:cNvSpPr txBox="1"/>
          <p:nvPr>
            <p:ph idx="1" type="subTitle"/>
          </p:nvPr>
        </p:nvSpPr>
        <p:spPr>
          <a:xfrm>
            <a:off x="727375" y="5257502"/>
            <a:ext cx="10572000" cy="706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1e9a3adc6_0_28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Form Example-1-</a:t>
            </a:r>
            <a:br>
              <a:rPr lang="en-US"/>
            </a:br>
            <a:r>
              <a:rPr lang="en-US"/>
              <a:t>Login Page</a:t>
            </a:r>
            <a:endParaRPr/>
          </a:p>
        </p:txBody>
      </p:sp>
      <p:pic>
        <p:nvPicPr>
          <p:cNvPr id="475" name="Google Shape;475;g111e9a3adc6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81125"/>
            <a:ext cx="12192000" cy="49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11e9a3adc6_0_33"/>
          <p:cNvSpPr txBox="1"/>
          <p:nvPr>
            <p:ph type="title"/>
          </p:nvPr>
        </p:nvSpPr>
        <p:spPr>
          <a:xfrm>
            <a:off x="508000" y="161924"/>
            <a:ext cx="10566300" cy="1143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Forms – Example 2 Registration Form</a:t>
            </a:r>
            <a:endParaRPr/>
          </a:p>
        </p:txBody>
      </p:sp>
      <p:pic>
        <p:nvPicPr>
          <p:cNvPr id="481" name="Google Shape;481;g111e9a3adc6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466" y="1031800"/>
            <a:ext cx="5385035" cy="5704800"/>
          </a:xfrm>
          <a:prstGeom prst="rect">
            <a:avLst/>
          </a:prstGeom>
          <a:solidFill>
            <a:srgbClr val="ECECEC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11e9a3adc6_0_38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Form Elements</a:t>
            </a:r>
            <a:endParaRPr/>
          </a:p>
        </p:txBody>
      </p:sp>
      <p:graphicFrame>
        <p:nvGraphicFramePr>
          <p:cNvPr id="487" name="Google Shape;487;g111e9a3adc6_0_38"/>
          <p:cNvGraphicFramePr/>
          <p:nvPr/>
        </p:nvGraphicFramePr>
        <p:xfrm>
          <a:off x="965200" y="2599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2688600"/>
                <a:gridCol w="7573000"/>
              </a:tblGrid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Tag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Description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&lt;form&gt;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an HTML form for user input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&lt;input&gt;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an input control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&lt;textarea&gt;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multiline input control (text area)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&lt;label&gt;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label for an &lt;input&gt; element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&lt;select&gt;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drop-down list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&lt;option&gt;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an option in a drop-down list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sng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&lt;button&gt;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Defines a clickable button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37500" marB="37500" marR="75000" marL="75000" anchor="ctr">
                    <a:lnL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49C9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g111e9a3adc6_0_38"/>
          <p:cNvSpPr/>
          <p:nvPr/>
        </p:nvSpPr>
        <p:spPr>
          <a:xfrm>
            <a:off x="1521884" y="1613972"/>
            <a:ext cx="24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e9a3adc6_0_44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Input Types</a:t>
            </a:r>
            <a:endParaRPr/>
          </a:p>
        </p:txBody>
      </p:sp>
      <p:sp>
        <p:nvSpPr>
          <p:cNvPr id="494" name="Google Shape;494;g111e9a3adc6_0_44"/>
          <p:cNvSpPr txBox="1"/>
          <p:nvPr>
            <p:ph idx="1" type="body"/>
          </p:nvPr>
        </p:nvSpPr>
        <p:spPr>
          <a:xfrm>
            <a:off x="791675" y="2650975"/>
            <a:ext cx="4001400" cy="34746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type="text"&gt;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type="number"&gt;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type="password"&gt;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type="date"&gt;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type="email"&gt;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845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300"/>
              <a:buFont typeface="PT Sans Narrow"/>
              <a:buChar char="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&lt;input type="color"&gt;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95" name="Google Shape;495;g111e9a3adc6_0_44"/>
          <p:cNvSpPr txBox="1"/>
          <p:nvPr>
            <p:ph idx="1" type="body"/>
          </p:nvPr>
        </p:nvSpPr>
        <p:spPr>
          <a:xfrm>
            <a:off x="6208950" y="2650975"/>
            <a:ext cx="4122300" cy="3474600"/>
          </a:xfrm>
          <a:prstGeom prst="rect">
            <a:avLst/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type="checkbox"&gt;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type="radio"&gt; 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type="file"&gt; 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type="reset"&gt; 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type="submit"&gt; 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3200"/>
              <a:buFont typeface="PT Sans Narrow"/>
              <a:buChar char="❏"/>
            </a:pPr>
            <a:r>
              <a:rPr lang="en-US" sz="2800">
                <a:latin typeface="PT Sans Narrow"/>
                <a:ea typeface="PT Sans Narrow"/>
                <a:cs typeface="PT Sans Narrow"/>
                <a:sym typeface="PT Sans Narrow"/>
              </a:rPr>
              <a:t>&lt;input type="button"&gt; </a:t>
            </a:r>
            <a:endParaRPr sz="28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11e9a3adc6_0_49"/>
          <p:cNvSpPr txBox="1"/>
          <p:nvPr>
            <p:ph type="title"/>
          </p:nvPr>
        </p:nvSpPr>
        <p:spPr>
          <a:xfrm>
            <a:off x="397225" y="401675"/>
            <a:ext cx="111663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Form </a:t>
            </a:r>
            <a:r>
              <a:rPr lang="en-US">
                <a:solidFill>
                  <a:srgbClr val="0000CD"/>
                </a:solidFill>
              </a:rPr>
              <a:t>Example-1- Login Page</a:t>
            </a:r>
            <a:endParaRPr>
              <a:solidFill>
                <a:srgbClr val="0000CD"/>
              </a:solidFill>
            </a:endParaRPr>
          </a:p>
        </p:txBody>
      </p:sp>
      <p:pic>
        <p:nvPicPr>
          <p:cNvPr id="501" name="Google Shape;501;g111e9a3adc6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10750"/>
            <a:ext cx="12192000" cy="49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11e9a3adc6_0_54"/>
          <p:cNvSpPr txBox="1"/>
          <p:nvPr>
            <p:ph idx="4294967295" type="body"/>
          </p:nvPr>
        </p:nvSpPr>
        <p:spPr>
          <a:xfrm>
            <a:off x="260050" y="290650"/>
            <a:ext cx="5838000" cy="6165600"/>
          </a:xfrm>
          <a:prstGeom prst="rect">
            <a:avLst/>
          </a:prstGeom>
          <a:noFill/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&lt;body bgcolor=green&gt;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&lt;br&gt;&lt;br&gt;&lt;hr&gt;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&lt;h2&gt; Welcome to My Account Login &lt;/h2&gt;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&lt;table&gt;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&lt;td&gt;Enter User Name:&lt;/td&gt;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type=text placeholder="Enter Username Here"&gt;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&lt;/td&gt;&lt;/tr&gt;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&lt;td&gt;Enter Password:&lt;/td&gt;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type=password placeholder="Enter Password Here"&gt;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&lt;/td&gt;&lt;/tr&gt;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507" name="Google Shape;507;g111e9a3adc6_0_54"/>
          <p:cNvSpPr txBox="1"/>
          <p:nvPr>
            <p:ph idx="4294967295" type="body"/>
          </p:nvPr>
        </p:nvSpPr>
        <p:spPr>
          <a:xfrm>
            <a:off x="6274800" y="666400"/>
            <a:ext cx="5767500" cy="5414100"/>
          </a:xfrm>
          <a:prstGeom prst="rect">
            <a:avLst/>
          </a:prstGeom>
          <a:noFill/>
          <a:ln cap="flat" cmpd="sng" w="762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&lt;td</a:t>
            </a:r>
            <a:r>
              <a:rPr lang="en-US" sz="2600">
                <a:latin typeface="PT Sans Narrow"/>
                <a:ea typeface="PT Sans Narrow"/>
                <a:cs typeface="PT Sans Narrow"/>
                <a:sym typeface="PT Sans Narrow"/>
              </a:rPr>
              <a:t>&gt;&lt;/</a:t>
            </a: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td&gt;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&lt;input type=reset value=Reset style=color:green&gt;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&lt;input Type =submit value=Login style=color:green&gt;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&lt;/table&gt;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&lt;br&gt;&lt;br&gt;&lt;hr&gt;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&lt;/body&gt;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PT Sans Narrow"/>
                <a:ea typeface="PT Sans Narrow"/>
                <a:cs typeface="PT Sans Narrow"/>
                <a:sym typeface="PT Sans Narrow"/>
              </a:rPr>
              <a:t>&lt;/html&gt;</a:t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11e9a3adc6_0_59"/>
          <p:cNvSpPr txBox="1"/>
          <p:nvPr>
            <p:ph type="title"/>
          </p:nvPr>
        </p:nvSpPr>
        <p:spPr>
          <a:xfrm>
            <a:off x="1080000" y="447188"/>
            <a:ext cx="140961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Cambria"/>
              <a:buNone/>
            </a:pPr>
            <a:r>
              <a:rPr lang="en-US"/>
              <a:t>HTML Forms – </a:t>
            </a:r>
            <a:r>
              <a:rPr lang="en-US">
                <a:solidFill>
                  <a:srgbClr val="0000CD"/>
                </a:solidFill>
              </a:rPr>
              <a:t>Example 2 Registration Form</a:t>
            </a:r>
            <a:endParaRPr>
              <a:solidFill>
                <a:srgbClr val="0000CD"/>
              </a:solidFill>
            </a:endParaRPr>
          </a:p>
        </p:txBody>
      </p:sp>
      <p:pic>
        <p:nvPicPr>
          <p:cNvPr id="513" name="Google Shape;513;g111e9a3adc6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1800" y="1296400"/>
            <a:ext cx="5268400" cy="556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11e9a3adc6_0_64"/>
          <p:cNvSpPr txBox="1"/>
          <p:nvPr>
            <p:ph idx="4294967295" type="body"/>
          </p:nvPr>
        </p:nvSpPr>
        <p:spPr>
          <a:xfrm>
            <a:off x="445950" y="76200"/>
            <a:ext cx="4453500" cy="624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&lt;html&gt;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&lt;body 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&lt;h2 align=center&gt; Registration Form &lt;/h2&gt;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&lt;table  b&gt;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&lt;td&gt;My Photo&lt;/td&gt;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type=file&gt;&lt;/td&gt;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&lt;td&gt;Name&lt;/td&gt;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type=text&gt;&lt;/td&gt;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&lt;td&gt;Address&lt;/td&gt;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type=text&gt;&lt;/td&gt;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&lt;td&gt;Mobile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type=text&gt;&lt;/td&gt;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519" name="Google Shape;519;g111e9a3adc6_0_64"/>
          <p:cNvSpPr txBox="1"/>
          <p:nvPr>
            <p:ph idx="4294967295" type="body"/>
          </p:nvPr>
        </p:nvSpPr>
        <p:spPr>
          <a:xfrm>
            <a:off x="6074875" y="38100"/>
            <a:ext cx="4876800" cy="6781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&lt;td&gt;DOB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type=date&gt;&lt;/td&gt;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 &lt;td&gt;color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&lt;td&gt;&lt;input type=color&gt;&lt;/td&gt; 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&lt;td&gt;Gender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type=radio&gt;Male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type=radio&gt;FeMale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&lt;td&gt;Hobbies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type=checkbox&gt;Cricket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&lt;input type=checkbox&gt;Hockey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21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11e9a3adc6_0_69"/>
          <p:cNvSpPr txBox="1"/>
          <p:nvPr>
            <p:ph idx="4294967295" type="body"/>
          </p:nvPr>
        </p:nvSpPr>
        <p:spPr>
          <a:xfrm>
            <a:off x="304800" y="152400"/>
            <a:ext cx="5277300" cy="6553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&lt;td&gt;Select Branch &lt;/td&gt;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&lt;select size=2&gt;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&lt;option&gt; Computer&lt;/option&gt;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&lt;option&gt; IT&lt;/option&gt;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&lt;option&gt; Civil&lt;/option&gt;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&lt;/select&gt;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6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&lt;td&gt;Rate this site &lt;/td&gt;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&lt;input type=number min=1 max=5&gt;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1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525" name="Google Shape;525;g111e9a3adc6_0_69"/>
          <p:cNvSpPr txBox="1"/>
          <p:nvPr>
            <p:ph idx="4294967295" type="body"/>
          </p:nvPr>
        </p:nvSpPr>
        <p:spPr>
          <a:xfrm>
            <a:off x="6434400" y="38100"/>
            <a:ext cx="5181600" cy="6781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&lt;td&gt;Comment 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&lt;textarea col=10 rows=3&gt;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&lt;/textarea&gt;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&lt;td colspan=2 align=center&gt;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&lt;button &gt;Click&lt;/button&gt;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&lt;button &gt;Reset&lt;/button&gt;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&lt;/td&gt;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&lt;/tr&gt;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&lt;/body&gt;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1143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None/>
            </a:pPr>
            <a:r>
              <a:rPr lang="en-US" sz="2300">
                <a:latin typeface="PT Sans Narrow"/>
                <a:ea typeface="PT Sans Narrow"/>
                <a:cs typeface="PT Sans Narrow"/>
                <a:sym typeface="PT Sans Narrow"/>
              </a:rPr>
              <a:t>&lt;/html&gt;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11a8f40a60_0_0"/>
          <p:cNvSpPr txBox="1"/>
          <p:nvPr>
            <p:ph type="ctrTitle"/>
          </p:nvPr>
        </p:nvSpPr>
        <p:spPr>
          <a:xfrm>
            <a:off x="397650" y="902475"/>
            <a:ext cx="11396700" cy="3617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/>
              <a:t>Web Technology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59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opic: 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Difference Between HTML &amp; HTML5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1" name="Google Shape;531;g111a8f40a60_0_0"/>
          <p:cNvSpPr txBox="1"/>
          <p:nvPr>
            <p:ph idx="1" type="subTitle"/>
          </p:nvPr>
        </p:nvSpPr>
        <p:spPr>
          <a:xfrm>
            <a:off x="727375" y="5257502"/>
            <a:ext cx="10572000" cy="706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6" name="Google Shape;536;g11dcfad3361_0_8"/>
          <p:cNvGraphicFramePr/>
          <p:nvPr/>
        </p:nvGraphicFramePr>
        <p:xfrm>
          <a:off x="210900" y="13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{99B5D49B-46B4-410F-B933-D0EB36130DBD}</a:tableStyleId>
              </a:tblPr>
              <a:tblGrid>
                <a:gridCol w="5686375"/>
                <a:gridCol w="62947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</a:t>
                      </a:r>
                      <a:endParaRPr b="1" sz="2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Html5</a:t>
                      </a:r>
                      <a:endParaRPr b="1" sz="27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DOCTYPE declaration in Html is too longer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DOCTYPE declaration in Html5 is very simple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"&lt;!DOCTYPE html&gt;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character encoding in Html is also longer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&lt;!DOCTYPE HTML PUBLIC "-//W3C//DTD HTML 4.0 Transitional//EN"&gt;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character encoding (charset) declaration is also very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simple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&lt;meta charset="UTF-8"&gt;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Audio and Video are not part of HTML4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Audio and Videos are </a:t>
                      </a: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integral part of HTML5</a:t>
                      </a: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e.g. &lt;audio&gt; and &lt;video&gt; tags.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Vector Graphics is possible with the help of technologies such as VML, Silverlight, Flash etc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Vector graphics is integral part of HTML5 e.g. SVG and canvas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It is almost impossible to get true GeoLocation of user browsing any website especially if it comes to mobile devices.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JS GeoLocation API in HTML5 helps identify location of user browsing any website (provided user allows it)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.It provides local storage in place of cookies.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Html5 use cookies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Not possible to draw shapes like circle, rectangle, triangle.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Using Html5 you can draw shapes like circle, rectangle, triangle.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Does not allow JavaScript to run in browser. JS runs in same thread as browser interface.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Allows JavaScript to run in background. This is possible due to JS Web worker API in HTML5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Works with all old browsers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Supported by all new browser.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C6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6B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1693f1a66a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HTML 5 Tags</a:t>
            </a:r>
            <a:endParaRPr/>
          </a:p>
        </p:txBody>
      </p:sp>
      <p:sp>
        <p:nvSpPr>
          <p:cNvPr id="542" name="Google Shape;542;g21693f1a66a_0_0"/>
          <p:cNvSpPr txBox="1"/>
          <p:nvPr>
            <p:ph idx="1" type="body"/>
          </p:nvPr>
        </p:nvSpPr>
        <p:spPr>
          <a:xfrm>
            <a:off x="715000" y="2459274"/>
            <a:ext cx="10554600" cy="3939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>
                <a:latin typeface="PT Sans Narrow"/>
                <a:ea typeface="PT Sans Narrow"/>
                <a:cs typeface="PT Sans Narrow"/>
                <a:sym typeface="PT Sans Narrow"/>
              </a:rPr>
              <a:t>&lt;mark&gt;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 u="sng">
                <a:solidFill>
                  <a:schemeClr val="hlink"/>
                </a:solidFill>
                <a:latin typeface="PT Sans Narrow"/>
                <a:ea typeface="PT Sans Narrow"/>
                <a:cs typeface="PT Sans Narrow"/>
                <a:sym typeface="PT Sans Narrow"/>
                <a:hlinkClick r:id="rId3"/>
              </a:rPr>
              <a:t>&lt;audio&gt;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 u="sng">
                <a:solidFill>
                  <a:schemeClr val="hlink"/>
                </a:solidFill>
                <a:latin typeface="PT Sans Narrow"/>
                <a:ea typeface="PT Sans Narrow"/>
                <a:cs typeface="PT Sans Narrow"/>
                <a:sym typeface="PT Sans Narrow"/>
                <a:hlinkClick r:id="rId4"/>
              </a:rPr>
              <a:t>&lt;video&gt;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 u="sng">
                <a:solidFill>
                  <a:schemeClr val="hlink"/>
                </a:solidFill>
                <a:latin typeface="PT Sans Narrow"/>
                <a:ea typeface="PT Sans Narrow"/>
                <a:cs typeface="PT Sans Narrow"/>
                <a:sym typeface="PT Sans Narrow"/>
                <a:hlinkClick r:id="rId5"/>
              </a:rPr>
              <a:t>&lt;Progress&gt;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 u="sng">
                <a:solidFill>
                  <a:schemeClr val="hlink"/>
                </a:solidFill>
                <a:latin typeface="PT Sans Narrow"/>
                <a:ea typeface="PT Sans Narrow"/>
                <a:cs typeface="PT Sans Narrow"/>
                <a:sym typeface="PT Sans Narrow"/>
                <a:hlinkClick r:id="rId6"/>
              </a:rPr>
              <a:t>&lt;nav&gt;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8108"/>
              <a:buFont typeface="PT Sans Narrow"/>
              <a:buChar char="●"/>
            </a:pPr>
            <a:r>
              <a:rPr lang="en-US" sz="3000" u="sng">
                <a:solidFill>
                  <a:schemeClr val="hlink"/>
                </a:solidFill>
                <a:latin typeface="PT Sans Narrow"/>
                <a:ea typeface="PT Sans Narrow"/>
                <a:cs typeface="PT Sans Narrow"/>
                <a:sym typeface="PT Sans Narrow"/>
                <a:hlinkClick r:id="rId7"/>
              </a:rPr>
              <a:t>Canvas</a:t>
            </a:r>
            <a:endParaRPr sz="30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dcfad3361_0_3"/>
          <p:cNvSpPr txBox="1"/>
          <p:nvPr>
            <p:ph type="ctrTitle"/>
          </p:nvPr>
        </p:nvSpPr>
        <p:spPr>
          <a:xfrm>
            <a:off x="397650" y="902475"/>
            <a:ext cx="11396700" cy="3617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/>
              <a:t>Web Technology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59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opic: 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6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CSS- Cascading Style sheet</a:t>
            </a:r>
            <a:endParaRPr sz="6000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8" name="Google Shape;548;g11dcfad3361_0_3"/>
          <p:cNvSpPr txBox="1"/>
          <p:nvPr>
            <p:ph idx="1" type="subTitle"/>
          </p:nvPr>
        </p:nvSpPr>
        <p:spPr>
          <a:xfrm>
            <a:off x="727375" y="5257502"/>
            <a:ext cx="10572000" cy="706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afdc7c83cc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</a:t>
            </a:r>
            <a:endParaRPr/>
          </a:p>
        </p:txBody>
      </p:sp>
      <p:sp>
        <p:nvSpPr>
          <p:cNvPr id="554" name="Google Shape;554;gafdc7c83cc_0_5"/>
          <p:cNvSpPr txBox="1"/>
          <p:nvPr/>
        </p:nvSpPr>
        <p:spPr>
          <a:xfrm>
            <a:off x="4802225" y="2464425"/>
            <a:ext cx="217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0" i="0" lang="en-US" sz="58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0" i="0" lang="en-US" sz="58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5800" u="none" cap="none" strike="noStrike">
              <a:solidFill>
                <a:srgbClr val="00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5" name="Google Shape;555;gafdc7c83cc_0_5"/>
          <p:cNvSpPr txBox="1"/>
          <p:nvPr/>
        </p:nvSpPr>
        <p:spPr>
          <a:xfrm>
            <a:off x="810000" y="4588450"/>
            <a:ext cx="3000000" cy="8313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Cascading</a:t>
            </a:r>
            <a:r>
              <a:rPr b="0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42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6" name="Google Shape;556;gafdc7c83cc_0_5"/>
          <p:cNvSpPr txBox="1"/>
          <p:nvPr/>
        </p:nvSpPr>
        <p:spPr>
          <a:xfrm>
            <a:off x="4549450" y="4588450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Style </a:t>
            </a:r>
            <a:endParaRPr b="0" i="0" sz="40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7" name="Google Shape;557;gafdc7c83cc_0_5"/>
          <p:cNvSpPr txBox="1"/>
          <p:nvPr/>
        </p:nvSpPr>
        <p:spPr>
          <a:xfrm>
            <a:off x="8382000" y="4588450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Sheets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558" name="Google Shape;558;gafdc7c83cc_0_5"/>
          <p:cNvCxnSpPr>
            <a:endCxn id="555" idx="0"/>
          </p:cNvCxnSpPr>
          <p:nvPr/>
        </p:nvCxnSpPr>
        <p:spPr>
          <a:xfrm flipH="1">
            <a:off x="2310000" y="3239950"/>
            <a:ext cx="3166500" cy="13485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9" name="Google Shape;559;gafdc7c83cc_0_5"/>
          <p:cNvCxnSpPr>
            <a:endCxn id="556" idx="0"/>
          </p:cNvCxnSpPr>
          <p:nvPr/>
        </p:nvCxnSpPr>
        <p:spPr>
          <a:xfrm>
            <a:off x="5956150" y="3206950"/>
            <a:ext cx="93300" cy="1381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0" name="Google Shape;560;gafdc7c83cc_0_5"/>
          <p:cNvCxnSpPr>
            <a:endCxn id="557" idx="0"/>
          </p:cNvCxnSpPr>
          <p:nvPr/>
        </p:nvCxnSpPr>
        <p:spPr>
          <a:xfrm>
            <a:off x="6397500" y="3223450"/>
            <a:ext cx="3484500" cy="13650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afdc7c83cc_1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CSS-Syntax</a:t>
            </a:r>
            <a:endParaRPr/>
          </a:p>
        </p:txBody>
      </p:sp>
      <p:sp>
        <p:nvSpPr>
          <p:cNvPr id="566" name="Google Shape;566;gafdc7c83cc_1_5"/>
          <p:cNvSpPr txBox="1"/>
          <p:nvPr/>
        </p:nvSpPr>
        <p:spPr>
          <a:xfrm>
            <a:off x="4802225" y="1886050"/>
            <a:ext cx="217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0" i="0" lang="en-US" sz="58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0" i="0" lang="en-US" sz="58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5800" u="none" cap="none" strike="noStrike">
              <a:solidFill>
                <a:srgbClr val="00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7" name="Google Shape;567;gafdc7c83cc_1_5"/>
          <p:cNvSpPr txBox="1"/>
          <p:nvPr/>
        </p:nvSpPr>
        <p:spPr>
          <a:xfrm>
            <a:off x="81000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Selector</a:t>
            </a:r>
            <a:endParaRPr b="0" i="0" sz="42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8" name="Google Shape;568;gafdc7c83cc_1_5"/>
          <p:cNvSpPr txBox="1"/>
          <p:nvPr/>
        </p:nvSpPr>
        <p:spPr>
          <a:xfrm>
            <a:off x="454945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Property</a:t>
            </a:r>
            <a:endParaRPr b="0" i="0" sz="40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9" name="Google Shape;569;gafdc7c83cc_1_5"/>
          <p:cNvSpPr txBox="1"/>
          <p:nvPr/>
        </p:nvSpPr>
        <p:spPr>
          <a:xfrm>
            <a:off x="838200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Value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570" name="Google Shape;570;gafdc7c83cc_1_5"/>
          <p:cNvCxnSpPr>
            <a:endCxn id="567" idx="0"/>
          </p:cNvCxnSpPr>
          <p:nvPr/>
        </p:nvCxnSpPr>
        <p:spPr>
          <a:xfrm flipH="1">
            <a:off x="2310000" y="2661575"/>
            <a:ext cx="3166500" cy="13485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1" name="Google Shape;571;gafdc7c83cc_1_5"/>
          <p:cNvCxnSpPr>
            <a:endCxn id="568" idx="0"/>
          </p:cNvCxnSpPr>
          <p:nvPr/>
        </p:nvCxnSpPr>
        <p:spPr>
          <a:xfrm>
            <a:off x="5956150" y="2628575"/>
            <a:ext cx="93300" cy="1381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2" name="Google Shape;572;gafdc7c83cc_1_5"/>
          <p:cNvCxnSpPr>
            <a:endCxn id="569" idx="0"/>
          </p:cNvCxnSpPr>
          <p:nvPr/>
        </p:nvCxnSpPr>
        <p:spPr>
          <a:xfrm>
            <a:off x="6397500" y="2645075"/>
            <a:ext cx="3484500" cy="13650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3" name="Google Shape;573;gafdc7c83cc_1_5"/>
          <p:cNvSpPr txBox="1"/>
          <p:nvPr/>
        </p:nvSpPr>
        <p:spPr>
          <a:xfrm>
            <a:off x="2462275" y="5033838"/>
            <a:ext cx="73371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Selector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Property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Value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;}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4" name="Google Shape;574;gafdc7c83cc_1_5"/>
          <p:cNvSpPr txBox="1"/>
          <p:nvPr/>
        </p:nvSpPr>
        <p:spPr>
          <a:xfrm>
            <a:off x="2462275" y="5974950"/>
            <a:ext cx="73371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color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red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;}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5" name="Google Shape;575;gafdc7c83cc_1_5"/>
          <p:cNvSpPr/>
          <p:nvPr/>
        </p:nvSpPr>
        <p:spPr>
          <a:xfrm>
            <a:off x="1305500" y="2330075"/>
            <a:ext cx="594900" cy="168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afdc7c83cc_1_6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CSS-Syntax</a:t>
            </a:r>
            <a:endParaRPr/>
          </a:p>
        </p:txBody>
      </p:sp>
      <p:sp>
        <p:nvSpPr>
          <p:cNvPr id="581" name="Google Shape;581;gafdc7c83cc_1_64"/>
          <p:cNvSpPr txBox="1"/>
          <p:nvPr/>
        </p:nvSpPr>
        <p:spPr>
          <a:xfrm>
            <a:off x="4484225" y="1886050"/>
            <a:ext cx="3484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Selector</a:t>
            </a:r>
            <a:endParaRPr b="0" i="0" sz="5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2" name="Google Shape;582;gafdc7c83cc_1_64"/>
          <p:cNvSpPr txBox="1"/>
          <p:nvPr/>
        </p:nvSpPr>
        <p:spPr>
          <a:xfrm>
            <a:off x="81000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HTML tag</a:t>
            </a:r>
            <a:endParaRPr b="0" i="0" sz="42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3" name="Google Shape;583;gafdc7c83cc_1_64"/>
          <p:cNvSpPr txBox="1"/>
          <p:nvPr/>
        </p:nvSpPr>
        <p:spPr>
          <a:xfrm>
            <a:off x="454945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Id</a:t>
            </a:r>
            <a:endParaRPr b="0" i="0" sz="40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4" name="Google Shape;584;gafdc7c83cc_1_64"/>
          <p:cNvSpPr txBox="1"/>
          <p:nvPr/>
        </p:nvSpPr>
        <p:spPr>
          <a:xfrm>
            <a:off x="8382000" y="4010075"/>
            <a:ext cx="3000000" cy="800400"/>
          </a:xfrm>
          <a:prstGeom prst="rect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40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Class</a:t>
            </a:r>
            <a:endParaRPr b="0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585" name="Google Shape;585;gafdc7c83cc_1_64"/>
          <p:cNvCxnSpPr>
            <a:endCxn id="582" idx="0"/>
          </p:cNvCxnSpPr>
          <p:nvPr/>
        </p:nvCxnSpPr>
        <p:spPr>
          <a:xfrm flipH="1">
            <a:off x="2310000" y="2661575"/>
            <a:ext cx="3166500" cy="13485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6" name="Google Shape;586;gafdc7c83cc_1_64"/>
          <p:cNvCxnSpPr>
            <a:endCxn id="583" idx="0"/>
          </p:cNvCxnSpPr>
          <p:nvPr/>
        </p:nvCxnSpPr>
        <p:spPr>
          <a:xfrm>
            <a:off x="5956150" y="2628575"/>
            <a:ext cx="93300" cy="1381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7" name="Google Shape;587;gafdc7c83cc_1_64"/>
          <p:cNvCxnSpPr>
            <a:endCxn id="584" idx="0"/>
          </p:cNvCxnSpPr>
          <p:nvPr/>
        </p:nvCxnSpPr>
        <p:spPr>
          <a:xfrm>
            <a:off x="6397500" y="2645075"/>
            <a:ext cx="3484500" cy="13650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8" name="Google Shape;588;gafdc7c83cc_1_64"/>
          <p:cNvSpPr txBox="1"/>
          <p:nvPr/>
        </p:nvSpPr>
        <p:spPr>
          <a:xfrm>
            <a:off x="200750" y="5099100"/>
            <a:ext cx="3765300" cy="723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color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35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red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;}</a:t>
            </a:r>
            <a:endParaRPr b="0" i="0" sz="35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9" name="Google Shape;589;gafdc7c83cc_1_64"/>
          <p:cNvSpPr txBox="1"/>
          <p:nvPr/>
        </p:nvSpPr>
        <p:spPr>
          <a:xfrm>
            <a:off x="4253125" y="5099100"/>
            <a:ext cx="3765300" cy="723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#a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color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35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red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;}</a:t>
            </a:r>
            <a:endParaRPr b="0" i="0" sz="35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0" name="Google Shape;590;gafdc7c83cc_1_64"/>
          <p:cNvSpPr txBox="1"/>
          <p:nvPr/>
        </p:nvSpPr>
        <p:spPr>
          <a:xfrm>
            <a:off x="8305500" y="5099100"/>
            <a:ext cx="3765300" cy="723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.a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color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0" i="0" lang="en-US" sz="35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35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red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;}</a:t>
            </a:r>
            <a:endParaRPr b="0" i="0" sz="35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1" name="Google Shape;591;gafdc7c83cc_1_64"/>
          <p:cNvSpPr txBox="1"/>
          <p:nvPr/>
        </p:nvSpPr>
        <p:spPr>
          <a:xfrm>
            <a:off x="200750" y="5962075"/>
            <a:ext cx="3765300" cy="723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&lt;p&gt; Hello &lt;/p&gt;</a:t>
            </a:r>
            <a:endParaRPr b="0" i="0" sz="35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2" name="Google Shape;592;gafdc7c83cc_1_64"/>
          <p:cNvSpPr txBox="1"/>
          <p:nvPr/>
        </p:nvSpPr>
        <p:spPr>
          <a:xfrm>
            <a:off x="4253125" y="5977375"/>
            <a:ext cx="3765300" cy="692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&lt;p id=a&gt; Hello&lt;/p&gt;</a:t>
            </a:r>
            <a:endParaRPr b="0" i="0" sz="3300" u="none" cap="none" strike="noStrike">
              <a:solidFill>
                <a:srgbClr val="00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3" name="Google Shape;593;gafdc7c83cc_1_64"/>
          <p:cNvSpPr txBox="1"/>
          <p:nvPr/>
        </p:nvSpPr>
        <p:spPr>
          <a:xfrm>
            <a:off x="8146975" y="5977375"/>
            <a:ext cx="4044900" cy="661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&lt;p class=a&gt; Hello&lt;/p&gt;</a:t>
            </a:r>
            <a:endParaRPr b="0" i="0" sz="3100" u="none" cap="none" strike="noStrike">
              <a:solidFill>
                <a:srgbClr val="00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9b474e04cd_0_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Types of CSS</a:t>
            </a:r>
            <a:endParaRPr/>
          </a:p>
        </p:txBody>
      </p:sp>
      <p:sp>
        <p:nvSpPr>
          <p:cNvPr id="599" name="Google Shape;599;g9b474e04cd_0_1"/>
          <p:cNvSpPr/>
          <p:nvPr/>
        </p:nvSpPr>
        <p:spPr>
          <a:xfrm>
            <a:off x="4048700" y="2181350"/>
            <a:ext cx="37677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Types of CSS</a:t>
            </a:r>
            <a:endParaRPr b="1" i="0" sz="3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0" name="Google Shape;600;g9b474e04cd_0_1"/>
          <p:cNvSpPr/>
          <p:nvPr/>
        </p:nvSpPr>
        <p:spPr>
          <a:xfrm>
            <a:off x="2311450" y="4413700"/>
            <a:ext cx="18966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Inline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1" name="Google Shape;601;g9b474e04cd_0_1"/>
          <p:cNvSpPr/>
          <p:nvPr/>
        </p:nvSpPr>
        <p:spPr>
          <a:xfrm>
            <a:off x="4984250" y="4413700"/>
            <a:ext cx="18966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Internal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02" name="Google Shape;602;g9b474e04cd_0_1"/>
          <p:cNvCxnSpPr>
            <a:stCxn id="599" idx="2"/>
          </p:cNvCxnSpPr>
          <p:nvPr/>
        </p:nvCxnSpPr>
        <p:spPr>
          <a:xfrm flipH="1">
            <a:off x="3221150" y="3255350"/>
            <a:ext cx="2711400" cy="11583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3" name="Google Shape;603;g9b474e04cd_0_1"/>
          <p:cNvCxnSpPr>
            <a:stCxn id="599" idx="2"/>
            <a:endCxn id="601" idx="0"/>
          </p:cNvCxnSpPr>
          <p:nvPr/>
        </p:nvCxnSpPr>
        <p:spPr>
          <a:xfrm>
            <a:off x="5932550" y="3255350"/>
            <a:ext cx="0" cy="1158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4" name="Google Shape;604;g9b474e04cd_0_1"/>
          <p:cNvSpPr/>
          <p:nvPr/>
        </p:nvSpPr>
        <p:spPr>
          <a:xfrm>
            <a:off x="7816400" y="4413650"/>
            <a:ext cx="19854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External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05" name="Google Shape;605;g9b474e04cd_0_1"/>
          <p:cNvCxnSpPr>
            <a:stCxn id="599" idx="2"/>
            <a:endCxn id="604" idx="0"/>
          </p:cNvCxnSpPr>
          <p:nvPr/>
        </p:nvCxnSpPr>
        <p:spPr>
          <a:xfrm>
            <a:off x="5932550" y="3255350"/>
            <a:ext cx="2876700" cy="11583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9e11b927b5_0_2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Types of CSS</a:t>
            </a:r>
            <a:endParaRPr/>
          </a:p>
        </p:txBody>
      </p:sp>
      <p:sp>
        <p:nvSpPr>
          <p:cNvPr id="611" name="Google Shape;611;g9e11b927b5_0_23"/>
          <p:cNvSpPr/>
          <p:nvPr/>
        </p:nvSpPr>
        <p:spPr>
          <a:xfrm>
            <a:off x="444050" y="3472600"/>
            <a:ext cx="2629500" cy="1765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Inline CSS</a:t>
            </a:r>
            <a:endParaRPr b="1" i="0" sz="2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12" name="Google Shape;612;g9e11b927b5_0_23"/>
          <p:cNvGraphicFramePr/>
          <p:nvPr/>
        </p:nvGraphicFramePr>
        <p:xfrm>
          <a:off x="4768900" y="246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{475DE706-4D9C-4892-A1B5-FE5E060F1A38}</a:tableStyleId>
              </a:tblPr>
              <a:tblGrid>
                <a:gridCol w="5474900"/>
              </a:tblGrid>
              <a:tr h="87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CSS code inside HTML Tag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CSS code as attribute of HTML tag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Code starts with Style 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Example: 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&lt;p style= “color:red” &gt;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3" name="Google Shape;613;g9e11b927b5_0_23"/>
          <p:cNvCxnSpPr/>
          <p:nvPr/>
        </p:nvCxnSpPr>
        <p:spPr>
          <a:xfrm flipH="1" rot="10800000">
            <a:off x="3095200" y="3093713"/>
            <a:ext cx="1577700" cy="16068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4" name="Google Shape;614;g9e11b927b5_0_23"/>
          <p:cNvCxnSpPr/>
          <p:nvPr/>
        </p:nvCxnSpPr>
        <p:spPr>
          <a:xfrm>
            <a:off x="3158400" y="4741625"/>
            <a:ext cx="1538700" cy="3393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5" name="Google Shape;615;g9e11b927b5_0_23"/>
          <p:cNvCxnSpPr/>
          <p:nvPr/>
        </p:nvCxnSpPr>
        <p:spPr>
          <a:xfrm flipH="1" rot="10800000">
            <a:off x="3095200" y="3966113"/>
            <a:ext cx="1577700" cy="7344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afdc7c83cc_1_1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Types of CSS</a:t>
            </a:r>
            <a:endParaRPr/>
          </a:p>
        </p:txBody>
      </p:sp>
      <p:sp>
        <p:nvSpPr>
          <p:cNvPr id="621" name="Google Shape;621;gafdc7c83cc_1_18"/>
          <p:cNvSpPr/>
          <p:nvPr/>
        </p:nvSpPr>
        <p:spPr>
          <a:xfrm>
            <a:off x="444050" y="3472600"/>
            <a:ext cx="2629500" cy="1765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Internal CSS</a:t>
            </a:r>
            <a:endParaRPr b="1" i="0" sz="2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22" name="Google Shape;622;gafdc7c83cc_1_18"/>
          <p:cNvGraphicFramePr/>
          <p:nvPr/>
        </p:nvGraphicFramePr>
        <p:xfrm>
          <a:off x="4884600" y="20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{475DE706-4D9C-4892-A1B5-FE5E060F1A38}</a:tableStyleId>
              </a:tblPr>
              <a:tblGrid>
                <a:gridCol w="5474900"/>
              </a:tblGrid>
              <a:tr h="87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CSS code inside HTML 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Head Tag</a:t>
                      </a:r>
                      <a:endParaRPr b="1" sz="2600" u="none" cap="none" strike="noStrike">
                        <a:solidFill>
                          <a:srgbClr val="FF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 &lt;style&gt; tag inside Head tag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Example: 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00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&lt;head&gt;</a:t>
                      </a:r>
                      <a:endParaRPr sz="2600" u="none" cap="none" strike="noStrike">
                        <a:solidFill>
                          <a:srgbClr val="00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00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&lt;style&gt;</a:t>
                      </a:r>
                      <a:endParaRPr sz="2600" u="none" cap="none" strike="noStrike">
                        <a:solidFill>
                          <a:srgbClr val="00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00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 { color: red;}</a:t>
                      </a:r>
                      <a:endParaRPr sz="2600" u="none" cap="none" strike="noStrike">
                        <a:solidFill>
                          <a:srgbClr val="00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00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&lt;/style&gt;</a:t>
                      </a:r>
                      <a:endParaRPr sz="2600" u="none" cap="none" strike="noStrike">
                        <a:solidFill>
                          <a:srgbClr val="00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00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&lt;/head&gt;</a:t>
                      </a:r>
                      <a:endParaRPr sz="2600" u="none" cap="none" strike="noStrike">
                        <a:solidFill>
                          <a:srgbClr val="00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23" name="Google Shape;623;gafdc7c83cc_1_18"/>
          <p:cNvCxnSpPr/>
          <p:nvPr/>
        </p:nvCxnSpPr>
        <p:spPr>
          <a:xfrm flipH="1" rot="10800000">
            <a:off x="3095200" y="2545013"/>
            <a:ext cx="1730100" cy="21555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gafdc7c83cc_1_18"/>
          <p:cNvCxnSpPr/>
          <p:nvPr/>
        </p:nvCxnSpPr>
        <p:spPr>
          <a:xfrm>
            <a:off x="3154975" y="4680625"/>
            <a:ext cx="1686900" cy="3594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gafdc7c83cc_1_18"/>
          <p:cNvCxnSpPr/>
          <p:nvPr/>
        </p:nvCxnSpPr>
        <p:spPr>
          <a:xfrm flipH="1" rot="10800000">
            <a:off x="3095200" y="3520013"/>
            <a:ext cx="1730100" cy="11805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afdc7c83cc_1_2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Types of CSS</a:t>
            </a:r>
            <a:endParaRPr/>
          </a:p>
        </p:txBody>
      </p:sp>
      <p:sp>
        <p:nvSpPr>
          <p:cNvPr id="631" name="Google Shape;631;gafdc7c83cc_1_27"/>
          <p:cNvSpPr/>
          <p:nvPr/>
        </p:nvSpPr>
        <p:spPr>
          <a:xfrm>
            <a:off x="465700" y="3568100"/>
            <a:ext cx="2629500" cy="1765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External CSS</a:t>
            </a:r>
            <a:endParaRPr b="1" i="0" sz="2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32" name="Google Shape;632;gafdc7c83cc_1_27"/>
          <p:cNvGraphicFramePr/>
          <p:nvPr/>
        </p:nvGraphicFramePr>
        <p:xfrm>
          <a:off x="4884600" y="20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{475DE706-4D9C-4892-A1B5-FE5E060F1A38}</a:tableStyleId>
              </a:tblPr>
              <a:tblGrid>
                <a:gridCol w="5474900"/>
              </a:tblGrid>
              <a:tr h="124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 Files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1&gt; .html  2&gt; .css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css code in .css file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Give link of .css file inside .html file, under head tag, in &lt;link&gt; tag</a:t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33" name="Google Shape;633;gafdc7c83cc_1_27"/>
          <p:cNvCxnSpPr/>
          <p:nvPr/>
        </p:nvCxnSpPr>
        <p:spPr>
          <a:xfrm flipH="1" rot="10800000">
            <a:off x="3095200" y="2545013"/>
            <a:ext cx="1730100" cy="21555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4" name="Google Shape;634;gafdc7c83cc_1_27"/>
          <p:cNvCxnSpPr/>
          <p:nvPr/>
        </p:nvCxnSpPr>
        <p:spPr>
          <a:xfrm>
            <a:off x="3073550" y="4700525"/>
            <a:ext cx="1752000" cy="2571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5" name="Google Shape;635;gafdc7c83cc_1_27"/>
          <p:cNvCxnSpPr/>
          <p:nvPr/>
        </p:nvCxnSpPr>
        <p:spPr>
          <a:xfrm flipH="1" rot="10800000">
            <a:off x="3095200" y="3833813"/>
            <a:ext cx="1680600" cy="866700"/>
          </a:xfrm>
          <a:prstGeom prst="straightConnector1">
            <a:avLst/>
          </a:prstGeom>
          <a:noFill/>
          <a:ln cap="flat" cmpd="sng" w="38100">
            <a:solidFill>
              <a:srgbClr val="00C6B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b474e04cd_0_2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External CSS Example</a:t>
            </a:r>
            <a:endParaRPr/>
          </a:p>
        </p:txBody>
      </p:sp>
      <p:sp>
        <p:nvSpPr>
          <p:cNvPr id="641" name="Google Shape;641;g9b474e04cd_0_24"/>
          <p:cNvSpPr/>
          <p:nvPr/>
        </p:nvSpPr>
        <p:spPr>
          <a:xfrm>
            <a:off x="2910375" y="2144625"/>
            <a:ext cx="18966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a1.html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2" name="Google Shape;642;g9b474e04cd_0_24"/>
          <p:cNvSpPr/>
          <p:nvPr/>
        </p:nvSpPr>
        <p:spPr>
          <a:xfrm>
            <a:off x="8146325" y="2087150"/>
            <a:ext cx="1896600" cy="107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a2.css</a:t>
            </a:r>
            <a:endParaRPr b="1" i="0" sz="3000" u="none" cap="none" strike="noStrike"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3" name="Google Shape;643;g9b474e04cd_0_24"/>
          <p:cNvSpPr/>
          <p:nvPr/>
        </p:nvSpPr>
        <p:spPr>
          <a:xfrm>
            <a:off x="0" y="3652125"/>
            <a:ext cx="7419900" cy="310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&lt;html&gt; </a:t>
            </a:r>
            <a:endParaRPr b="0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&lt;head&gt;</a:t>
            </a:r>
            <a:endParaRPr b="0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&lt;link rel="stylesheet" type="text/css" href="</a:t>
            </a:r>
            <a:r>
              <a:rPr b="1" i="0" lang="en-US" sz="2400" u="none" cap="none" strike="noStrik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a2.css</a:t>
            </a:r>
            <a:r>
              <a:rPr b="0" i="0" lang="en-US" sz="24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"&gt;</a:t>
            </a:r>
            <a:endParaRPr b="0" i="0" sz="2400" u="none" cap="none" strike="noStrike">
              <a:solidFill>
                <a:srgbClr val="00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&lt;/head&gt;</a:t>
            </a:r>
            <a:endParaRPr b="0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&lt;body&gt;</a:t>
            </a:r>
            <a:endParaRPr b="0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9900"/>
                </a:solidFill>
                <a:latin typeface="Cambria"/>
                <a:ea typeface="Cambria"/>
                <a:cs typeface="Cambria"/>
                <a:sym typeface="Cambria"/>
              </a:rPr>
              <a:t>&lt;p&gt; Hello Good Morning &lt;/p&gt;</a:t>
            </a:r>
            <a:endParaRPr b="0" i="0" sz="2400" u="none" cap="none" strike="noStrike">
              <a:solidFill>
                <a:srgbClr val="FF99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&lt;/body&gt; &lt;/html&gt;</a:t>
            </a:r>
            <a:endParaRPr b="0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44" name="Google Shape;644;g9b474e04cd_0_24"/>
          <p:cNvCxnSpPr>
            <a:endCxn id="645" idx="0"/>
          </p:cNvCxnSpPr>
          <p:nvPr/>
        </p:nvCxnSpPr>
        <p:spPr>
          <a:xfrm>
            <a:off x="9179850" y="3161025"/>
            <a:ext cx="717900" cy="491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g9b474e04cd_0_24"/>
          <p:cNvCxnSpPr>
            <a:stCxn id="641" idx="2"/>
          </p:cNvCxnSpPr>
          <p:nvPr/>
        </p:nvCxnSpPr>
        <p:spPr>
          <a:xfrm flipH="1">
            <a:off x="3536475" y="3218625"/>
            <a:ext cx="322200" cy="433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5" name="Google Shape;645;g9b474e04cd_0_24"/>
          <p:cNvSpPr/>
          <p:nvPr/>
        </p:nvSpPr>
        <p:spPr>
          <a:xfrm>
            <a:off x="7718850" y="3652125"/>
            <a:ext cx="4357800" cy="208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600" u="none" cap="none" strike="noStrike">
                <a:solidFill>
                  <a:srgbClr val="00FFFF"/>
                </a:solidFill>
                <a:latin typeface="Cambria"/>
                <a:ea typeface="Cambria"/>
                <a:cs typeface="Cambria"/>
                <a:sym typeface="Cambria"/>
              </a:rPr>
              <a:t>p { color: red;}</a:t>
            </a:r>
            <a:endParaRPr b="0" i="0" sz="2600" u="none" cap="none" strike="noStrike">
              <a:solidFill>
                <a:srgbClr val="00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afdc7c83cc_1_4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When to use which Types of CSS</a:t>
            </a:r>
            <a:endParaRPr/>
          </a:p>
        </p:txBody>
      </p:sp>
      <p:sp>
        <p:nvSpPr>
          <p:cNvPr id="652" name="Google Shape;652;gafdc7c83cc_1_45"/>
          <p:cNvSpPr/>
          <p:nvPr/>
        </p:nvSpPr>
        <p:spPr>
          <a:xfrm>
            <a:off x="4088075" y="1933475"/>
            <a:ext cx="3767700" cy="8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49C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Types of CSS</a:t>
            </a:r>
            <a:endParaRPr b="1" i="0" sz="3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3" name="Google Shape;653;gafdc7c83cc_1_45"/>
          <p:cNvSpPr/>
          <p:nvPr/>
        </p:nvSpPr>
        <p:spPr>
          <a:xfrm>
            <a:off x="2350825" y="3741032"/>
            <a:ext cx="1896600" cy="8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Inline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4" name="Google Shape;654;gafdc7c83cc_1_45"/>
          <p:cNvSpPr/>
          <p:nvPr/>
        </p:nvSpPr>
        <p:spPr>
          <a:xfrm>
            <a:off x="5023625" y="3789419"/>
            <a:ext cx="1896600" cy="8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Internal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55" name="Google Shape;655;gafdc7c83cc_1_45"/>
          <p:cNvCxnSpPr>
            <a:stCxn id="652" idx="2"/>
          </p:cNvCxnSpPr>
          <p:nvPr/>
        </p:nvCxnSpPr>
        <p:spPr>
          <a:xfrm flipH="1">
            <a:off x="3260525" y="2802875"/>
            <a:ext cx="2711400" cy="9378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6" name="Google Shape;656;gafdc7c83cc_1_45"/>
          <p:cNvCxnSpPr>
            <a:stCxn id="652" idx="2"/>
            <a:endCxn id="654" idx="0"/>
          </p:cNvCxnSpPr>
          <p:nvPr/>
        </p:nvCxnSpPr>
        <p:spPr>
          <a:xfrm>
            <a:off x="5971925" y="2802875"/>
            <a:ext cx="0" cy="9864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7" name="Google Shape;657;gafdc7c83cc_1_45"/>
          <p:cNvSpPr/>
          <p:nvPr/>
        </p:nvSpPr>
        <p:spPr>
          <a:xfrm>
            <a:off x="7855775" y="3740991"/>
            <a:ext cx="1985400" cy="86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External</a:t>
            </a:r>
            <a:endParaRPr b="1" i="0" sz="3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58" name="Google Shape;658;gafdc7c83cc_1_45"/>
          <p:cNvCxnSpPr>
            <a:stCxn id="652" idx="2"/>
            <a:endCxn id="657" idx="0"/>
          </p:cNvCxnSpPr>
          <p:nvPr/>
        </p:nvCxnSpPr>
        <p:spPr>
          <a:xfrm>
            <a:off x="5971925" y="2802875"/>
            <a:ext cx="2876700" cy="9381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9" name="Google Shape;659;gafdc7c83cc_1_45"/>
          <p:cNvSpPr/>
          <p:nvPr/>
        </p:nvSpPr>
        <p:spPr>
          <a:xfrm>
            <a:off x="313975" y="5624350"/>
            <a:ext cx="3920700" cy="110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When you want to use css property for only one tag in html</a:t>
            </a:r>
            <a:endParaRPr b="0" i="0" sz="23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60" name="Google Shape;660;gafdc7c83cc_1_45"/>
          <p:cNvCxnSpPr/>
          <p:nvPr/>
        </p:nvCxnSpPr>
        <p:spPr>
          <a:xfrm flipH="1">
            <a:off x="1189675" y="4610550"/>
            <a:ext cx="2154000" cy="1013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gafdc7c83cc_1_45"/>
          <p:cNvSpPr/>
          <p:nvPr/>
        </p:nvSpPr>
        <p:spPr>
          <a:xfrm>
            <a:off x="4412250" y="5645125"/>
            <a:ext cx="4015800" cy="110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When you want to use css property for more than one tag and you have only one html file.</a:t>
            </a:r>
            <a:endParaRPr b="0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62" name="Google Shape;662;gafdc7c83cc_1_45"/>
          <p:cNvCxnSpPr/>
          <p:nvPr/>
        </p:nvCxnSpPr>
        <p:spPr>
          <a:xfrm>
            <a:off x="5971925" y="4648500"/>
            <a:ext cx="0" cy="93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3" name="Google Shape;663;gafdc7c83cc_1_45"/>
          <p:cNvSpPr/>
          <p:nvPr/>
        </p:nvSpPr>
        <p:spPr>
          <a:xfrm>
            <a:off x="8605625" y="5420300"/>
            <a:ext cx="3586500" cy="130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When your website is having multiple html files and you want same style to be applied for every html page</a:t>
            </a:r>
            <a:endParaRPr b="0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664" name="Google Shape;664;gafdc7c83cc_1_45"/>
          <p:cNvCxnSpPr>
            <a:stCxn id="657" idx="2"/>
            <a:endCxn id="663" idx="0"/>
          </p:cNvCxnSpPr>
          <p:nvPr/>
        </p:nvCxnSpPr>
        <p:spPr>
          <a:xfrm>
            <a:off x="8848475" y="4610391"/>
            <a:ext cx="1550400" cy="8100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afdc7c83cc_1_8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</a:t>
            </a:r>
            <a:endParaRPr/>
          </a:p>
        </p:txBody>
      </p:sp>
      <p:sp>
        <p:nvSpPr>
          <p:cNvPr id="670" name="Google Shape;670;gafdc7c83cc_1_83"/>
          <p:cNvSpPr txBox="1"/>
          <p:nvPr>
            <p:ph idx="1" type="body"/>
          </p:nvPr>
        </p:nvSpPr>
        <p:spPr>
          <a:xfrm>
            <a:off x="744650" y="2278175"/>
            <a:ext cx="10554600" cy="4224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Color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background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Border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Text 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Font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Margin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Padding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❏"/>
            </a:pPr>
            <a:r>
              <a:rPr lang="en-US" sz="2900"/>
              <a:t>CSS Table</a:t>
            </a:r>
            <a:endParaRPr sz="2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afdc7c83cc_1_8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Color</a:t>
            </a:r>
            <a:endParaRPr/>
          </a:p>
        </p:txBody>
      </p:sp>
      <p:sp>
        <p:nvSpPr>
          <p:cNvPr id="676" name="Google Shape;676;gafdc7c83cc_1_88"/>
          <p:cNvSpPr txBox="1"/>
          <p:nvPr>
            <p:ph idx="1" type="body"/>
          </p:nvPr>
        </p:nvSpPr>
        <p:spPr>
          <a:xfrm>
            <a:off x="818712" y="26188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4500"/>
              <a:buFont typeface="PT Sans Narrow"/>
              <a:buChar char="❏"/>
            </a:pPr>
            <a:r>
              <a:rPr lang="en-US" sz="4500">
                <a:latin typeface="PT Sans Narrow"/>
                <a:ea typeface="PT Sans Narrow"/>
                <a:cs typeface="PT Sans Narrow"/>
                <a:sym typeface="PT Sans Narrow"/>
              </a:rPr>
              <a:t>color: value</a:t>
            </a:r>
            <a:endParaRPr sz="45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PT Sans Narrow"/>
              <a:buChar char="❏"/>
            </a:pPr>
            <a:r>
              <a:rPr lang="en-US" sz="4500">
                <a:latin typeface="PT Sans Narrow"/>
                <a:ea typeface="PT Sans Narrow"/>
                <a:cs typeface="PT Sans Narrow"/>
                <a:sym typeface="PT Sans Narrow"/>
              </a:rPr>
              <a:t>Example:</a:t>
            </a:r>
            <a:endParaRPr sz="45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500"/>
              <a:buFont typeface="PT Sans Narrow"/>
              <a:buChar char="❏"/>
            </a:pPr>
            <a:r>
              <a:rPr lang="en-US" sz="4500">
                <a:latin typeface="PT Sans Narrow"/>
                <a:ea typeface="PT Sans Narrow"/>
                <a:cs typeface="PT Sans Narrow"/>
                <a:sym typeface="PT Sans Narrow"/>
              </a:rPr>
              <a:t>color : blue;</a:t>
            </a:r>
            <a:endParaRPr sz="45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afdc7c83cc_1_9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</a:t>
            </a:r>
            <a:r>
              <a:rPr lang="en-US" sz="3700"/>
              <a:t>background</a:t>
            </a:r>
            <a:endParaRPr sz="4800"/>
          </a:p>
        </p:txBody>
      </p:sp>
      <p:sp>
        <p:nvSpPr>
          <p:cNvPr id="682" name="Google Shape;682;gafdc7c83cc_1_93"/>
          <p:cNvSpPr txBox="1"/>
          <p:nvPr>
            <p:ph idx="1" type="body"/>
          </p:nvPr>
        </p:nvSpPr>
        <p:spPr>
          <a:xfrm>
            <a:off x="630650" y="2257300"/>
            <a:ext cx="10554600" cy="4494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900"/>
              <a:buFont typeface="PT Sans Narrow"/>
              <a:buChar char="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background-color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PT Sans Narrow"/>
              <a:buChar char="○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Example: 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PT Sans Narrow"/>
              <a:buChar char="■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h1 {  background-color: green; }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PT Sans Narrow"/>
              <a:buChar char="●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background-image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PT Sans Narrow"/>
              <a:buChar char="○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Example: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900"/>
              <a:buFont typeface="PT Sans Narrow"/>
              <a:buChar char="■"/>
            </a:pPr>
            <a:r>
              <a:rPr lang="en-US" sz="2900">
                <a:latin typeface="PT Sans Narrow"/>
                <a:ea typeface="PT Sans Narrow"/>
                <a:cs typeface="PT Sans Narrow"/>
                <a:sym typeface="PT Sans Narrow"/>
              </a:rPr>
              <a:t>body { background-image: url("paper.gif"); }</a:t>
            </a:r>
            <a:endParaRPr sz="29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afdc7c83cc_1_9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border</a:t>
            </a:r>
            <a:endParaRPr/>
          </a:p>
        </p:txBody>
      </p:sp>
      <p:sp>
        <p:nvSpPr>
          <p:cNvPr id="688" name="Google Shape;688;gafdc7c83cc_1_98"/>
          <p:cNvSpPr txBox="1"/>
          <p:nvPr>
            <p:ph idx="1" type="body"/>
          </p:nvPr>
        </p:nvSpPr>
        <p:spPr>
          <a:xfrm>
            <a:off x="700200" y="1955200"/>
            <a:ext cx="10554600" cy="4962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2900"/>
              <a:buFont typeface="PT Sans Narrow"/>
              <a:buChar char="●"/>
            </a:pPr>
            <a:r>
              <a:rPr lang="en-US" sz="2900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border-style (dotted,dashed,solid,double etc)</a:t>
            </a:r>
            <a:endParaRPr sz="2900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900"/>
              <a:buFont typeface="PT Sans Narrow"/>
              <a:buChar char="○"/>
            </a:pPr>
            <a:r>
              <a:rPr lang="en-US" sz="2900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 P {border-style: dotted;}</a:t>
            </a:r>
            <a:endParaRPr sz="2900">
              <a:solidFill>
                <a:srgbClr val="00FFFF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900"/>
              <a:buFont typeface="PT Sans Narrow"/>
              <a:buChar char="●"/>
            </a:pPr>
            <a:r>
              <a:rPr lang="en-US" sz="29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border-width (value in px)</a:t>
            </a:r>
            <a:endParaRPr sz="2900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900"/>
              <a:buFont typeface="PT Sans Narrow"/>
              <a:buChar char="○"/>
            </a:pPr>
            <a:r>
              <a:rPr lang="en-US" sz="29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 P {border-width: 5px;}</a:t>
            </a:r>
            <a:endParaRPr sz="2900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5A6BD"/>
              </a:buClr>
              <a:buSzPts val="2900"/>
              <a:buFont typeface="PT Sans Narrow"/>
              <a:buChar char="●"/>
            </a:pPr>
            <a:r>
              <a:rPr lang="en-US" sz="2900">
                <a:solidFill>
                  <a:srgbClr val="D5A6B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border-color (red, blue, green etc)</a:t>
            </a:r>
            <a:endParaRPr sz="2900">
              <a:solidFill>
                <a:srgbClr val="D5A6B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5A6BD"/>
              </a:buClr>
              <a:buSzPts val="2900"/>
              <a:buFont typeface="PT Sans Narrow"/>
              <a:buChar char="○"/>
            </a:pPr>
            <a:r>
              <a:rPr lang="en-US" sz="2900">
                <a:solidFill>
                  <a:srgbClr val="D5A6B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 P {border-color: red;}</a:t>
            </a:r>
            <a:endParaRPr sz="2900">
              <a:solidFill>
                <a:srgbClr val="D5A6B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900"/>
              <a:buFont typeface="PT Sans Narrow"/>
              <a:buChar char="●"/>
            </a:pPr>
            <a:r>
              <a:rPr lang="en-US" sz="2900">
                <a:solidFill>
                  <a:srgbClr val="FCE5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border-radius (value in px)</a:t>
            </a:r>
            <a:endParaRPr sz="2900">
              <a:solidFill>
                <a:srgbClr val="FCE5C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900"/>
              <a:buFont typeface="PT Sans Narrow"/>
              <a:buChar char="○"/>
            </a:pPr>
            <a:r>
              <a:rPr lang="en-US" sz="2900">
                <a:solidFill>
                  <a:srgbClr val="FCE5CD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Example: P{border-radius: 12px;}</a:t>
            </a:r>
            <a:endParaRPr sz="2900">
              <a:solidFill>
                <a:srgbClr val="FCE5CD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afdc7c83cc_1_10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 -Text</a:t>
            </a:r>
            <a:endParaRPr/>
          </a:p>
        </p:txBody>
      </p:sp>
      <p:sp>
        <p:nvSpPr>
          <p:cNvPr id="694" name="Google Shape;694;gafdc7c83cc_1_108"/>
          <p:cNvSpPr txBox="1"/>
          <p:nvPr>
            <p:ph idx="1" type="body"/>
          </p:nvPr>
        </p:nvSpPr>
        <p:spPr>
          <a:xfrm>
            <a:off x="744625" y="2485574"/>
            <a:ext cx="10554600" cy="407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3100"/>
              <a:buFont typeface="Cambria"/>
              <a:buChar char="❏"/>
            </a:pPr>
            <a:r>
              <a:rPr lang="en-US" sz="3100">
                <a:latin typeface="Cambria"/>
                <a:ea typeface="Cambria"/>
                <a:cs typeface="Cambria"/>
                <a:sym typeface="Cambria"/>
              </a:rPr>
              <a:t>color</a:t>
            </a:r>
            <a:endParaRPr sz="3100">
              <a:latin typeface="Cambria"/>
              <a:ea typeface="Cambria"/>
              <a:cs typeface="Cambria"/>
              <a:sym typeface="Cambri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mbria"/>
              <a:buChar char="❏"/>
            </a:pPr>
            <a:r>
              <a:rPr lang="en-US" sz="3100">
                <a:latin typeface="Cambria"/>
                <a:ea typeface="Cambria"/>
                <a:cs typeface="Cambria"/>
                <a:sym typeface="Cambria"/>
              </a:rPr>
              <a:t>background-color</a:t>
            </a:r>
            <a:endParaRPr sz="3100">
              <a:latin typeface="Cambria"/>
              <a:ea typeface="Cambria"/>
              <a:cs typeface="Cambria"/>
              <a:sym typeface="Cambri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mbria"/>
              <a:buChar char="❏"/>
            </a:pPr>
            <a:r>
              <a:rPr lang="en-US" sz="3100">
                <a:latin typeface="Cambria"/>
                <a:ea typeface="Cambria"/>
                <a:cs typeface="Cambria"/>
                <a:sym typeface="Cambria"/>
              </a:rPr>
              <a:t>text-alignment (left, right, center, justify)</a:t>
            </a:r>
            <a:endParaRPr sz="3100">
              <a:latin typeface="Cambria"/>
              <a:ea typeface="Cambria"/>
              <a:cs typeface="Cambria"/>
              <a:sym typeface="Cambri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mbria"/>
              <a:buChar char="❏"/>
            </a:pPr>
            <a:r>
              <a:rPr lang="en-US" sz="3100">
                <a:latin typeface="Cambria"/>
                <a:ea typeface="Cambria"/>
                <a:cs typeface="Cambria"/>
                <a:sym typeface="Cambria"/>
              </a:rPr>
              <a:t>text-decoration (overline, underline, linethrough)</a:t>
            </a:r>
            <a:endParaRPr sz="3100">
              <a:latin typeface="Cambria"/>
              <a:ea typeface="Cambria"/>
              <a:cs typeface="Cambria"/>
              <a:sym typeface="Cambria"/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100"/>
              <a:buFont typeface="Cambria"/>
              <a:buChar char="❏"/>
            </a:pPr>
            <a:r>
              <a:rPr lang="en-US" sz="3100">
                <a:latin typeface="Cambria"/>
                <a:ea typeface="Cambria"/>
                <a:cs typeface="Cambria"/>
                <a:sym typeface="Cambria"/>
              </a:rPr>
              <a:t>text-transform (uppercase, lowercase, capitalize)</a:t>
            </a:r>
            <a:endParaRPr sz="3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fdc7c83cc_1_11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Font</a:t>
            </a:r>
            <a:endParaRPr/>
          </a:p>
        </p:txBody>
      </p:sp>
      <p:sp>
        <p:nvSpPr>
          <p:cNvPr id="700" name="Google Shape;700;gafdc7c83cc_1_116"/>
          <p:cNvSpPr txBox="1"/>
          <p:nvPr>
            <p:ph idx="1" type="body"/>
          </p:nvPr>
        </p:nvSpPr>
        <p:spPr>
          <a:xfrm>
            <a:off x="818700" y="2278198"/>
            <a:ext cx="10554600" cy="415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3100"/>
              <a:buChar char="❏"/>
            </a:pPr>
            <a:r>
              <a:rPr lang="en-US" sz="3100"/>
              <a:t>Font-family</a:t>
            </a:r>
            <a:endParaRPr sz="3100"/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Char char="❏"/>
            </a:pPr>
            <a:r>
              <a:rPr lang="en-US" sz="3100"/>
              <a:t>Font-Style( normal, italic)</a:t>
            </a:r>
            <a:endParaRPr sz="3100"/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Char char="❏"/>
            </a:pPr>
            <a:r>
              <a:rPr lang="en-US" sz="3100"/>
              <a:t>font-size( in px)</a:t>
            </a:r>
            <a:endParaRPr sz="3100"/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100"/>
              <a:buChar char="❏"/>
            </a:pPr>
            <a:r>
              <a:rPr lang="en-US" sz="3100"/>
              <a:t>font-weight(normal,bold)</a:t>
            </a:r>
            <a:endParaRPr sz="3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afdc7c83cc_1_12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Margin</a:t>
            </a:r>
            <a:endParaRPr/>
          </a:p>
        </p:txBody>
      </p:sp>
      <p:sp>
        <p:nvSpPr>
          <p:cNvPr id="706" name="Google Shape;706;gafdc7c83cc_1_121"/>
          <p:cNvSpPr txBox="1"/>
          <p:nvPr>
            <p:ph idx="1" type="body"/>
          </p:nvPr>
        </p:nvSpPr>
        <p:spPr>
          <a:xfrm>
            <a:off x="704962" y="2895162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3400"/>
              <a:buChar char="❏"/>
            </a:pPr>
            <a:r>
              <a:rPr lang="en-US" sz="3400"/>
              <a:t>margin-top</a:t>
            </a:r>
            <a:endParaRPr sz="3400"/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00"/>
              <a:buChar char="❏"/>
            </a:pPr>
            <a:r>
              <a:rPr lang="en-US" sz="3400"/>
              <a:t>margin-right</a:t>
            </a:r>
            <a:endParaRPr sz="3400"/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00"/>
              <a:buChar char="❏"/>
            </a:pPr>
            <a:r>
              <a:rPr lang="en-US" sz="3400"/>
              <a:t>margin-bottom</a:t>
            </a:r>
            <a:endParaRPr sz="3400"/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00"/>
              <a:buChar char="❏"/>
            </a:pPr>
            <a:r>
              <a:rPr lang="en-US" sz="3400"/>
              <a:t>margin-left</a:t>
            </a:r>
            <a:endParaRPr sz="3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afdc7c83cc_1_12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Padding</a:t>
            </a:r>
            <a:endParaRPr/>
          </a:p>
        </p:txBody>
      </p:sp>
      <p:sp>
        <p:nvSpPr>
          <p:cNvPr id="712" name="Google Shape;712;gafdc7c83cc_1_126"/>
          <p:cNvSpPr txBox="1"/>
          <p:nvPr>
            <p:ph idx="1" type="body"/>
          </p:nvPr>
        </p:nvSpPr>
        <p:spPr>
          <a:xfrm>
            <a:off x="818712" y="26188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3300"/>
              <a:buChar char="❏"/>
            </a:pPr>
            <a:r>
              <a:rPr lang="en-US" sz="3300"/>
              <a:t>padding-top</a:t>
            </a:r>
            <a:endParaRPr sz="3300"/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300"/>
              <a:buChar char="❏"/>
            </a:pPr>
            <a:r>
              <a:rPr lang="en-US" sz="3300"/>
              <a:t>padding-right</a:t>
            </a:r>
            <a:endParaRPr sz="3300"/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300"/>
              <a:buChar char="❏"/>
            </a:pPr>
            <a:r>
              <a:rPr lang="en-US" sz="3300"/>
              <a:t>padding-bottom</a:t>
            </a:r>
            <a:endParaRPr sz="3300"/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300"/>
              <a:buChar char="❏"/>
            </a:pPr>
            <a:r>
              <a:rPr lang="en-US" sz="3300"/>
              <a:t>padding-left</a:t>
            </a:r>
            <a:endParaRPr sz="3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b81965fffb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Box Model</a:t>
            </a:r>
            <a:endParaRPr/>
          </a:p>
        </p:txBody>
      </p:sp>
      <p:pic>
        <p:nvPicPr>
          <p:cNvPr id="718" name="Google Shape;718;gb81965fff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40725"/>
            <a:ext cx="12191999" cy="50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afdc7c83cc_1_13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CSS Properties- Table</a:t>
            </a:r>
            <a:endParaRPr/>
          </a:p>
        </p:txBody>
      </p:sp>
      <p:sp>
        <p:nvSpPr>
          <p:cNvPr id="724" name="Google Shape;724;gafdc7c83cc_1_132"/>
          <p:cNvSpPr txBox="1"/>
          <p:nvPr>
            <p:ph idx="1" type="body"/>
          </p:nvPr>
        </p:nvSpPr>
        <p:spPr>
          <a:xfrm>
            <a:off x="818700" y="2292998"/>
            <a:ext cx="10554600" cy="426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0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3500"/>
              <a:buChar char="❏"/>
            </a:pPr>
            <a:r>
              <a:rPr lang="en-US" sz="3500"/>
              <a:t>tr:hover {background-color: grey;}</a:t>
            </a:r>
            <a:endParaRPr sz="3500"/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❏"/>
            </a:pPr>
            <a:r>
              <a:rPr lang="en-US" sz="3500"/>
              <a:t>tr:nth-child(even) {background-color: green;}</a:t>
            </a:r>
            <a:endParaRPr sz="3500"/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❏"/>
            </a:pPr>
            <a:r>
              <a:rPr lang="en-US" sz="3500"/>
              <a:t>Size</a:t>
            </a:r>
            <a:endParaRPr sz="3500"/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❏"/>
            </a:pPr>
            <a:r>
              <a:rPr lang="en-US" sz="3500"/>
              <a:t>Border</a:t>
            </a:r>
            <a:endParaRPr sz="3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2020-07-13T06:46:27Z</dcterms:created>
  <dc:creator>Windows User</dc:creator>
</cp:coreProperties>
</file>