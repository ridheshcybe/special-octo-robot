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257" r:id="rId3"/>
    <p:sldId id="258" r:id="rId4"/>
    <p:sldId id="259" r:id="rId5"/>
    <p:sldId id="261" r:id="rId6"/>
    <p:sldId id="262" r:id="rId7"/>
    <p:sldId id="260" r:id="rId8"/>
    <p:sldId id="263" r:id="rId9"/>
    <p:sldId id="264" r:id="rId10"/>
    <p:sldId id="265" r:id="rId11"/>
    <p:sldId id="274" r:id="rId12"/>
    <p:sldId id="275" r:id="rId13"/>
    <p:sldId id="276" r:id="rId14"/>
    <p:sldId id="266" r:id="rId15"/>
    <p:sldId id="267" r:id="rId16"/>
    <p:sldId id="268" r:id="rId17"/>
    <p:sldId id="269" r:id="rId18"/>
    <p:sldId id="270" r:id="rId19"/>
    <p:sldId id="272" r:id="rId20"/>
    <p:sldId id="271" r:id="rId21"/>
    <p:sldId id="277" r:id="rId22"/>
    <p:sldId id="278" r:id="rId23"/>
    <p:sldId id="279" r:id="rId24"/>
    <p:sldId id="280" r:id="rId25"/>
    <p:sldId id="281" r:id="rId26"/>
    <p:sldId id="282" r:id="rId27"/>
    <p:sldId id="283" r:id="rId28"/>
    <p:sldId id="284" r:id="rId29"/>
    <p:sldId id="285" r:id="rId30"/>
    <p:sldId id="287" r:id="rId31"/>
    <p:sldId id="286" r:id="rId32"/>
    <p:sldId id="298" r:id="rId33"/>
    <p:sldId id="288" r:id="rId34"/>
    <p:sldId id="289" r:id="rId35"/>
    <p:sldId id="290" r:id="rId36"/>
    <p:sldId id="291" r:id="rId37"/>
    <p:sldId id="292" r:id="rId38"/>
    <p:sldId id="293" r:id="rId39"/>
    <p:sldId id="294" r:id="rId40"/>
    <p:sldId id="295" r:id="rId41"/>
    <p:sldId id="296" r:id="rId42"/>
    <p:sldId id="297" r:id="rId43"/>
    <p:sldId id="309" r:id="rId44"/>
    <p:sldId id="310" r:id="rId45"/>
    <p:sldId id="311" r:id="rId46"/>
    <p:sldId id="312" r:id="rId47"/>
    <p:sldId id="334" r:id="rId48"/>
    <p:sldId id="301" r:id="rId49"/>
    <p:sldId id="313" r:id="rId50"/>
    <p:sldId id="303" r:id="rId51"/>
    <p:sldId id="314" r:id="rId52"/>
    <p:sldId id="335" r:id="rId53"/>
    <p:sldId id="306" r:id="rId54"/>
    <p:sldId id="315" r:id="rId55"/>
    <p:sldId id="316" r:id="rId56"/>
    <p:sldId id="317" r:id="rId57"/>
    <p:sldId id="307" r:id="rId58"/>
    <p:sldId id="336" r:id="rId59"/>
    <p:sldId id="319" r:id="rId60"/>
    <p:sldId id="323" r:id="rId61"/>
    <p:sldId id="324" r:id="rId62"/>
    <p:sldId id="299" r:id="rId63"/>
    <p:sldId id="338" r:id="rId64"/>
    <p:sldId id="300" r:id="rId65"/>
    <p:sldId id="339" r:id="rId66"/>
    <p:sldId id="341" r:id="rId67"/>
    <p:sldId id="340" r:id="rId68"/>
    <p:sldId id="325" r:id="rId69"/>
    <p:sldId id="302" r:id="rId70"/>
    <p:sldId id="326" r:id="rId71"/>
    <p:sldId id="304" r:id="rId72"/>
    <p:sldId id="305" r:id="rId73"/>
    <p:sldId id="327" r:id="rId74"/>
    <p:sldId id="328" r:id="rId75"/>
    <p:sldId id="329" r:id="rId76"/>
    <p:sldId id="330" r:id="rId77"/>
    <p:sldId id="331" r:id="rId78"/>
    <p:sldId id="337" r:id="rId79"/>
    <p:sldId id="332" r:id="rId80"/>
    <p:sldId id="322"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43ADE-C31E-4227-B699-E708E6437592}" type="datetimeFigureOut">
              <a:rPr lang="en-IN" smtClean="0"/>
              <a:t>19-10-2026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7855D-0383-4B5C-BE63-9E33C1D5634E}" type="slidenum">
              <a:rPr lang="en-IN" smtClean="0"/>
              <a:t>‹#›</a:t>
            </a:fld>
            <a:endParaRPr lang="en-IN"/>
          </a:p>
        </p:txBody>
      </p:sp>
    </p:spTree>
    <p:extLst>
      <p:ext uri="{BB962C8B-B14F-4D97-AF65-F5344CB8AC3E}">
        <p14:creationId xmlns:p14="http://schemas.microsoft.com/office/powerpoint/2010/main" val="3691566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B97855D-0383-4B5C-BE63-9E33C1D5634E}" type="slidenum">
              <a:rPr lang="en-IN" smtClean="0"/>
              <a:t>20</a:t>
            </a:fld>
            <a:endParaRPr lang="en-IN"/>
          </a:p>
        </p:txBody>
      </p:sp>
    </p:spTree>
    <p:extLst>
      <p:ext uri="{BB962C8B-B14F-4D97-AF65-F5344CB8AC3E}">
        <p14:creationId xmlns:p14="http://schemas.microsoft.com/office/powerpoint/2010/main" val="995791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byte offset tells us how far a particular byte is from the starting point.</a:t>
            </a:r>
          </a:p>
          <a:p>
            <a:r>
              <a:rPr lang="en-IN" dirty="0"/>
              <a:t>For example, if a memory block starts at address 1000, then:</a:t>
            </a:r>
          </a:p>
          <a:p>
            <a:pPr lvl="0"/>
            <a:r>
              <a:rPr lang="en-IN" dirty="0"/>
              <a:t>Byte offset 0 refers to address 1000.</a:t>
            </a:r>
          </a:p>
          <a:p>
            <a:pPr lvl="0"/>
            <a:r>
              <a:rPr lang="en-IN" dirty="0"/>
              <a:t>Byte offset 1 refers to address 1001.</a:t>
            </a:r>
          </a:p>
          <a:p>
            <a:pPr lvl="0"/>
            <a:r>
              <a:rPr lang="en-IN" dirty="0"/>
              <a:t>Byte offset 2 refers to address 1002.</a:t>
            </a:r>
          </a:p>
          <a:p>
            <a:pPr lvl="0"/>
            <a:r>
              <a:rPr lang="en-IN" dirty="0"/>
              <a:t>Byte offset 3 refers to address 1003.</a:t>
            </a:r>
          </a:p>
          <a:p>
            <a:endParaRPr lang="en-IN" dirty="0"/>
          </a:p>
        </p:txBody>
      </p:sp>
      <p:sp>
        <p:nvSpPr>
          <p:cNvPr id="4" name="Slide Number Placeholder 3"/>
          <p:cNvSpPr>
            <a:spLocks noGrp="1"/>
          </p:cNvSpPr>
          <p:nvPr>
            <p:ph type="sldNum" sz="quarter" idx="5"/>
          </p:nvPr>
        </p:nvSpPr>
        <p:spPr/>
        <p:txBody>
          <a:bodyPr/>
          <a:lstStyle/>
          <a:p>
            <a:fld id="{6B97855D-0383-4B5C-BE63-9E33C1D5634E}" type="slidenum">
              <a:rPr lang="en-IN" smtClean="0"/>
              <a:t>46</a:t>
            </a:fld>
            <a:endParaRPr lang="en-IN"/>
          </a:p>
        </p:txBody>
      </p:sp>
    </p:spTree>
    <p:extLst>
      <p:ext uri="{BB962C8B-B14F-4D97-AF65-F5344CB8AC3E}">
        <p14:creationId xmlns:p14="http://schemas.microsoft.com/office/powerpoint/2010/main" val="470078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h4d6c84ea17be0c8e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h4d6c84ea17be0c8e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h4d6c84ea17be0c8e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h4d6c84ea17be0c8e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4855A-CFC3-470C-5DFD-2F5C6BF98D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3CA658-4C90-BD5C-577A-CD89A9840C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95F0EC-8AAF-A7C8-8800-ED816E3F893E}"/>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5" name="Footer Placeholder 4">
            <a:extLst>
              <a:ext uri="{FF2B5EF4-FFF2-40B4-BE49-F238E27FC236}">
                <a16:creationId xmlns:a16="http://schemas.microsoft.com/office/drawing/2014/main" id="{8EA3C3E0-E5BC-CDF2-3211-87FD078841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2EDD01-E3E1-B2C8-E1CE-6E28BEEEF288}"/>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2328016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A4947-8D23-6BBA-42E6-C15D4921D5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46DBA9-8CF8-CF97-B8F0-46D269C8E2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3E2BE1-CF48-5EFF-4247-C71D940879D2}"/>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5" name="Footer Placeholder 4">
            <a:extLst>
              <a:ext uri="{FF2B5EF4-FFF2-40B4-BE49-F238E27FC236}">
                <a16:creationId xmlns:a16="http://schemas.microsoft.com/office/drawing/2014/main" id="{DC0228A3-D23C-0E37-F2E4-B0A7CD4B18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3125C-86AD-BB09-3D88-758732AA90CE}"/>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3166003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35ABD-B254-C348-6566-F6B0FDCB74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CE714A-8547-2AE9-2D4D-6A9CD576DC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8EC54-86FD-9BD5-96D9-DE86039B87D9}"/>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5" name="Footer Placeholder 4">
            <a:extLst>
              <a:ext uri="{FF2B5EF4-FFF2-40B4-BE49-F238E27FC236}">
                <a16:creationId xmlns:a16="http://schemas.microsoft.com/office/drawing/2014/main" id="{5A67063E-C096-728F-B7CE-3FDAD75D4B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D303D3-E0CD-B359-801B-B26A2DE1BF6F}"/>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668070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0CA64-677C-2D4B-6BCA-2B23A7E256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43A43F-C7B7-C99A-2E71-C13796D76D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82E89F-9624-31F5-255E-EA63052566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929D24-E2C8-41BF-7566-3729588230DF}"/>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6" name="Footer Placeholder 5">
            <a:extLst>
              <a:ext uri="{FF2B5EF4-FFF2-40B4-BE49-F238E27FC236}">
                <a16:creationId xmlns:a16="http://schemas.microsoft.com/office/drawing/2014/main" id="{0EC61378-12D8-12C4-0ED7-B44A55BBC3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229633-BF47-B8BC-90BF-6DC85A339CE6}"/>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2376924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8806F-1AB6-575D-7EDA-603C652DF84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344EFD-A2C8-12C3-A0BF-44D3389E8F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61D6D0-B411-420E-9FC1-446B556006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9C94AA5-153C-EBD4-C3DA-05A47CBB66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39C11-8709-C57C-3B68-1D17D7B5FE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8C8160-F008-D9F0-F308-51CB3D4EB92E}"/>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8" name="Footer Placeholder 7">
            <a:extLst>
              <a:ext uri="{FF2B5EF4-FFF2-40B4-BE49-F238E27FC236}">
                <a16:creationId xmlns:a16="http://schemas.microsoft.com/office/drawing/2014/main" id="{40B5B34C-CC71-8803-FC4E-FAD0C317AE8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85D848-8091-DB6D-024D-1DED5AFEEC74}"/>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2309458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F4379-7CA0-1106-8F41-F1B818D0E39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842B2E7-DCDA-0CA4-747A-35558EF39FC3}"/>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4" name="Footer Placeholder 3">
            <a:extLst>
              <a:ext uri="{FF2B5EF4-FFF2-40B4-BE49-F238E27FC236}">
                <a16:creationId xmlns:a16="http://schemas.microsoft.com/office/drawing/2014/main" id="{12C62103-56FD-CAD4-C893-0C0C4866F7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B97902A-B8BF-4120-462A-45005EFBD799}"/>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2865369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C72E9F-17E5-6186-A5B5-CDC14A91C81B}"/>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3" name="Footer Placeholder 2">
            <a:extLst>
              <a:ext uri="{FF2B5EF4-FFF2-40B4-BE49-F238E27FC236}">
                <a16:creationId xmlns:a16="http://schemas.microsoft.com/office/drawing/2014/main" id="{5687CA05-7523-E156-5177-879C8D2994E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582229-B60A-7675-ABCB-6D83BCA6CEA8}"/>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4074327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45A99-D674-5EBB-DBFB-1D1AB00A23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235570-CA22-090E-667F-E3040A9FE5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A250320-ECF4-3778-D2D0-98C7C044A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A69330-0654-B467-C2D7-728AE1E56A59}"/>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6" name="Footer Placeholder 5">
            <a:extLst>
              <a:ext uri="{FF2B5EF4-FFF2-40B4-BE49-F238E27FC236}">
                <a16:creationId xmlns:a16="http://schemas.microsoft.com/office/drawing/2014/main" id="{A35A12A0-5D87-44D4-0BE9-BBDA60717A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603F03-DA0A-E7CE-2553-D5A42550477A}"/>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2055806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7FF37-FB03-468A-6930-80D09EE064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0CDF12-051A-DC6F-1EFE-9EC95F340DE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14D232-C34C-BDD7-CB0E-B61CBC94D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C1C15B-7B21-0674-B102-2BF204260203}"/>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6" name="Footer Placeholder 5">
            <a:extLst>
              <a:ext uri="{FF2B5EF4-FFF2-40B4-BE49-F238E27FC236}">
                <a16:creationId xmlns:a16="http://schemas.microsoft.com/office/drawing/2014/main" id="{75DB5166-7DB0-AA8A-FF4F-CCC8C38B34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8044B7-8BAA-2FC5-42A5-DAB72B486AE1}"/>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254257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E715D-2F49-5C9E-4753-A1034A07E3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2B121C-6FDA-5B62-F761-D94DDB4334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AF9183-1047-71A9-523E-9AAA51136AB2}"/>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5" name="Footer Placeholder 4">
            <a:extLst>
              <a:ext uri="{FF2B5EF4-FFF2-40B4-BE49-F238E27FC236}">
                <a16:creationId xmlns:a16="http://schemas.microsoft.com/office/drawing/2014/main" id="{BD69F37E-DA9C-4B4F-94FF-423D9C1699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69A7F5-5427-B7DA-0F15-F02D29559AF9}"/>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168793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A9170C-2DA2-24A5-0A2D-65F30A6F714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2CB65A-B5B4-0B60-E50C-0E7AB1A697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BA2C76-EB71-90A0-2521-9642CD94F35B}"/>
              </a:ext>
            </a:extLst>
          </p:cNvPr>
          <p:cNvSpPr>
            <a:spLocks noGrp="1"/>
          </p:cNvSpPr>
          <p:nvPr>
            <p:ph type="dt" sz="half" idx="10"/>
          </p:nvPr>
        </p:nvSpPr>
        <p:spPr/>
        <p:txBody>
          <a:bodyPr/>
          <a:lstStyle/>
          <a:p>
            <a:fld id="{D7B827DA-CC0C-4B94-8068-24C0F9FC8BC6}" type="datetimeFigureOut">
              <a:rPr lang="en-IN" smtClean="0"/>
              <a:t>19-10-2026</a:t>
            </a:fld>
            <a:endParaRPr lang="en-IN"/>
          </a:p>
        </p:txBody>
      </p:sp>
      <p:sp>
        <p:nvSpPr>
          <p:cNvPr id="5" name="Footer Placeholder 4">
            <a:extLst>
              <a:ext uri="{FF2B5EF4-FFF2-40B4-BE49-F238E27FC236}">
                <a16:creationId xmlns:a16="http://schemas.microsoft.com/office/drawing/2014/main" id="{AF9E14A3-D208-2E7B-F5DC-711CCED49B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B1609-7CA0-7C0F-F3FB-834A26B3FCA9}"/>
              </a:ext>
            </a:extLst>
          </p:cNvPr>
          <p:cNvSpPr>
            <a:spLocks noGrp="1"/>
          </p:cNvSpPr>
          <p:nvPr>
            <p:ph type="sldNum" sz="quarter" idx="12"/>
          </p:nvPr>
        </p:nvSpPr>
        <p:spPr/>
        <p:txBody>
          <a:bodyPr/>
          <a:lstStyle/>
          <a:p>
            <a:fld id="{6A9B4DD1-1C90-4519-B459-620E76E25036}" type="slidenum">
              <a:rPr lang="en-IN" smtClean="0"/>
              <a:t>‹#›</a:t>
            </a:fld>
            <a:endParaRPr lang="en-IN"/>
          </a:p>
        </p:txBody>
      </p:sp>
    </p:spTree>
    <p:extLst>
      <p:ext uri="{BB962C8B-B14F-4D97-AF65-F5344CB8AC3E}">
        <p14:creationId xmlns:p14="http://schemas.microsoft.com/office/powerpoint/2010/main" val="4083663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7ACE7F-68C3-F44D-89FE-EEA7EBC29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32C54F-D3A4-5303-1894-04A2CB21A0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139A46-578B-F578-A297-BAB3F61C6D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B827DA-CC0C-4B94-8068-24C0F9FC8BC6}" type="datetimeFigureOut">
              <a:rPr lang="en-IN" smtClean="0"/>
              <a:t>19-10-2026</a:t>
            </a:fld>
            <a:endParaRPr lang="en-IN"/>
          </a:p>
        </p:txBody>
      </p:sp>
      <p:sp>
        <p:nvSpPr>
          <p:cNvPr id="5" name="Footer Placeholder 4">
            <a:extLst>
              <a:ext uri="{FF2B5EF4-FFF2-40B4-BE49-F238E27FC236}">
                <a16:creationId xmlns:a16="http://schemas.microsoft.com/office/drawing/2014/main" id="{9878C26C-5B1B-F5E3-1756-AB9A2A436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28AF87-0388-DED8-BDCE-BC468D5E45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9B4DD1-1C90-4519-B459-620E76E25036}" type="slidenum">
              <a:rPr lang="en-IN" smtClean="0"/>
              <a:t>‹#›</a:t>
            </a:fld>
            <a:endParaRPr lang="en-IN"/>
          </a:p>
        </p:txBody>
      </p:sp>
    </p:spTree>
    <p:extLst>
      <p:ext uri="{BB962C8B-B14F-4D97-AF65-F5344CB8AC3E}">
        <p14:creationId xmlns:p14="http://schemas.microsoft.com/office/powerpoint/2010/main" val="42318226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eeksforgeeks.org/computer-organization-architecture/different-classes-of-cpu-registers/"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computer-organization-architecture/cache-memory-in-computer-organization/" TargetMode="External"/><Relationship Id="rId2" Type="http://schemas.openxmlformats.org/officeDocument/2006/relationships/hyperlink" Target="https://www.geeksforgeeks.org/computer-organization-architecture/different-classes-of-cpu-registers/"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operating-systems/memory-management-in-operating-system/" TargetMode="External"/><Relationship Id="rId2" Type="http://schemas.openxmlformats.org/officeDocument/2006/relationships/hyperlink" Target="https://www.geeksforgeeks.org/computer-science-fundamentals/random-access-memory-ram/" TargetMode="External"/><Relationship Id="rId1" Type="http://schemas.openxmlformats.org/officeDocument/2006/relationships/slideLayout" Target="../slideLayouts/slideLayout7.xml"/><Relationship Id="rId4" Type="http://schemas.openxmlformats.org/officeDocument/2006/relationships/hyperlink" Target="https://www.geeksforgeeks.org/computer-organization-architecture/difference-between-sram-and-dram/"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operating-systems/magnetic-disk-memory/" TargetMode="External"/><Relationship Id="rId2" Type="http://schemas.openxmlformats.org/officeDocument/2006/relationships/hyperlink" Target="https://www.geeksforgeeks.org/computer-organization-architecture/difference-between-hard-disk-drive-hdd-and-solid-state-drive-ssd/" TargetMode="External"/><Relationship Id="rId1" Type="http://schemas.openxmlformats.org/officeDocument/2006/relationships/slideLayout" Target="../slideLayouts/slideLayout7.xml"/><Relationship Id="rId4" Type="http://schemas.openxmlformats.org/officeDocument/2006/relationships/hyperlink" Target="https://www.geeksforgeeks.org/computer-organization-architecture/magnetic-tape-memory/"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package" Target="../embeddings/Microsoft_Word_Document.docx"/><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338D-A2D0-5D9B-AC61-F46DFA19DE36}"/>
              </a:ext>
            </a:extLst>
          </p:cNvPr>
          <p:cNvSpPr>
            <a:spLocks noGrp="1"/>
          </p:cNvSpPr>
          <p:nvPr>
            <p:ph type="ctrTitle"/>
          </p:nvPr>
        </p:nvSpPr>
        <p:spPr/>
        <p:txBody>
          <a:bodyPr>
            <a:normAutofit fontScale="90000"/>
          </a:bodyPr>
          <a:lstStyle/>
          <a:p>
            <a:r>
              <a:rPr lang="en-US" b="1" dirty="0">
                <a:solidFill>
                  <a:schemeClr val="accent5">
                    <a:lumMod val="75000"/>
                  </a:schemeClr>
                </a:solidFill>
                <a:latin typeface="Times New Roman" panose="02020603050405020304" pitchFamily="18" charset="0"/>
                <a:cs typeface="Times New Roman" panose="02020603050405020304" pitchFamily="18" charset="0"/>
              </a:rPr>
              <a:t>Module III: Memory Systems &amp; Cache Organization</a:t>
            </a:r>
            <a:endParaRPr lang="en-IN" b="1"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3F90B60-5DDB-A2E4-1763-69FB75DE917F}"/>
              </a:ext>
            </a:extLst>
          </p:cNvPr>
          <p:cNvSpPr>
            <a:spLocks noGrp="1"/>
          </p:cNvSpPr>
          <p:nvPr>
            <p:ph type="subTitle" idx="1"/>
          </p:nvPr>
        </p:nvSpPr>
        <p:spPr>
          <a:xfrm>
            <a:off x="1524000" y="4030561"/>
            <a:ext cx="9144000" cy="1655762"/>
          </a:xfrm>
        </p:spPr>
        <p:txBody>
          <a:bodyPr>
            <a:normAutofit/>
          </a:bodyPr>
          <a:lstStyle/>
          <a:p>
            <a:pPr algn="r"/>
            <a:r>
              <a:rPr lang="en-IN" sz="2800" b="1" dirty="0">
                <a:latin typeface="Times New Roman" panose="02020603050405020304" pitchFamily="18" charset="0"/>
                <a:cs typeface="Times New Roman" panose="02020603050405020304" pitchFamily="18" charset="0"/>
              </a:rPr>
              <a:t>Prepared By- Ashwini Dhumal</a:t>
            </a:r>
          </a:p>
        </p:txBody>
      </p:sp>
    </p:spTree>
    <p:extLst>
      <p:ext uri="{BB962C8B-B14F-4D97-AF65-F5344CB8AC3E}">
        <p14:creationId xmlns:p14="http://schemas.microsoft.com/office/powerpoint/2010/main" val="2345038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CF6F47-999A-78C2-0A2A-D416CA40AD43}"/>
              </a:ext>
            </a:extLst>
          </p:cNvPr>
          <p:cNvSpPr txBox="1"/>
          <p:nvPr/>
        </p:nvSpPr>
        <p:spPr>
          <a:xfrm>
            <a:off x="766916" y="790893"/>
            <a:ext cx="10451690" cy="3782061"/>
          </a:xfrm>
          <a:prstGeom prst="rect">
            <a:avLst/>
          </a:prstGeom>
          <a:noFill/>
        </p:spPr>
        <p:txBody>
          <a:bodyPr wrap="square">
            <a:spAutoFit/>
          </a:bodyPr>
          <a:lstStyle/>
          <a:p>
            <a:pPr algn="just">
              <a:lnSpc>
                <a:spcPct val="150000"/>
              </a:lnSpc>
            </a:pPr>
            <a:r>
              <a:rPr lang="en-IN" b="1" i="0" u="none" strike="noStrike" baseline="0" dirty="0">
                <a:latin typeface="Times New Roman" panose="02020603050405020304" pitchFamily="18" charset="0"/>
                <a:cs typeface="Times New Roman" panose="02020603050405020304" pitchFamily="18" charset="0"/>
              </a:rPr>
              <a:t>Syllabus</a:t>
            </a:r>
            <a:r>
              <a:rPr lang="en-IN" b="0" i="0" u="none" strike="noStrike" baseline="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b="0" i="0" u="none" strike="noStrike" baseline="0" dirty="0">
                <a:latin typeface="Times New Roman" panose="02020603050405020304" pitchFamily="18" charset="0"/>
                <a:cs typeface="Times New Roman" panose="02020603050405020304" pitchFamily="18" charset="0"/>
              </a:rPr>
              <a:t>Memory Hierarchy: Concept </a:t>
            </a:r>
            <a:r>
              <a:rPr lang="en-US" b="0" i="0" u="none" strike="noStrike" baseline="0" dirty="0">
                <a:latin typeface="Times New Roman" panose="02020603050405020304" pitchFamily="18" charset="0"/>
                <a:cs typeface="Times New Roman" panose="02020603050405020304" pitchFamily="18" charset="0"/>
              </a:rPr>
              <a:t>and need for memory hierarchy, Levels of memory. </a:t>
            </a:r>
          </a:p>
          <a:p>
            <a:pPr marL="285750" indent="-285750" algn="just">
              <a:lnSpc>
                <a:spcPct val="150000"/>
              </a:lnSpc>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Memory Performance: Latency, Throughput, Bandwidth. </a:t>
            </a:r>
          </a:p>
          <a:p>
            <a:pPr marL="285750" indent="-285750" algn="just">
              <a:lnSpc>
                <a:spcPct val="150000"/>
              </a:lnSpc>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Memory Technologies: Overview of main memory technologies. </a:t>
            </a:r>
          </a:p>
          <a:p>
            <a:pPr marL="285750" indent="-285750" algn="just">
              <a:lnSpc>
                <a:spcPct val="150000"/>
              </a:lnSpc>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Cache Memory: Purpose of cache memory, Instruction and data caches, Unified cache. </a:t>
            </a:r>
          </a:p>
          <a:p>
            <a:pPr marL="285750" indent="-285750" algn="just">
              <a:lnSpc>
                <a:spcPct val="150000"/>
              </a:lnSpc>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Cache Mapping and Operations: Cache mapping techniques, Cache hit and miss, Write-through and write-back policies.</a:t>
            </a:r>
          </a:p>
          <a:p>
            <a:pPr marL="285750" indent="-285750" algn="just">
              <a:lnSpc>
                <a:spcPct val="150000"/>
              </a:lnSpc>
              <a:buFont typeface="Arial" panose="020B0604020202020204" pitchFamily="34" charset="0"/>
              <a:buChar char="•"/>
            </a:pPr>
            <a:r>
              <a:rPr lang="en-US" b="0" i="0" u="none" strike="noStrike" baseline="0" dirty="0">
                <a:latin typeface="Times New Roman" panose="02020603050405020304" pitchFamily="18" charset="0"/>
                <a:cs typeface="Times New Roman" panose="02020603050405020304" pitchFamily="18" charset="0"/>
              </a:rPr>
              <a:t>Cache Performance: Tag and </a:t>
            </a:r>
            <a:r>
              <a:rPr lang="en-IN" b="0" i="0" u="none" strike="noStrike" baseline="0" dirty="0">
                <a:latin typeface="Times New Roman" panose="02020603050405020304" pitchFamily="18" charset="0"/>
                <a:cs typeface="Times New Roman" panose="02020603050405020304" pitchFamily="18" charset="0"/>
              </a:rPr>
              <a:t>data arrays, Types of cache misses, Multi-level caches, </a:t>
            </a:r>
          </a:p>
          <a:p>
            <a:pPr marL="285750" indent="-285750" algn="just">
              <a:lnSpc>
                <a:spcPct val="150000"/>
              </a:lnSpc>
              <a:buFont typeface="Arial" panose="020B0604020202020204" pitchFamily="34" charset="0"/>
              <a:buChar char="•"/>
            </a:pPr>
            <a:r>
              <a:rPr lang="en-IN" b="0" i="0" u="none" strike="noStrike" baseline="0" dirty="0">
                <a:latin typeface="Times New Roman" panose="02020603050405020304" pitchFamily="18" charset="0"/>
                <a:cs typeface="Times New Roman" panose="02020603050405020304" pitchFamily="18" charset="0"/>
              </a:rPr>
              <a:t>Cache replacement policies (LRU).</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625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C07C1B-8EEB-0273-FC82-52447C83A46D}"/>
              </a:ext>
            </a:extLst>
          </p:cNvPr>
          <p:cNvSpPr txBox="1"/>
          <p:nvPr/>
        </p:nvSpPr>
        <p:spPr>
          <a:xfrm>
            <a:off x="678425" y="462226"/>
            <a:ext cx="11002297" cy="3412729"/>
          </a:xfrm>
          <a:prstGeom prst="rect">
            <a:avLst/>
          </a:prstGeom>
          <a:noFill/>
        </p:spPr>
        <p:txBody>
          <a:bodyPr wrap="square">
            <a:spAutoFit/>
          </a:bodyPr>
          <a:lstStyle/>
          <a:p>
            <a:pPr algn="just">
              <a:lnSpc>
                <a:spcPct val="150000"/>
              </a:lnSpc>
              <a:buNone/>
            </a:pPr>
            <a:r>
              <a:rPr lang="en-IN" sz="2000" b="1" dirty="0">
                <a:latin typeface="Times New Roman" panose="02020603050405020304" pitchFamily="18" charset="0"/>
                <a:cs typeface="Times New Roman" panose="02020603050405020304" pitchFamily="18" charset="0"/>
              </a:rPr>
              <a:t>Prerequisites for Memory Hierarchy and Cache Memory</a:t>
            </a:r>
          </a:p>
          <a:p>
            <a:pPr marL="342900" lvl="0" indent="-342900" algn="just">
              <a:lnSpc>
                <a:spcPct val="150000"/>
              </a:lnSpc>
              <a:buFont typeface="+mj-lt"/>
              <a:buAutoNum type="arabicPeriod"/>
            </a:pPr>
            <a:endParaRPr lang="en-IN"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Basic Computer Organization: CPU, memory, and input/output devices.</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Primary and Secondary Memory: RAM, ROM, hard disk, and SSD.</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Registers and CPU Operations: Purpose of registers and their role in instruction execution.</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Number System</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Memory Addressing: Memory locations, addresses, and addressable units.</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Basic CPU Instruction Execution: Fetch, decode, execute cycle and Store.</a:t>
            </a:r>
          </a:p>
        </p:txBody>
      </p:sp>
    </p:spTree>
    <p:extLst>
      <p:ext uri="{BB962C8B-B14F-4D97-AF65-F5344CB8AC3E}">
        <p14:creationId xmlns:p14="http://schemas.microsoft.com/office/powerpoint/2010/main" val="4153369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AC6BF1-1452-6B66-6F98-0A945AAE28AE}"/>
              </a:ext>
            </a:extLst>
          </p:cNvPr>
          <p:cNvSpPr txBox="1"/>
          <p:nvPr/>
        </p:nvSpPr>
        <p:spPr>
          <a:xfrm>
            <a:off x="619432" y="324465"/>
            <a:ext cx="11248103" cy="6001643"/>
          </a:xfrm>
          <a:prstGeom prst="rect">
            <a:avLst/>
          </a:prstGeom>
          <a:noFill/>
        </p:spPr>
        <p:txBody>
          <a:bodyPr wrap="square">
            <a:spAutoFit/>
          </a:bodyPr>
          <a:lstStyle/>
          <a:p>
            <a:r>
              <a:rPr lang="en-IN" sz="2000" b="1" i="0" u="none" strike="noStrike" baseline="0" dirty="0">
                <a:latin typeface="Times New Roman" panose="02020603050405020304" pitchFamily="18" charset="0"/>
                <a:cs typeface="Times New Roman" panose="02020603050405020304" pitchFamily="18" charset="0"/>
              </a:rPr>
              <a:t>Memory Hierarchy: </a:t>
            </a:r>
            <a:r>
              <a:rPr kumimoji="0" lang="en-I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Concept </a:t>
            </a:r>
            <a:r>
              <a:rPr kumimoji="0" 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and need for memory hierarchy</a:t>
            </a:r>
            <a:endParaRPr lang="en-IN" sz="2400" b="1" i="0" u="none" strike="noStrike" baseline="0"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pPr algn="just">
              <a:lnSpc>
                <a:spcPct val="150000"/>
              </a:lnSpc>
            </a:pPr>
            <a:r>
              <a:rPr lang="en-IN" b="1" dirty="0">
                <a:latin typeface="Times New Roman" panose="02020603050405020304" pitchFamily="18" charset="0"/>
                <a:cs typeface="Times New Roman" panose="02020603050405020304" pitchFamily="18" charset="0"/>
              </a:rPr>
              <a:t>What is Memory Hierarchy?</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Memory hierarchy is the systematic arrangement of different types of memory in a computer system according to their speed, storage capacity, cost per bit.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computer uses different types of memory because no single memory technology can provide all three features at the same time:</a:t>
            </a:r>
          </a:p>
          <a:p>
            <a:pPr marL="1714500" lvl="3" indent="-342900" algn="just">
              <a:lnSpc>
                <a:spcPct val="150000"/>
              </a:lnSpc>
              <a:buFont typeface="+mj-lt"/>
              <a:buAutoNum type="alphaLcPeriod"/>
            </a:pPr>
            <a:r>
              <a:rPr lang="en-IN" dirty="0">
                <a:latin typeface="Times New Roman" panose="02020603050405020304" pitchFamily="18" charset="0"/>
                <a:cs typeface="Times New Roman" panose="02020603050405020304" pitchFamily="18" charset="0"/>
              </a:rPr>
              <a:t>Very high speed</a:t>
            </a:r>
          </a:p>
          <a:p>
            <a:pPr marL="1714500" lvl="3" indent="-342900" algn="just">
              <a:lnSpc>
                <a:spcPct val="150000"/>
              </a:lnSpc>
              <a:buFont typeface="+mj-lt"/>
              <a:buAutoNum type="alphaLcPeriod"/>
            </a:pPr>
            <a:r>
              <a:rPr lang="en-IN" dirty="0">
                <a:latin typeface="Times New Roman" panose="02020603050405020304" pitchFamily="18" charset="0"/>
                <a:cs typeface="Times New Roman" panose="02020603050405020304" pitchFamily="18" charset="0"/>
              </a:rPr>
              <a:t>Very large storage capacity</a:t>
            </a:r>
          </a:p>
          <a:p>
            <a:pPr marL="1714500" lvl="3" indent="-342900" algn="just">
              <a:lnSpc>
                <a:spcPct val="150000"/>
              </a:lnSpc>
              <a:buFont typeface="+mj-lt"/>
              <a:buAutoNum type="alphaLcPeriod"/>
            </a:pPr>
            <a:r>
              <a:rPr lang="en-IN" dirty="0">
                <a:latin typeface="Times New Roman" panose="02020603050405020304" pitchFamily="18" charset="0"/>
                <a:cs typeface="Times New Roman" panose="02020603050405020304" pitchFamily="18" charset="0"/>
              </a:rPr>
              <a:t>Very low cost</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For example, CPU registers are extremely fast but can store only a small amount of data. An SSD can store a large amount of data at a lower cost per bit, but it is much slower than registers.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Therefore, computer systems combine different memory types into a hierarchy to achieve a balance between performance, capacity, and cost.</a:t>
            </a:r>
          </a:p>
          <a:p>
            <a:endParaRPr lang="en-IN" sz="2000" b="1" dirty="0"/>
          </a:p>
        </p:txBody>
      </p:sp>
    </p:spTree>
    <p:extLst>
      <p:ext uri="{BB962C8B-B14F-4D97-AF65-F5344CB8AC3E}">
        <p14:creationId xmlns:p14="http://schemas.microsoft.com/office/powerpoint/2010/main" val="3854365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91604C-D56A-25B2-C892-322764749197}"/>
              </a:ext>
            </a:extLst>
          </p:cNvPr>
          <p:cNvSpPr txBox="1"/>
          <p:nvPr/>
        </p:nvSpPr>
        <p:spPr>
          <a:xfrm>
            <a:off x="530942" y="279311"/>
            <a:ext cx="11248103" cy="5680401"/>
          </a:xfrm>
          <a:prstGeom prst="rect">
            <a:avLst/>
          </a:prstGeom>
          <a:noFill/>
        </p:spPr>
        <p:txBody>
          <a:bodyPr wrap="square">
            <a:spAutoFit/>
          </a:bodyPr>
          <a:lstStyle/>
          <a:p>
            <a:pPr algn="just">
              <a:lnSpc>
                <a:spcPct val="150000"/>
              </a:lnSpc>
              <a:buNone/>
            </a:pPr>
            <a:r>
              <a:rPr lang="en-IN" sz="2000" b="1" u="sng" dirty="0">
                <a:latin typeface="Times New Roman" panose="02020603050405020304" pitchFamily="18" charset="0"/>
                <a:cs typeface="Times New Roman" panose="02020603050405020304" pitchFamily="18" charset="0"/>
              </a:rPr>
              <a:t>Need for Memory Hierarchy</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Memory hierarchy is required in a computer system to achieve a balance between speed, storage capacity, and cost.</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Different memory technologies have different performance characteristics, so a computer uses multiple levels of memory to improve overall efficiency.</a:t>
            </a:r>
          </a:p>
          <a:p>
            <a:pPr algn="just">
              <a:lnSpc>
                <a:spcPct val="150000"/>
              </a:lnSpc>
            </a:pPr>
            <a:endParaRPr lang="en-IN" sz="1600" dirty="0">
              <a:latin typeface="Times New Roman" panose="02020603050405020304" pitchFamily="18" charset="0"/>
              <a:cs typeface="Times New Roman" panose="02020603050405020304" pitchFamily="18" charset="0"/>
            </a:endParaRPr>
          </a:p>
          <a:p>
            <a:pPr algn="just">
              <a:lnSpc>
                <a:spcPct val="150000"/>
              </a:lnSpc>
              <a:buNone/>
            </a:pPr>
            <a:r>
              <a:rPr lang="en-IN" sz="1600" b="1" dirty="0">
                <a:latin typeface="Times New Roman" panose="02020603050405020304" pitchFamily="18" charset="0"/>
                <a:cs typeface="Times New Roman" panose="02020603050405020304" pitchFamily="18" charset="0"/>
              </a:rPr>
              <a:t>Why do we need Memory Hierarchy?</a:t>
            </a:r>
          </a:p>
          <a:p>
            <a:pPr algn="just">
              <a:lnSpc>
                <a:spcPct val="150000"/>
              </a:lnSpc>
              <a:buNone/>
            </a:pPr>
            <a:r>
              <a:rPr lang="en-IN" sz="1600" b="1" dirty="0">
                <a:latin typeface="Times New Roman" panose="02020603050405020304" pitchFamily="18" charset="0"/>
                <a:cs typeface="Times New Roman" panose="02020603050405020304" pitchFamily="18" charset="0"/>
              </a:rPr>
              <a:t>1. To overcome the speed gap between CPU and memory</a:t>
            </a:r>
          </a:p>
          <a:p>
            <a:pPr algn="just">
              <a:lnSpc>
                <a:spcPct val="150000"/>
              </a:lnSpc>
              <a:buNone/>
            </a:pPr>
            <a:r>
              <a:rPr lang="en-IN" sz="1600" dirty="0">
                <a:latin typeface="Times New Roman" panose="02020603050405020304" pitchFamily="18" charset="0"/>
                <a:cs typeface="Times New Roman" panose="02020603050405020304" pitchFamily="18" charset="0"/>
              </a:rPr>
              <a:t>The CPU processes data very quickly, but RAM is slower than the CPU's internal registers and cache. Memory hierarchy reduces CPU waiting time by keeping frequently needed data in faster memory.</a:t>
            </a:r>
          </a:p>
          <a:p>
            <a:pPr algn="just">
              <a:lnSpc>
                <a:spcPct val="150000"/>
              </a:lnSpc>
              <a:buNone/>
            </a:pPr>
            <a:r>
              <a:rPr lang="en-IN" sz="1600" b="1" dirty="0">
                <a:latin typeface="Times New Roman" panose="02020603050405020304" pitchFamily="18" charset="0"/>
                <a:cs typeface="Times New Roman" panose="02020603050405020304" pitchFamily="18" charset="0"/>
              </a:rPr>
              <a:t>2. To improve system performance</a:t>
            </a:r>
          </a:p>
          <a:p>
            <a:pPr algn="just">
              <a:lnSpc>
                <a:spcPct val="150000"/>
              </a:lnSpc>
              <a:buNone/>
            </a:pPr>
            <a:r>
              <a:rPr lang="en-IN" sz="1600" dirty="0">
                <a:latin typeface="Times New Roman" panose="02020603050405020304" pitchFamily="18" charset="0"/>
                <a:cs typeface="Times New Roman" panose="02020603050405020304" pitchFamily="18" charset="0"/>
              </a:rPr>
              <a:t>Frequently accessed instructions and data are stored in cache memory. This allows the CPU to access them faster than if every request had to go to RAM.</a:t>
            </a:r>
          </a:p>
          <a:p>
            <a:pPr algn="just">
              <a:lnSpc>
                <a:spcPct val="150000"/>
              </a:lnSpc>
              <a:buNone/>
            </a:pPr>
            <a:r>
              <a:rPr lang="en-IN" sz="1600" b="1" dirty="0">
                <a:latin typeface="Times New Roman" panose="02020603050405020304" pitchFamily="18" charset="0"/>
                <a:cs typeface="Times New Roman" panose="02020603050405020304" pitchFamily="18" charset="0"/>
              </a:rPr>
              <a:t>3. To reduce the cost of memory</a:t>
            </a:r>
          </a:p>
          <a:p>
            <a:pPr algn="just">
              <a:lnSpc>
                <a:spcPct val="150000"/>
              </a:lnSpc>
              <a:buNone/>
            </a:pPr>
            <a:r>
              <a:rPr lang="en-IN" sz="1600" dirty="0">
                <a:latin typeface="Times New Roman" panose="02020603050405020304" pitchFamily="18" charset="0"/>
                <a:cs typeface="Times New Roman" panose="02020603050405020304" pitchFamily="18" charset="0"/>
              </a:rPr>
              <a:t>High-speed memory, such as registers and cache, is expensive per bit. Using only this type of memory would make a computer costly. Memory hierarchy combines small amounts of fast memory with larger amounts of affordable memory.</a:t>
            </a:r>
          </a:p>
        </p:txBody>
      </p:sp>
    </p:spTree>
    <p:extLst>
      <p:ext uri="{BB962C8B-B14F-4D97-AF65-F5344CB8AC3E}">
        <p14:creationId xmlns:p14="http://schemas.microsoft.com/office/powerpoint/2010/main" val="2781944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E0850D-C4A8-1FEC-B920-8EE5ED90A85F}"/>
              </a:ext>
            </a:extLst>
          </p:cNvPr>
          <p:cNvSpPr txBox="1"/>
          <p:nvPr/>
        </p:nvSpPr>
        <p:spPr>
          <a:xfrm>
            <a:off x="668594" y="366446"/>
            <a:ext cx="11100619" cy="3782061"/>
          </a:xfrm>
          <a:prstGeom prst="rect">
            <a:avLst/>
          </a:prstGeom>
          <a:noFill/>
        </p:spPr>
        <p:txBody>
          <a:bodyPr wrap="square">
            <a:spAutoFit/>
          </a:bodyPr>
          <a:lstStyle/>
          <a:p>
            <a:pPr algn="just">
              <a:lnSpc>
                <a:spcPct val="150000"/>
              </a:lnSpc>
              <a:buNone/>
            </a:pPr>
            <a:r>
              <a:rPr lang="en-IN" b="1" dirty="0">
                <a:latin typeface="Times New Roman" panose="02020603050405020304" pitchFamily="18" charset="0"/>
                <a:cs typeface="Times New Roman" panose="02020603050405020304" pitchFamily="18" charset="0"/>
              </a:rPr>
              <a:t>4. To provide large storage capacity</a:t>
            </a:r>
          </a:p>
          <a:p>
            <a:pPr algn="just">
              <a:lnSpc>
                <a:spcPct val="150000"/>
              </a:lnSpc>
              <a:buNone/>
            </a:pPr>
            <a:r>
              <a:rPr lang="en-IN" dirty="0">
                <a:latin typeface="Times New Roman" panose="02020603050405020304" pitchFamily="18" charset="0"/>
                <a:cs typeface="Times New Roman" panose="02020603050405020304" pitchFamily="18" charset="0"/>
              </a:rPr>
              <a:t>Registers and cache have limited capacity. RAM and secondary storage provide additional space for running programs, files, applications, and large datasets.</a:t>
            </a:r>
          </a:p>
          <a:p>
            <a:pPr algn="just">
              <a:lnSpc>
                <a:spcPct val="150000"/>
              </a:lnSpc>
              <a:buNone/>
            </a:pPr>
            <a:r>
              <a:rPr lang="en-IN" b="1" dirty="0">
                <a:latin typeface="Times New Roman" panose="02020603050405020304" pitchFamily="18" charset="0"/>
                <a:cs typeface="Times New Roman" panose="02020603050405020304" pitchFamily="18" charset="0"/>
              </a:rPr>
              <a:t>5. To reduce average memory access time</a:t>
            </a:r>
          </a:p>
          <a:p>
            <a:pPr algn="just">
              <a:lnSpc>
                <a:spcPct val="150000"/>
              </a:lnSpc>
              <a:buNone/>
            </a:pPr>
            <a:r>
              <a:rPr lang="en-IN" dirty="0">
                <a:latin typeface="Times New Roman" panose="02020603050405020304" pitchFamily="18" charset="0"/>
                <a:cs typeface="Times New Roman" panose="02020603050405020304" pitchFamily="18" charset="0"/>
              </a:rPr>
              <a:t>When requested data is found in a fast memory level, the CPU avoids accessing slower levels. This reduces the average time needed to retrieve data.</a:t>
            </a:r>
          </a:p>
          <a:p>
            <a:pPr algn="just">
              <a:lnSpc>
                <a:spcPct val="150000"/>
              </a:lnSpc>
              <a:buNone/>
            </a:pPr>
            <a:r>
              <a:rPr lang="en-IN" b="1" dirty="0">
                <a:latin typeface="Times New Roman" panose="02020603050405020304" pitchFamily="18" charset="0"/>
                <a:cs typeface="Times New Roman" panose="02020603050405020304" pitchFamily="18" charset="0"/>
              </a:rPr>
              <a:t>6. To support efficient program execution</a:t>
            </a:r>
          </a:p>
          <a:p>
            <a:pPr algn="just">
              <a:lnSpc>
                <a:spcPct val="150000"/>
              </a:lnSpc>
              <a:buNone/>
            </a:pPr>
            <a:r>
              <a:rPr lang="en-IN" dirty="0">
                <a:latin typeface="Times New Roman" panose="02020603050405020304" pitchFamily="18" charset="0"/>
                <a:cs typeface="Times New Roman" panose="02020603050405020304" pitchFamily="18" charset="0"/>
              </a:rPr>
              <a:t>Programs often reuse recently accessed data and access nearby memory locations. Cache memory exploits these patterns to make program execution more efficient.</a:t>
            </a:r>
          </a:p>
        </p:txBody>
      </p:sp>
    </p:spTree>
    <p:extLst>
      <p:ext uri="{BB962C8B-B14F-4D97-AF65-F5344CB8AC3E}">
        <p14:creationId xmlns:p14="http://schemas.microsoft.com/office/powerpoint/2010/main" val="889313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C05266-DEB9-7144-4B9D-BEF99C8D404B}"/>
              </a:ext>
            </a:extLst>
          </p:cNvPr>
          <p:cNvSpPr txBox="1"/>
          <p:nvPr/>
        </p:nvSpPr>
        <p:spPr>
          <a:xfrm>
            <a:off x="476865" y="73195"/>
            <a:ext cx="10923639" cy="3659335"/>
          </a:xfrm>
          <a:prstGeom prst="rect">
            <a:avLst/>
          </a:prstGeom>
          <a:noFill/>
        </p:spPr>
        <p:txBody>
          <a:bodyPr wrap="square">
            <a:spAutoFit/>
          </a:bodyPr>
          <a:lstStyle/>
          <a:p>
            <a:pPr fontAlgn="base">
              <a:lnSpc>
                <a:spcPct val="150000"/>
              </a:lnSpc>
            </a:pPr>
            <a:r>
              <a:rPr lang="en-IN" b="1" i="0" spc="12" dirty="0">
                <a:solidFill>
                  <a:schemeClr val="tx1"/>
                </a:solidFill>
                <a:effectLst/>
                <a:latin typeface="Times New Roman" panose="02020603050405020304" pitchFamily="18" charset="0"/>
                <a:cs typeface="Times New Roman" panose="02020603050405020304" pitchFamily="18" charset="0"/>
              </a:rPr>
              <a:t>Types of Memory </a:t>
            </a:r>
            <a:r>
              <a:rPr lang="en-IN" sz="2000" b="1" i="0" spc="12" dirty="0">
                <a:solidFill>
                  <a:schemeClr val="tx1"/>
                </a:solidFill>
                <a:effectLst/>
                <a:latin typeface="Times New Roman" panose="02020603050405020304" pitchFamily="18" charset="0"/>
                <a:cs typeface="Times New Roman" panose="02020603050405020304" pitchFamily="18" charset="0"/>
              </a:rPr>
              <a:t>Hierarchy</a:t>
            </a:r>
            <a:r>
              <a:rPr lang="en-IN" sz="2000" b="1" spc="12" dirty="0">
                <a:latin typeface="Times New Roman" panose="02020603050405020304" pitchFamily="18" charset="0"/>
                <a:cs typeface="Times New Roman" panose="02020603050405020304" pitchFamily="18" charset="0"/>
              </a:rPr>
              <a:t> OR </a:t>
            </a:r>
            <a:r>
              <a:rPr lang="en-IN" sz="2000" b="1" dirty="0">
                <a:latin typeface="Times New Roman" panose="02020603050405020304" pitchFamily="18" charset="0"/>
                <a:cs typeface="Times New Roman" panose="02020603050405020304" pitchFamily="18" charset="0"/>
              </a:rPr>
              <a:t>Levels of memory.</a:t>
            </a:r>
            <a:endParaRPr lang="en-IN" sz="20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lnSpc>
                <a:spcPct val="150000"/>
              </a:lnSpc>
              <a:spcAft>
                <a:spcPts val="750"/>
              </a:spcAft>
              <a:buNone/>
            </a:pPr>
            <a:r>
              <a:rPr lang="en-IN" sz="1600" b="0" i="0" spc="12" dirty="0">
                <a:solidFill>
                  <a:schemeClr val="tx1"/>
                </a:solidFill>
                <a:effectLst/>
                <a:latin typeface="Times New Roman" panose="02020603050405020304" pitchFamily="18" charset="0"/>
                <a:cs typeface="Times New Roman" panose="02020603050405020304" pitchFamily="18" charset="0"/>
              </a:rPr>
              <a:t>This Memory Hierarchy Design is divided into 2 main types:</a:t>
            </a:r>
            <a:endParaRPr lang="en-IN" sz="1600" b="0" i="0" spc="1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l" fontAlgn="base">
              <a:lnSpc>
                <a:spcPct val="150000"/>
              </a:lnSpc>
              <a:spcAft>
                <a:spcPts val="1800"/>
              </a:spcAft>
              <a:buFont typeface="Arial" panose="020B0604020202020204" pitchFamily="34" charset="0"/>
              <a:buChar char="•"/>
            </a:pPr>
            <a:r>
              <a:rPr lang="en-IN" sz="1600" b="1" i="0" spc="10" dirty="0">
                <a:solidFill>
                  <a:schemeClr val="tx1"/>
                </a:solidFill>
                <a:effectLst/>
                <a:latin typeface="Times New Roman" panose="02020603050405020304" pitchFamily="18" charset="0"/>
                <a:cs typeface="Times New Roman" panose="02020603050405020304" pitchFamily="18" charset="0"/>
              </a:rPr>
              <a:t>External Memory or Secondary Memory:</a:t>
            </a:r>
            <a:r>
              <a:rPr lang="en-IN" sz="1600" b="0" i="0" spc="12" dirty="0">
                <a:solidFill>
                  <a:schemeClr val="tx1"/>
                </a:solidFill>
                <a:effectLst/>
                <a:latin typeface="Times New Roman" panose="02020603050405020304" pitchFamily="18" charset="0"/>
                <a:cs typeface="Times New Roman" panose="02020603050405020304" pitchFamily="18" charset="0"/>
              </a:rPr>
              <a:t> Comprising of Magnetic Disk, Optical Disk, and Magnetic Tape i.e. peripheral storage devices which are accessible by the processor via an I/O Module.</a:t>
            </a:r>
            <a:endParaRPr lang="en-IN" sz="1600" b="0" i="0" spc="1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l" fontAlgn="base">
              <a:lnSpc>
                <a:spcPct val="150000"/>
              </a:lnSpc>
              <a:spcAft>
                <a:spcPts val="1800"/>
              </a:spcAft>
              <a:buFont typeface="Arial" panose="020B0604020202020204" pitchFamily="34" charset="0"/>
              <a:buChar char="•"/>
            </a:pPr>
            <a:r>
              <a:rPr lang="en-IN" sz="1600" b="1" i="0" spc="10" dirty="0">
                <a:solidFill>
                  <a:schemeClr val="tx1"/>
                </a:solidFill>
                <a:effectLst/>
                <a:latin typeface="Times New Roman" panose="02020603050405020304" pitchFamily="18" charset="0"/>
                <a:cs typeface="Times New Roman" panose="02020603050405020304" pitchFamily="18" charset="0"/>
              </a:rPr>
              <a:t>Internal Memory or Primary Memory:</a:t>
            </a:r>
            <a:r>
              <a:rPr lang="en-IN" sz="1600" b="0" i="0" spc="12" dirty="0">
                <a:solidFill>
                  <a:schemeClr val="tx1"/>
                </a:solidFill>
                <a:effectLst/>
                <a:latin typeface="Times New Roman" panose="02020603050405020304" pitchFamily="18" charset="0"/>
                <a:cs typeface="Times New Roman" panose="02020603050405020304" pitchFamily="18" charset="0"/>
              </a:rPr>
              <a:t> Comprising of Main Memory, Cache Memory &amp; </a:t>
            </a:r>
            <a:r>
              <a:rPr lang="en-IN" sz="1600" b="0" i="0" u="sng" spc="12" dirty="0">
                <a:solidFill>
                  <a:schemeClr val="tx1"/>
                </a:solidFill>
                <a:effectLst/>
                <a:latin typeface="Times New Roman" panose="02020603050405020304" pitchFamily="18" charset="0"/>
                <a:cs typeface="Times New Roman" panose="02020603050405020304" pitchFamily="18" charset="0"/>
                <a:hlinkClick r:id="rId2"/>
              </a:rPr>
              <a:t>CPU registers</a:t>
            </a:r>
            <a:r>
              <a:rPr lang="en-IN" sz="1600" b="0" i="0" spc="12" dirty="0">
                <a:solidFill>
                  <a:schemeClr val="tx1"/>
                </a:solidFill>
                <a:effectLst/>
                <a:latin typeface="Times New Roman" panose="02020603050405020304" pitchFamily="18" charset="0"/>
                <a:cs typeface="Times New Roman" panose="02020603050405020304" pitchFamily="18" charset="0"/>
              </a:rPr>
              <a:t>. This is directly accessible by the processor.</a:t>
            </a:r>
            <a:endParaRPr lang="en-IN" sz="1600" b="0" i="0" spc="10" dirty="0">
              <a:solidFill>
                <a:schemeClr val="tx1"/>
              </a:solidFill>
              <a:effectLst/>
              <a:latin typeface="Times New Roman" panose="02020603050405020304" pitchFamily="18" charset="0"/>
              <a:cs typeface="Times New Roman" panose="02020603050405020304" pitchFamily="18" charset="0"/>
            </a:endParaRPr>
          </a:p>
          <a:p>
            <a:pPr marL="0" marR="0" indent="0" algn="l" rtl="0" fontAlgn="base">
              <a:lnSpc>
                <a:spcPct val="150000"/>
              </a:lnSpc>
              <a:spcAft>
                <a:spcPts val="750"/>
              </a:spcAft>
              <a:buNone/>
            </a:pPr>
            <a:br>
              <a:rPr lang="en-IN" sz="1600" b="0" i="0" spc="10" dirty="0">
                <a:solidFill>
                  <a:schemeClr val="tx1"/>
                </a:solidFill>
                <a:effectLst/>
                <a:latin typeface="Times New Roman" panose="02020603050405020304" pitchFamily="18" charset="0"/>
                <a:cs typeface="Times New Roman" panose="02020603050405020304" pitchFamily="18" charset="0"/>
              </a:rPr>
            </a:br>
            <a:endParaRPr lang="en-IN" sz="1600" b="0" i="0" spc="10" dirty="0">
              <a:solidFill>
                <a:srgbClr val="273239"/>
              </a:solidFill>
              <a:effectLst/>
              <a:latin typeface="Times New Roman" panose="02020603050405020304" pitchFamily="18" charset="0"/>
              <a:cs typeface="Times New Roman" panose="02020603050405020304" pitchFamily="18" charset="0"/>
            </a:endParaRPr>
          </a:p>
        </p:txBody>
      </p:sp>
      <p:pic>
        <p:nvPicPr>
          <p:cNvPr id="6" name="Picture 5" descr="Memory-Hierarchy-Design">
            <a:extLst>
              <a:ext uri="{FF2B5EF4-FFF2-40B4-BE49-F238E27FC236}">
                <a16:creationId xmlns:a16="http://schemas.microsoft.com/office/drawing/2014/main" id="{4AA95181-7BD6-D43D-563E-4FA66EA7C811}"/>
              </a:ext>
            </a:extLst>
          </p:cNvPr>
          <p:cNvPicPr>
            <a:picLocks noChangeAspect="1"/>
          </p:cNvPicPr>
          <p:nvPr/>
        </p:nvPicPr>
        <p:blipFill>
          <a:blip r:embed="rId3"/>
          <a:stretch>
            <a:fillRect/>
          </a:stretch>
        </p:blipFill>
        <p:spPr>
          <a:xfrm>
            <a:off x="3411794" y="2443317"/>
            <a:ext cx="8082116" cy="4041058"/>
          </a:xfrm>
          <a:prstGeom prst="rect">
            <a:avLst/>
          </a:prstGeom>
        </p:spPr>
      </p:pic>
    </p:spTree>
    <p:extLst>
      <p:ext uri="{BB962C8B-B14F-4D97-AF65-F5344CB8AC3E}">
        <p14:creationId xmlns:p14="http://schemas.microsoft.com/office/powerpoint/2010/main" val="40254803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73B0AE-5186-9089-5F2B-CEA8EC33F9AB}"/>
              </a:ext>
            </a:extLst>
          </p:cNvPr>
          <p:cNvSpPr txBox="1"/>
          <p:nvPr/>
        </p:nvSpPr>
        <p:spPr>
          <a:xfrm>
            <a:off x="688258" y="400771"/>
            <a:ext cx="10815484" cy="4860946"/>
          </a:xfrm>
          <a:prstGeom prst="rect">
            <a:avLst/>
          </a:prstGeom>
          <a:noFill/>
        </p:spPr>
        <p:txBody>
          <a:bodyPr wrap="square">
            <a:spAutoFit/>
          </a:bodyPr>
          <a:lstStyle/>
          <a:p>
            <a:pPr marL="0" marR="0" indent="0" algn="l" fontAlgn="base">
              <a:lnSpc>
                <a:spcPct val="150000"/>
              </a:lnSpc>
              <a:buNone/>
            </a:pPr>
            <a:r>
              <a:rPr lang="en-IN" sz="2000" b="1" i="0" spc="12" dirty="0">
                <a:solidFill>
                  <a:schemeClr val="tx1"/>
                </a:solidFill>
                <a:effectLst/>
                <a:latin typeface="Times New Roman" panose="02020603050405020304" pitchFamily="18" charset="0"/>
                <a:cs typeface="Times New Roman" panose="02020603050405020304" pitchFamily="18" charset="0"/>
              </a:rPr>
              <a:t>Memory Hierarchy Design</a:t>
            </a:r>
            <a:endParaRPr lang="en-IN" sz="2000" b="1" i="0" spc="0" dirty="0">
              <a:solidFill>
                <a:schemeClr val="tx1"/>
              </a:solidFill>
              <a:effectLst/>
              <a:latin typeface="Times New Roman" panose="02020603050405020304" pitchFamily="18" charset="0"/>
              <a:cs typeface="Times New Roman" panose="02020603050405020304" pitchFamily="18" charset="0"/>
            </a:endParaRPr>
          </a:p>
          <a:p>
            <a:pPr marL="0" marR="0" indent="0" algn="l" fontAlgn="base">
              <a:lnSpc>
                <a:spcPct val="150000"/>
              </a:lnSpc>
              <a:spcBef>
                <a:spcPts val="1800"/>
              </a:spcBef>
              <a:spcAft>
                <a:spcPts val="1800"/>
              </a:spcAft>
              <a:buNone/>
            </a:pPr>
            <a:r>
              <a:rPr lang="en-IN" sz="1800" b="1" i="0" spc="12" dirty="0">
                <a:solidFill>
                  <a:schemeClr val="tx1"/>
                </a:solidFill>
                <a:effectLst/>
                <a:latin typeface="Times New Roman" panose="02020603050405020304" pitchFamily="18" charset="0"/>
                <a:cs typeface="Times New Roman" panose="02020603050405020304" pitchFamily="18" charset="0"/>
              </a:rPr>
              <a:t>1. Registers</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lnSpc>
                <a:spcPct val="150000"/>
              </a:lnSpc>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Registers are small, high-speed memory units located in the CPU. They are used to store the most frequently used data and instructions.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2"/>
              </a:rPr>
              <a:t>Registers</a:t>
            </a:r>
            <a:r>
              <a:rPr lang="en-IN" sz="1800" b="0" i="0" spc="12" dirty="0">
                <a:solidFill>
                  <a:schemeClr val="tx1"/>
                </a:solidFill>
                <a:effectLst/>
                <a:latin typeface="Times New Roman" panose="02020603050405020304" pitchFamily="18" charset="0"/>
                <a:cs typeface="Times New Roman" panose="02020603050405020304" pitchFamily="18" charset="0"/>
              </a:rPr>
              <a:t> have the fastest access time and the smallest storage capacity, typically ranging from 16 to 64 bits.</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0" marR="0" indent="0" algn="l" fontAlgn="base">
              <a:lnSpc>
                <a:spcPct val="150000"/>
              </a:lnSpc>
              <a:spcBef>
                <a:spcPts val="1800"/>
              </a:spcBef>
              <a:spcAft>
                <a:spcPts val="1800"/>
              </a:spcAft>
              <a:buNone/>
            </a:pPr>
            <a:r>
              <a:rPr lang="en-IN" sz="1800" b="1" i="0" spc="12" dirty="0">
                <a:solidFill>
                  <a:schemeClr val="tx1"/>
                </a:solidFill>
                <a:effectLst/>
                <a:latin typeface="Times New Roman" panose="02020603050405020304" pitchFamily="18" charset="0"/>
                <a:cs typeface="Times New Roman" panose="02020603050405020304" pitchFamily="18" charset="0"/>
              </a:rPr>
              <a:t>2. Cache Memory</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lnSpc>
                <a:spcPct val="150000"/>
              </a:lnSpc>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Cache memory is a small, fast memory unit located close to the CPU. It stores frequently used data and instructions that have been recently accessed from the main memory.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3"/>
              </a:rPr>
              <a:t>Cache memory</a:t>
            </a:r>
            <a:r>
              <a:rPr lang="en-IN" sz="1800" b="0" i="0" spc="12" dirty="0">
                <a:solidFill>
                  <a:schemeClr val="tx1"/>
                </a:solidFill>
                <a:effectLst/>
                <a:latin typeface="Times New Roman" panose="02020603050405020304" pitchFamily="18" charset="0"/>
                <a:cs typeface="Times New Roman" panose="02020603050405020304" pitchFamily="18" charset="0"/>
              </a:rPr>
              <a:t> is designed to minimize the time it takes to access data by providing the CPU with quick access to frequently used data.</a:t>
            </a:r>
            <a:endParaRPr lang="en-IN" sz="1800" b="0" i="0" spc="1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0450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FBF26A-C0AA-C8A3-DF21-8FEA7239E61C}"/>
              </a:ext>
            </a:extLst>
          </p:cNvPr>
          <p:cNvSpPr txBox="1"/>
          <p:nvPr/>
        </p:nvSpPr>
        <p:spPr>
          <a:xfrm>
            <a:off x="668594" y="543043"/>
            <a:ext cx="10697496" cy="4776692"/>
          </a:xfrm>
          <a:prstGeom prst="rect">
            <a:avLst/>
          </a:prstGeom>
          <a:noFill/>
        </p:spPr>
        <p:txBody>
          <a:bodyPr wrap="square">
            <a:spAutoFit/>
          </a:bodyPr>
          <a:lstStyle/>
          <a:p>
            <a:pPr marL="0" marR="0" indent="0" algn="l" fontAlgn="base">
              <a:lnSpc>
                <a:spcPct val="150000"/>
              </a:lnSpc>
              <a:spcBef>
                <a:spcPts val="1800"/>
              </a:spcBef>
              <a:spcAft>
                <a:spcPts val="1800"/>
              </a:spcAft>
              <a:buNone/>
            </a:pPr>
            <a:r>
              <a:rPr lang="en-IN" sz="1800" b="1" i="0" spc="10" dirty="0">
                <a:solidFill>
                  <a:schemeClr val="tx1"/>
                </a:solidFill>
                <a:effectLst/>
                <a:latin typeface="Times New Roman" panose="02020603050405020304" pitchFamily="18" charset="0"/>
                <a:cs typeface="Times New Roman" panose="02020603050405020304" pitchFamily="18" charset="0"/>
              </a:rPr>
              <a:t>3. Main Memory</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lnSpc>
                <a:spcPct val="150000"/>
              </a:lnSpc>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Main memory, also known as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2"/>
              </a:rPr>
              <a:t>RAM</a:t>
            </a:r>
            <a:r>
              <a:rPr lang="en-IN" sz="1800" b="0" i="0" spc="12" dirty="0">
                <a:solidFill>
                  <a:schemeClr val="tx1"/>
                </a:solidFill>
                <a:effectLst/>
                <a:latin typeface="Times New Roman" panose="02020603050405020304" pitchFamily="18" charset="0"/>
                <a:cs typeface="Times New Roman" panose="02020603050405020304" pitchFamily="18" charset="0"/>
              </a:rPr>
              <a:t> (Random Access Memory), is the primary memory of a computer system. It has a larger storage capacity than cache memory, but it is slower.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3"/>
              </a:rPr>
              <a:t>Main memory</a:t>
            </a:r>
            <a:r>
              <a:rPr lang="en-IN" sz="1800" b="0" i="0" spc="12" dirty="0">
                <a:solidFill>
                  <a:schemeClr val="tx1"/>
                </a:solidFill>
                <a:effectLst/>
                <a:latin typeface="Times New Roman" panose="02020603050405020304" pitchFamily="18" charset="0"/>
                <a:cs typeface="Times New Roman" panose="02020603050405020304" pitchFamily="18" charset="0"/>
              </a:rPr>
              <a:t> is used to store data and instructions that are currently in use by the CPU.</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0" marR="0" indent="0" algn="l" fontAlgn="base">
              <a:lnSpc>
                <a:spcPct val="150000"/>
              </a:lnSpc>
              <a:buNone/>
            </a:pPr>
            <a:r>
              <a:rPr lang="en-IN" sz="1800" b="1" i="0" spc="12" dirty="0">
                <a:solidFill>
                  <a:schemeClr val="tx1"/>
                </a:solidFill>
                <a:effectLst/>
                <a:latin typeface="Times New Roman" panose="02020603050405020304" pitchFamily="18" charset="0"/>
                <a:cs typeface="Times New Roman" panose="02020603050405020304" pitchFamily="18" charset="0"/>
              </a:rPr>
              <a:t>Types of Main Memory</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l" fontAlgn="base">
              <a:lnSpc>
                <a:spcPct val="150000"/>
              </a:lnSpc>
              <a:spcAft>
                <a:spcPts val="1800"/>
              </a:spcAft>
              <a:buFont typeface="Arial" panose="020B0604020202020204" pitchFamily="34" charset="0"/>
              <a:buChar char="•"/>
            </a:pPr>
            <a:r>
              <a:rPr lang="en-IN" sz="1800" b="1" i="0" spc="10" dirty="0">
                <a:solidFill>
                  <a:schemeClr val="tx1"/>
                </a:solidFill>
                <a:effectLst/>
                <a:latin typeface="Times New Roman" panose="02020603050405020304" pitchFamily="18" charset="0"/>
                <a:cs typeface="Times New Roman" panose="02020603050405020304" pitchFamily="18" charset="0"/>
              </a:rPr>
              <a:t>Static RAM:</a:t>
            </a:r>
            <a:r>
              <a:rPr lang="en-IN" sz="1800" b="0" i="0" spc="12" dirty="0">
                <a:solidFill>
                  <a:schemeClr val="tx1"/>
                </a:solidFill>
                <a:effectLst/>
                <a:latin typeface="Times New Roman" panose="02020603050405020304" pitchFamily="18" charset="0"/>
                <a:cs typeface="Times New Roman" panose="02020603050405020304" pitchFamily="18" charset="0"/>
              </a:rPr>
              <a:t> Static RAM stores the binary information in flip flops and information remains valid until power is supplied.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4"/>
              </a:rPr>
              <a:t>Static RAM</a:t>
            </a:r>
            <a:r>
              <a:rPr lang="en-IN" sz="1800" b="0" i="0" spc="12" dirty="0">
                <a:solidFill>
                  <a:schemeClr val="tx1"/>
                </a:solidFill>
                <a:effectLst/>
                <a:latin typeface="Times New Roman" panose="02020603050405020304" pitchFamily="18" charset="0"/>
                <a:cs typeface="Times New Roman" panose="02020603050405020304" pitchFamily="18" charset="0"/>
              </a:rPr>
              <a:t> has a faster access time and is used in implementing cache memory.</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l" fontAlgn="base">
              <a:lnSpc>
                <a:spcPct val="150000"/>
              </a:lnSpc>
              <a:spcAft>
                <a:spcPts val="1800"/>
              </a:spcAft>
              <a:buFont typeface="Arial" panose="020B0604020202020204" pitchFamily="34" charset="0"/>
              <a:buChar char="•"/>
            </a:pPr>
            <a:r>
              <a:rPr lang="en-IN" sz="1800" b="1" i="0" spc="10" dirty="0">
                <a:solidFill>
                  <a:schemeClr val="tx1"/>
                </a:solidFill>
                <a:effectLst/>
                <a:latin typeface="Times New Roman" panose="02020603050405020304" pitchFamily="18" charset="0"/>
                <a:cs typeface="Times New Roman" panose="02020603050405020304" pitchFamily="18" charset="0"/>
              </a:rPr>
              <a:t>Dynamic RAM:</a:t>
            </a:r>
            <a:r>
              <a:rPr lang="en-IN" sz="1800" b="0" i="0" spc="12" dirty="0">
                <a:solidFill>
                  <a:schemeClr val="tx1"/>
                </a:solidFill>
                <a:effectLst/>
                <a:latin typeface="Times New Roman" panose="02020603050405020304" pitchFamily="18" charset="0"/>
                <a:cs typeface="Times New Roman" panose="02020603050405020304" pitchFamily="18" charset="0"/>
              </a:rPr>
              <a:t> It stores the binary information as a charge on the capacitor. It requires refreshing circuitry to maintain the charge on the capacitors after a few milliseconds. It contains more memory cells per unit area as compared to SRAM.</a:t>
            </a:r>
            <a:endParaRPr lang="en-IN" sz="1350" b="0" i="0" spc="1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3975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872E34-FA30-C72E-577F-33CE3D3CF711}"/>
              </a:ext>
            </a:extLst>
          </p:cNvPr>
          <p:cNvSpPr txBox="1"/>
          <p:nvPr/>
        </p:nvSpPr>
        <p:spPr>
          <a:xfrm>
            <a:off x="491612" y="235048"/>
            <a:ext cx="11208775" cy="6387903"/>
          </a:xfrm>
          <a:prstGeom prst="rect">
            <a:avLst/>
          </a:prstGeom>
          <a:noFill/>
        </p:spPr>
        <p:txBody>
          <a:bodyPr wrap="square">
            <a:spAutoFit/>
          </a:bodyPr>
          <a:lstStyle/>
          <a:p>
            <a:pPr marL="0" marR="0" indent="0" algn="just" fontAlgn="base">
              <a:lnSpc>
                <a:spcPct val="150000"/>
              </a:lnSpc>
              <a:spcBef>
                <a:spcPts val="1800"/>
              </a:spcBef>
              <a:spcAft>
                <a:spcPts val="1800"/>
              </a:spcAft>
              <a:buNone/>
            </a:pPr>
            <a:r>
              <a:rPr lang="en-IN" sz="1800" b="1" i="0" spc="12" dirty="0">
                <a:solidFill>
                  <a:schemeClr val="tx1"/>
                </a:solidFill>
                <a:effectLst/>
                <a:latin typeface="Times New Roman" panose="02020603050405020304" pitchFamily="18" charset="0"/>
                <a:cs typeface="Times New Roman" panose="02020603050405020304" pitchFamily="18" charset="0"/>
              </a:rPr>
              <a:t>4. Secondary Storage</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lnSpc>
                <a:spcPct val="150000"/>
              </a:lnSpc>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Secondary storage, such as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2"/>
              </a:rPr>
              <a:t>hard disk drives (HDD) and solid-state drives (SSD) </a:t>
            </a:r>
            <a:r>
              <a:rPr lang="en-IN" sz="1800" b="0" i="0" spc="12" dirty="0">
                <a:solidFill>
                  <a:schemeClr val="tx1"/>
                </a:solidFill>
                <a:effectLst/>
                <a:latin typeface="Times New Roman" panose="02020603050405020304" pitchFamily="18" charset="0"/>
                <a:cs typeface="Times New Roman" panose="02020603050405020304" pitchFamily="18" charset="0"/>
              </a:rPr>
              <a:t>, is a non-volatile memory unit that has a larger storage capacity than main memory. It is used to store data and instructions that are not currently in use by the CPU. Secondary storage has the slowest access time and is typically the least expensive type of memory in the memory hierarchy.</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0" marR="0" indent="0" algn="just" fontAlgn="base">
              <a:lnSpc>
                <a:spcPct val="150000"/>
              </a:lnSpc>
              <a:spcBef>
                <a:spcPts val="1800"/>
              </a:spcBef>
              <a:spcAft>
                <a:spcPts val="1800"/>
              </a:spcAft>
              <a:buNone/>
            </a:pPr>
            <a:r>
              <a:rPr lang="en-IN" sz="1800" b="1" i="0" spc="12" dirty="0">
                <a:solidFill>
                  <a:schemeClr val="tx1"/>
                </a:solidFill>
                <a:effectLst/>
                <a:latin typeface="Times New Roman" panose="02020603050405020304" pitchFamily="18" charset="0"/>
                <a:cs typeface="Times New Roman" panose="02020603050405020304" pitchFamily="18" charset="0"/>
              </a:rPr>
              <a:t>5. Magnetic Disk</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lnSpc>
                <a:spcPct val="150000"/>
              </a:lnSpc>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Magnetic Disks are simply circular plates that are fabricated with either a metal or a plastic or a magnetized material. The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3"/>
              </a:rPr>
              <a:t>Magnetic disks</a:t>
            </a:r>
            <a:r>
              <a:rPr lang="en-IN" sz="1800" b="0" i="0" spc="12" dirty="0">
                <a:solidFill>
                  <a:schemeClr val="tx1"/>
                </a:solidFill>
                <a:effectLst/>
                <a:latin typeface="Times New Roman" panose="02020603050405020304" pitchFamily="18" charset="0"/>
                <a:cs typeface="Times New Roman" panose="02020603050405020304" pitchFamily="18" charset="0"/>
              </a:rPr>
              <a:t> work at a high speed inside the computer and these are frequently used.</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0" marR="0" indent="0" algn="just" fontAlgn="base">
              <a:lnSpc>
                <a:spcPct val="150000"/>
              </a:lnSpc>
              <a:spcBef>
                <a:spcPts val="1800"/>
              </a:spcBef>
              <a:spcAft>
                <a:spcPts val="1800"/>
              </a:spcAft>
              <a:buNone/>
            </a:pPr>
            <a:r>
              <a:rPr lang="en-IN" sz="1800" b="1" i="0" spc="12" dirty="0">
                <a:solidFill>
                  <a:schemeClr val="tx1"/>
                </a:solidFill>
                <a:effectLst/>
                <a:latin typeface="Times New Roman" panose="02020603050405020304" pitchFamily="18" charset="0"/>
                <a:cs typeface="Times New Roman" panose="02020603050405020304" pitchFamily="18" charset="0"/>
              </a:rPr>
              <a:t>6. Magnetic Tape</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lnSpc>
                <a:spcPct val="150000"/>
              </a:lnSpc>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Magnetic Tape is simply a magnetic recording device that is covered with a plastic film. </a:t>
            </a:r>
            <a:r>
              <a:rPr lang="en-IN" sz="1800" b="0" i="0" u="sng" spc="12" dirty="0">
                <a:solidFill>
                  <a:schemeClr val="tx1"/>
                </a:solidFill>
                <a:effectLst/>
                <a:latin typeface="Times New Roman" panose="02020603050405020304" pitchFamily="18" charset="0"/>
                <a:cs typeface="Times New Roman" panose="02020603050405020304" pitchFamily="18" charset="0"/>
                <a:hlinkClick r:id="rId4"/>
              </a:rPr>
              <a:t>Magnetic Tape</a:t>
            </a:r>
            <a:r>
              <a:rPr lang="en-IN" sz="1800" b="0" i="0" spc="12" dirty="0">
                <a:solidFill>
                  <a:schemeClr val="tx1"/>
                </a:solidFill>
                <a:effectLst/>
                <a:latin typeface="Times New Roman" panose="02020603050405020304" pitchFamily="18" charset="0"/>
                <a:cs typeface="Times New Roman" panose="02020603050405020304" pitchFamily="18" charset="0"/>
              </a:rPr>
              <a:t> is generally used for the backup of data. In the case of a magnetic tape, the access time for a computer is a little slower and therefore, it requires some amount of time for accessing the strip.</a:t>
            </a:r>
            <a:endParaRPr lang="en-IN" sz="1350" b="0" i="0" spc="1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3975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73B2CA-3E08-6560-F195-A349E9CFE5CF}"/>
              </a:ext>
            </a:extLst>
          </p:cNvPr>
          <p:cNvSpPr txBox="1"/>
          <p:nvPr/>
        </p:nvSpPr>
        <p:spPr>
          <a:xfrm>
            <a:off x="747252" y="415101"/>
            <a:ext cx="6096000" cy="369332"/>
          </a:xfrm>
          <a:prstGeom prst="rect">
            <a:avLst/>
          </a:prstGeom>
          <a:noFill/>
        </p:spPr>
        <p:txBody>
          <a:bodyPr wrap="square">
            <a:spAutoFit/>
          </a:bodyPr>
          <a:lstStyle/>
          <a:p>
            <a:r>
              <a:rPr lang="en-IN" dirty="0"/>
              <a:t>SSD (Solid-State Drive)</a:t>
            </a:r>
          </a:p>
        </p:txBody>
      </p:sp>
      <p:pic>
        <p:nvPicPr>
          <p:cNvPr id="5" name="Picture 4">
            <a:extLst>
              <a:ext uri="{FF2B5EF4-FFF2-40B4-BE49-F238E27FC236}">
                <a16:creationId xmlns:a16="http://schemas.microsoft.com/office/drawing/2014/main" id="{1C906314-EF2E-7F54-99DA-90DBA6D0EE73}"/>
              </a:ext>
            </a:extLst>
          </p:cNvPr>
          <p:cNvPicPr>
            <a:picLocks noChangeAspect="1"/>
          </p:cNvPicPr>
          <p:nvPr/>
        </p:nvPicPr>
        <p:blipFill>
          <a:blip r:embed="rId2"/>
          <a:stretch>
            <a:fillRect/>
          </a:stretch>
        </p:blipFill>
        <p:spPr>
          <a:xfrm>
            <a:off x="1730477" y="1455249"/>
            <a:ext cx="7924371" cy="4394886"/>
          </a:xfrm>
          <a:prstGeom prst="rect">
            <a:avLst/>
          </a:prstGeom>
        </p:spPr>
      </p:pic>
    </p:spTree>
    <p:extLst>
      <p:ext uri="{BB962C8B-B14F-4D97-AF65-F5344CB8AC3E}">
        <p14:creationId xmlns:p14="http://schemas.microsoft.com/office/powerpoint/2010/main" val="3491176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8433CF-16BE-B93D-FBB6-D70263C30D00}"/>
              </a:ext>
            </a:extLst>
          </p:cNvPr>
          <p:cNvSpPr txBox="1"/>
          <p:nvPr/>
        </p:nvSpPr>
        <p:spPr>
          <a:xfrm>
            <a:off x="629264" y="284739"/>
            <a:ext cx="11110452" cy="1323439"/>
          </a:xfrm>
          <a:prstGeom prst="rect">
            <a:avLst/>
          </a:prstGeom>
          <a:noFill/>
        </p:spPr>
        <p:txBody>
          <a:bodyPr wrap="square">
            <a:spAutoFit/>
          </a:bodyPr>
          <a:lstStyle/>
          <a:p>
            <a:pPr algn="just">
              <a:buNone/>
            </a:pPr>
            <a:r>
              <a:rPr lang="en-IN" sz="1600" b="1" dirty="0">
                <a:latin typeface="Times New Roman" panose="02020603050405020304" pitchFamily="18" charset="0"/>
                <a:ea typeface="Tahoma" panose="020B0604030504040204" pitchFamily="34" charset="0"/>
                <a:cs typeface="Times New Roman" panose="02020603050405020304" pitchFamily="18" charset="0"/>
              </a:rPr>
              <a:t>What is a Magnetic Disk?</a:t>
            </a:r>
          </a:p>
          <a:p>
            <a:pPr algn="just">
              <a:buNone/>
            </a:pPr>
            <a:r>
              <a:rPr lang="en-IN" sz="1600" dirty="0">
                <a:latin typeface="Times New Roman" panose="02020603050405020304" pitchFamily="18" charset="0"/>
                <a:ea typeface="Tahoma" panose="020B0604030504040204" pitchFamily="34" charset="0"/>
                <a:cs typeface="Times New Roman" panose="02020603050405020304" pitchFamily="18" charset="0"/>
              </a:rPr>
              <a:t>A magnetic disk is a non-volatile secondary storage device that stores data by magnetizing tiny regions on a rotating disk coated with magnetic material.</a:t>
            </a:r>
          </a:p>
          <a:p>
            <a:pPr algn="just">
              <a:buNone/>
            </a:pPr>
            <a:r>
              <a:rPr lang="en-IN" sz="1600" dirty="0">
                <a:latin typeface="Times New Roman" panose="02020603050405020304" pitchFamily="18" charset="0"/>
                <a:ea typeface="Tahoma" panose="020B0604030504040204" pitchFamily="34" charset="0"/>
                <a:cs typeface="Times New Roman" panose="02020603050405020304" pitchFamily="18" charset="0"/>
              </a:rPr>
              <a:t>A common example is the Hard Disk Drive (HDD) used in desktop computers, laptops, and servers.</a:t>
            </a:r>
          </a:p>
          <a:p>
            <a:pPr algn="just">
              <a:buNone/>
            </a:pPr>
            <a:endParaRPr lang="en-IN" sz="16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6" name="Picture 5" descr="Hard disk drive | Delta">
            <a:extLst>
              <a:ext uri="{FF2B5EF4-FFF2-40B4-BE49-F238E27FC236}">
                <a16:creationId xmlns:a16="http://schemas.microsoft.com/office/drawing/2014/main" id="{91033AC5-073F-EDFB-6D59-9799620F2332}"/>
              </a:ext>
            </a:extLst>
          </p:cNvPr>
          <p:cNvPicPr>
            <a:picLocks noChangeAspect="1"/>
          </p:cNvPicPr>
          <p:nvPr/>
        </p:nvPicPr>
        <p:blipFill>
          <a:blip r:embed="rId2"/>
          <a:stretch>
            <a:fillRect/>
          </a:stretch>
        </p:blipFill>
        <p:spPr>
          <a:xfrm>
            <a:off x="6796099" y="2608146"/>
            <a:ext cx="4499794" cy="3753466"/>
          </a:xfrm>
          <a:prstGeom prst="rect">
            <a:avLst/>
          </a:prstGeom>
        </p:spPr>
      </p:pic>
      <p:pic>
        <p:nvPicPr>
          <p:cNvPr id="7" name="Picture 6" descr="Hard Disk Drives 101 : 5 Steps - Instructables">
            <a:extLst>
              <a:ext uri="{FF2B5EF4-FFF2-40B4-BE49-F238E27FC236}">
                <a16:creationId xmlns:a16="http://schemas.microsoft.com/office/drawing/2014/main" id="{D7DF9FA1-6D57-24A1-9903-A240469F4565}"/>
              </a:ext>
            </a:extLst>
          </p:cNvPr>
          <p:cNvPicPr>
            <a:picLocks noChangeAspect="1"/>
          </p:cNvPicPr>
          <p:nvPr/>
        </p:nvPicPr>
        <p:blipFill>
          <a:blip r:embed="rId3"/>
          <a:stretch>
            <a:fillRect/>
          </a:stretch>
        </p:blipFill>
        <p:spPr>
          <a:xfrm>
            <a:off x="707923" y="2608146"/>
            <a:ext cx="4510107" cy="3581433"/>
          </a:xfrm>
          <a:prstGeom prst="rect">
            <a:avLst/>
          </a:prstGeom>
        </p:spPr>
      </p:pic>
    </p:spTree>
    <p:extLst>
      <p:ext uri="{BB962C8B-B14F-4D97-AF65-F5344CB8AC3E}">
        <p14:creationId xmlns:p14="http://schemas.microsoft.com/office/powerpoint/2010/main" val="1759932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C1E3BB-732C-7190-0701-6D5884991600}"/>
              </a:ext>
            </a:extLst>
          </p:cNvPr>
          <p:cNvSpPr txBox="1"/>
          <p:nvPr/>
        </p:nvSpPr>
        <p:spPr>
          <a:xfrm>
            <a:off x="875071" y="292072"/>
            <a:ext cx="6096000" cy="458074"/>
          </a:xfrm>
          <a:prstGeom prst="rect">
            <a:avLst/>
          </a:prstGeom>
          <a:noFill/>
        </p:spPr>
        <p:txBody>
          <a:bodyPr wrap="square">
            <a:spAutoFit/>
          </a:bodyPr>
          <a:lstStyle/>
          <a:p>
            <a:pPr marL="0" marR="0" indent="0" algn="just" fontAlgn="base">
              <a:lnSpc>
                <a:spcPct val="150000"/>
              </a:lnSpc>
              <a:spcBef>
                <a:spcPts val="1800"/>
              </a:spcBef>
              <a:spcAft>
                <a:spcPts val="1800"/>
              </a:spcAft>
              <a:buNone/>
            </a:pPr>
            <a:r>
              <a:rPr lang="en-IN" sz="1800" b="1" i="0" spc="12" dirty="0">
                <a:solidFill>
                  <a:schemeClr val="tx1"/>
                </a:solidFill>
                <a:effectLst/>
                <a:latin typeface="Times New Roman" panose="02020603050405020304" pitchFamily="18" charset="0"/>
                <a:cs typeface="Times New Roman" panose="02020603050405020304" pitchFamily="18" charset="0"/>
              </a:rPr>
              <a:t>Magnetic Tape</a:t>
            </a:r>
            <a:endParaRPr lang="en-IN" sz="1800" b="1" i="0" spc="0" dirty="0">
              <a:solidFill>
                <a:schemeClr val="tx1"/>
              </a:solidFill>
              <a:effectLst/>
              <a:latin typeface="Times New Roman" panose="02020603050405020304" pitchFamily="18" charset="0"/>
              <a:cs typeface="Times New Roman" panose="02020603050405020304" pitchFamily="18" charset="0"/>
            </a:endParaRPr>
          </a:p>
        </p:txBody>
      </p:sp>
      <p:pic>
        <p:nvPicPr>
          <p:cNvPr id="6" name="Picture 5" descr="IBM LTO6 Tape 00V7590 (5 PACK) 2.5TB ULTRIUM 6 DATA CARTRIDGE - Brand New | eBay">
            <a:extLst>
              <a:ext uri="{FF2B5EF4-FFF2-40B4-BE49-F238E27FC236}">
                <a16:creationId xmlns:a16="http://schemas.microsoft.com/office/drawing/2014/main" id="{97ACEF88-E5B4-183B-43C5-1072DD07346B}"/>
              </a:ext>
            </a:extLst>
          </p:cNvPr>
          <p:cNvPicPr>
            <a:picLocks noChangeAspect="1"/>
          </p:cNvPicPr>
          <p:nvPr/>
        </p:nvPicPr>
        <p:blipFill>
          <a:blip r:embed="rId2"/>
          <a:stretch>
            <a:fillRect/>
          </a:stretch>
        </p:blipFill>
        <p:spPr>
          <a:xfrm>
            <a:off x="3552227" y="248"/>
            <a:ext cx="4572998" cy="3428752"/>
          </a:xfrm>
          <a:prstGeom prst="rect">
            <a:avLst/>
          </a:prstGeom>
        </p:spPr>
      </p:pic>
      <p:pic>
        <p:nvPicPr>
          <p:cNvPr id="7" name="Picture 6" descr="Tech Insight : Magnetic Tape Proves Its Value In The AI Storage Era">
            <a:extLst>
              <a:ext uri="{FF2B5EF4-FFF2-40B4-BE49-F238E27FC236}">
                <a16:creationId xmlns:a16="http://schemas.microsoft.com/office/drawing/2014/main" id="{73E218B1-594E-B6BC-358A-6B2C4E458DB2}"/>
              </a:ext>
            </a:extLst>
          </p:cNvPr>
          <p:cNvPicPr>
            <a:picLocks noChangeAspect="1"/>
          </p:cNvPicPr>
          <p:nvPr/>
        </p:nvPicPr>
        <p:blipFill>
          <a:blip r:embed="rId3"/>
          <a:stretch>
            <a:fillRect/>
          </a:stretch>
        </p:blipFill>
        <p:spPr>
          <a:xfrm>
            <a:off x="8447428" y="3184359"/>
            <a:ext cx="3390958" cy="3390958"/>
          </a:xfrm>
          <a:prstGeom prst="rect">
            <a:avLst/>
          </a:prstGeom>
        </p:spPr>
      </p:pic>
      <p:pic>
        <p:nvPicPr>
          <p:cNvPr id="8" name="Picture 7" descr="Magnetic Reel &amp; Tape - Control Data, 3200 Computer System, Tape Transport, Model 604, 1964-1979">
            <a:extLst>
              <a:ext uri="{FF2B5EF4-FFF2-40B4-BE49-F238E27FC236}">
                <a16:creationId xmlns:a16="http://schemas.microsoft.com/office/drawing/2014/main" id="{EAAEE13C-77AA-9236-B60E-A7D715C506C9}"/>
              </a:ext>
            </a:extLst>
          </p:cNvPr>
          <p:cNvPicPr>
            <a:picLocks noChangeAspect="1"/>
          </p:cNvPicPr>
          <p:nvPr/>
        </p:nvPicPr>
        <p:blipFill>
          <a:blip r:embed="rId4"/>
          <a:stretch>
            <a:fillRect/>
          </a:stretch>
        </p:blipFill>
        <p:spPr>
          <a:xfrm>
            <a:off x="424092" y="3690646"/>
            <a:ext cx="4334721" cy="2739060"/>
          </a:xfrm>
          <a:prstGeom prst="rect">
            <a:avLst/>
          </a:prstGeom>
        </p:spPr>
      </p:pic>
    </p:spTree>
    <p:extLst>
      <p:ext uri="{BB962C8B-B14F-4D97-AF65-F5344CB8AC3E}">
        <p14:creationId xmlns:p14="http://schemas.microsoft.com/office/powerpoint/2010/main" val="2239733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8F9FA7-7DEE-1B26-C513-AD7723E03D74}"/>
              </a:ext>
            </a:extLst>
          </p:cNvPr>
          <p:cNvSpPr txBox="1"/>
          <p:nvPr/>
        </p:nvSpPr>
        <p:spPr>
          <a:xfrm>
            <a:off x="403123" y="217177"/>
            <a:ext cx="11208774" cy="461665"/>
          </a:xfrm>
          <a:prstGeom prst="rect">
            <a:avLst/>
          </a:prstGeom>
          <a:noFill/>
        </p:spPr>
        <p:txBody>
          <a:bodyPr wrap="square">
            <a:spAutoFit/>
          </a:bodyPr>
          <a:lstStyle/>
          <a:p>
            <a:pPr algn="l"/>
            <a:r>
              <a:rPr lang="en-IN" sz="2400" b="1" i="0" u="none" strike="noStrike" baseline="0" dirty="0">
                <a:latin typeface="Times New Roman" panose="02020603050405020304" pitchFamily="18" charset="0"/>
                <a:cs typeface="Times New Roman" panose="02020603050405020304" pitchFamily="18" charset="0"/>
              </a:rPr>
              <a:t>Memory Performance: Latency, Throughput, Bandwidth</a:t>
            </a:r>
            <a:endParaRPr lang="en-IN" sz="4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A3D613-ACA9-C073-28AE-98F9DACB2890}"/>
              </a:ext>
            </a:extLst>
          </p:cNvPr>
          <p:cNvSpPr txBox="1"/>
          <p:nvPr/>
        </p:nvSpPr>
        <p:spPr>
          <a:xfrm>
            <a:off x="403122" y="899084"/>
            <a:ext cx="11336593" cy="2951064"/>
          </a:xfrm>
          <a:prstGeom prst="rect">
            <a:avLst/>
          </a:prstGeom>
          <a:noFill/>
        </p:spPr>
        <p:txBody>
          <a:bodyPr wrap="square">
            <a:spAutoFit/>
          </a:bodyPr>
          <a:lstStyle/>
          <a:p>
            <a:pPr algn="just">
              <a:lnSpc>
                <a:spcPct val="150000"/>
              </a:lnSpc>
              <a:buNone/>
            </a:pPr>
            <a:r>
              <a:rPr lang="en-IN" dirty="0">
                <a:latin typeface="Times New Roman" panose="02020603050405020304" pitchFamily="18" charset="0"/>
                <a:cs typeface="Times New Roman" panose="02020603050405020304" pitchFamily="18" charset="0"/>
              </a:rPr>
              <a:t>Memory performance describes how efficiently a computer's memory system supplies data to the CPU. It helps us understand how quickly data can be accessed and how much data can be transferred in a given time.</a:t>
            </a:r>
          </a:p>
          <a:p>
            <a:pPr algn="just">
              <a:lnSpc>
                <a:spcPct val="150000"/>
              </a:lnSpc>
              <a:buNone/>
            </a:pPr>
            <a:endParaRPr lang="en-IN" dirty="0">
              <a:latin typeface="Times New Roman" panose="02020603050405020304" pitchFamily="18" charset="0"/>
              <a:cs typeface="Times New Roman" panose="02020603050405020304" pitchFamily="18" charset="0"/>
            </a:endParaRPr>
          </a:p>
          <a:p>
            <a:pPr algn="just">
              <a:lnSpc>
                <a:spcPct val="150000"/>
              </a:lnSpc>
              <a:buNone/>
            </a:pPr>
            <a:r>
              <a:rPr lang="en-IN" dirty="0">
                <a:latin typeface="Times New Roman" panose="02020603050405020304" pitchFamily="18" charset="0"/>
                <a:cs typeface="Times New Roman" panose="02020603050405020304" pitchFamily="18" charset="0"/>
              </a:rPr>
              <a:t>The three important parameters are:</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Latency – How long it takes to access data.</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Throughput – How much data is actually transferred per unit time.</a:t>
            </a:r>
          </a:p>
          <a:p>
            <a:pPr marL="342900" lvl="0" indent="-342900" algn="just">
              <a:lnSpc>
                <a:spcPct val="150000"/>
              </a:lnSpc>
              <a:buFont typeface="+mj-lt"/>
              <a:buAutoNum type="arabicPeriod"/>
            </a:pPr>
            <a:r>
              <a:rPr lang="en-IN" dirty="0">
                <a:latin typeface="Times New Roman" panose="02020603050405020304" pitchFamily="18" charset="0"/>
                <a:cs typeface="Times New Roman" panose="02020603050405020304" pitchFamily="18" charset="0"/>
              </a:rPr>
              <a:t>Bandwidth – How much data can be transferred per unit time under specified conditions.</a:t>
            </a:r>
          </a:p>
        </p:txBody>
      </p:sp>
    </p:spTree>
    <p:extLst>
      <p:ext uri="{BB962C8B-B14F-4D97-AF65-F5344CB8AC3E}">
        <p14:creationId xmlns:p14="http://schemas.microsoft.com/office/powerpoint/2010/main" val="3506405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B0DCA8-81AB-AC3B-EC95-ADDF852A688B}"/>
              </a:ext>
            </a:extLst>
          </p:cNvPr>
          <p:cNvSpPr txBox="1"/>
          <p:nvPr/>
        </p:nvSpPr>
        <p:spPr>
          <a:xfrm>
            <a:off x="747250" y="184337"/>
            <a:ext cx="11002297" cy="3099823"/>
          </a:xfrm>
          <a:prstGeom prst="rect">
            <a:avLst/>
          </a:prstGeom>
          <a:noFill/>
        </p:spPr>
        <p:txBody>
          <a:bodyPr wrap="square">
            <a:spAutoFit/>
          </a:bodyPr>
          <a:lstStyle/>
          <a:p>
            <a:pPr marL="0" marR="0" indent="0" algn="just" rtl="0" fontAlgn="base">
              <a:lnSpc>
                <a:spcPct val="150000"/>
              </a:lnSpc>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Latency and throughput are important concepts in system design that help measure how well a system performs. They are often used to evaluate speed, efficiency, and overall user experience.</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just" fontAlgn="base">
              <a:lnSpc>
                <a:spcPct val="150000"/>
              </a:lnSpc>
              <a:spcAft>
                <a:spcPts val="1800"/>
              </a:spcAft>
              <a:buFont typeface="Arial" panose="020B0604020202020204" pitchFamily="34" charset="0"/>
              <a:buChar char="•"/>
            </a:pPr>
            <a:r>
              <a:rPr lang="en-IN" sz="1800" b="0" i="0" spc="12" dirty="0">
                <a:solidFill>
                  <a:schemeClr val="tx1"/>
                </a:solidFill>
                <a:effectLst/>
                <a:latin typeface="Times New Roman" panose="02020603050405020304" pitchFamily="18" charset="0"/>
                <a:cs typeface="Times New Roman" panose="02020603050405020304" pitchFamily="18" charset="0"/>
              </a:rPr>
              <a:t>Latency tells how fast a system responds to a request.</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just" fontAlgn="base">
              <a:lnSpc>
                <a:spcPct val="150000"/>
              </a:lnSpc>
              <a:spcAft>
                <a:spcPts val="1800"/>
              </a:spcAft>
              <a:buFont typeface="Arial" panose="020B0604020202020204" pitchFamily="34" charset="0"/>
              <a:buChar char="•"/>
            </a:pPr>
            <a:r>
              <a:rPr lang="en-IN" sz="1800" b="0" i="0" spc="12" dirty="0">
                <a:solidFill>
                  <a:schemeClr val="tx1"/>
                </a:solidFill>
                <a:effectLst/>
                <a:latin typeface="Times New Roman" panose="02020603050405020304" pitchFamily="18" charset="0"/>
                <a:cs typeface="Times New Roman" panose="02020603050405020304" pitchFamily="18" charset="0"/>
              </a:rPr>
              <a:t>Throughput tells how much work a system can handle over time.</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algn="just">
              <a:lnSpc>
                <a:spcPct val="150000"/>
              </a:lnSpc>
              <a:buNone/>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descr="throughput">
            <a:extLst>
              <a:ext uri="{FF2B5EF4-FFF2-40B4-BE49-F238E27FC236}">
                <a16:creationId xmlns:a16="http://schemas.microsoft.com/office/drawing/2014/main" id="{95751AC2-7D0B-9E23-C82B-E66B62EB9CF5}"/>
              </a:ext>
            </a:extLst>
          </p:cNvPr>
          <p:cNvPicPr>
            <a:picLocks noChangeAspect="1"/>
          </p:cNvPicPr>
          <p:nvPr/>
        </p:nvPicPr>
        <p:blipFill>
          <a:blip r:embed="rId2"/>
          <a:stretch>
            <a:fillRect/>
          </a:stretch>
        </p:blipFill>
        <p:spPr>
          <a:xfrm>
            <a:off x="1809135" y="2386798"/>
            <a:ext cx="8573729" cy="4286865"/>
          </a:xfrm>
          <a:prstGeom prst="rect">
            <a:avLst/>
          </a:prstGeom>
        </p:spPr>
      </p:pic>
    </p:spTree>
    <p:extLst>
      <p:ext uri="{BB962C8B-B14F-4D97-AF65-F5344CB8AC3E}">
        <p14:creationId xmlns:p14="http://schemas.microsoft.com/office/powerpoint/2010/main" val="3384151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76175B-CAA6-74DF-8F5F-28565CEE473A}"/>
              </a:ext>
            </a:extLst>
          </p:cNvPr>
          <p:cNvSpPr txBox="1"/>
          <p:nvPr/>
        </p:nvSpPr>
        <p:spPr>
          <a:xfrm>
            <a:off x="521109" y="133905"/>
            <a:ext cx="11238271" cy="3447098"/>
          </a:xfrm>
          <a:prstGeom prst="rect">
            <a:avLst/>
          </a:prstGeom>
          <a:noFill/>
        </p:spPr>
        <p:txBody>
          <a:bodyPr wrap="square">
            <a:spAutoFit/>
          </a:bodyPr>
          <a:lstStyle/>
          <a:p>
            <a:pPr marL="0" marR="0" indent="0" algn="just" fontAlgn="base">
              <a:lnSpc>
                <a:spcPct val="100000"/>
              </a:lnSpc>
              <a:buNone/>
            </a:pPr>
            <a:r>
              <a:rPr lang="en-IN" sz="2400" b="1" i="0" spc="12" dirty="0">
                <a:solidFill>
                  <a:schemeClr val="tx1"/>
                </a:solidFill>
                <a:effectLst/>
                <a:latin typeface="Times New Roman" panose="02020603050405020304" pitchFamily="18" charset="0"/>
                <a:cs typeface="Times New Roman" panose="02020603050405020304" pitchFamily="18" charset="0"/>
              </a:rPr>
              <a:t>Latency</a:t>
            </a:r>
            <a:endParaRPr lang="en-IN" sz="1800" b="1" i="0" spc="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spcAft>
                <a:spcPts val="750"/>
              </a:spcAft>
              <a:buNone/>
            </a:pPr>
            <a:r>
              <a:rPr lang="en-IN" sz="1800" b="0" i="0" spc="12" dirty="0">
                <a:solidFill>
                  <a:schemeClr val="tx1"/>
                </a:solidFill>
                <a:effectLst/>
                <a:latin typeface="Times New Roman" panose="02020603050405020304" pitchFamily="18" charset="0"/>
                <a:cs typeface="Times New Roman" panose="02020603050405020304" pitchFamily="18" charset="0"/>
              </a:rPr>
              <a:t>Latency is the total time taken for a request to travel from the client to the server and back with a response. It represents the delay experienced in a system and directly impacts user experience. It includes multiple types of delays that occur during communication.</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1800" b="0" i="0" spc="12" dirty="0">
                <a:solidFill>
                  <a:schemeClr val="tx1"/>
                </a:solidFill>
                <a:effectLst/>
                <a:latin typeface="Times New Roman" panose="02020603050405020304" pitchFamily="18" charset="0"/>
                <a:cs typeface="Times New Roman" panose="02020603050405020304" pitchFamily="18" charset="0"/>
              </a:rPr>
              <a:t>Latency represents the delay between an action and its corresponding reaction.</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342900" marR="0" lvl="0" indent="-342900" algn="just" fontAlgn="base">
              <a:spcAft>
                <a:spcPts val="1800"/>
              </a:spcAft>
              <a:buFont typeface="Arial" panose="020B0604020202020204" pitchFamily="34" charset="0"/>
              <a:buChar char="•"/>
            </a:pPr>
            <a:r>
              <a:rPr lang="en-IN" sz="1800" b="0" i="0" spc="12" dirty="0">
                <a:solidFill>
                  <a:schemeClr val="tx1"/>
                </a:solidFill>
                <a:effectLst/>
                <a:latin typeface="Times New Roman" panose="02020603050405020304" pitchFamily="18" charset="0"/>
                <a:cs typeface="Times New Roman" panose="02020603050405020304" pitchFamily="18" charset="0"/>
              </a:rPr>
              <a:t>It can be measured in various units like seconds, milliseconds, and nanoseconds depending on the system and application.</a:t>
            </a:r>
            <a:endParaRPr lang="en-IN" sz="1800" b="0" i="0" spc="10" dirty="0">
              <a:solidFill>
                <a:schemeClr val="tx1"/>
              </a:solidFill>
              <a:effectLst/>
              <a:latin typeface="Times New Roman" panose="02020603050405020304" pitchFamily="18" charset="0"/>
              <a:cs typeface="Times New Roman" panose="02020603050405020304" pitchFamily="18" charset="0"/>
            </a:endParaRPr>
          </a:p>
          <a:p>
            <a:pPr marL="0" marR="0" indent="0" algn="just" rtl="0" fontAlgn="base">
              <a:spcBef>
                <a:spcPts val="750"/>
              </a:spcBef>
              <a:spcAft>
                <a:spcPts val="750"/>
              </a:spcAft>
              <a:buNone/>
            </a:pPr>
            <a:r>
              <a:rPr lang="en-IN" sz="1800" b="1" i="1" spc="10" dirty="0">
                <a:solidFill>
                  <a:schemeClr val="tx1"/>
                </a:solidFill>
                <a:effectLst/>
                <a:latin typeface="Times New Roman" panose="02020603050405020304" pitchFamily="18" charset="0"/>
                <a:cs typeface="Times New Roman" panose="02020603050405020304" pitchFamily="18" charset="0"/>
              </a:rPr>
              <a:t>Example:</a:t>
            </a:r>
            <a:r>
              <a:rPr lang="en-IN" sz="1800" b="0" i="1" spc="12" dirty="0">
                <a:solidFill>
                  <a:schemeClr val="tx1"/>
                </a:solidFill>
                <a:effectLst/>
                <a:latin typeface="Times New Roman" panose="02020603050405020304" pitchFamily="18" charset="0"/>
                <a:cs typeface="Times New Roman" panose="02020603050405020304" pitchFamily="18" charset="0"/>
              </a:rPr>
              <a:t> When you click a website link, the time between clicking and the page loading is the latency.</a:t>
            </a:r>
            <a:endParaRPr lang="en-IN" sz="1800" b="0" i="1" spc="10" dirty="0">
              <a:solidFill>
                <a:schemeClr val="tx1"/>
              </a:solidFill>
              <a:effectLst/>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p:txBody>
      </p:sp>
      <p:pic>
        <p:nvPicPr>
          <p:cNvPr id="4" name="Picture 3" descr="http_request">
            <a:extLst>
              <a:ext uri="{FF2B5EF4-FFF2-40B4-BE49-F238E27FC236}">
                <a16:creationId xmlns:a16="http://schemas.microsoft.com/office/drawing/2014/main" id="{D327065E-815C-8E95-F7ED-93206ECD008B}"/>
              </a:ext>
            </a:extLst>
          </p:cNvPr>
          <p:cNvPicPr>
            <a:picLocks noChangeAspect="1"/>
          </p:cNvPicPr>
          <p:nvPr/>
        </p:nvPicPr>
        <p:blipFill>
          <a:blip r:embed="rId2"/>
          <a:stretch>
            <a:fillRect/>
          </a:stretch>
        </p:blipFill>
        <p:spPr>
          <a:xfrm>
            <a:off x="2453150" y="3278267"/>
            <a:ext cx="6946490" cy="2891476"/>
          </a:xfrm>
          <a:prstGeom prst="rect">
            <a:avLst/>
          </a:prstGeom>
        </p:spPr>
      </p:pic>
      <p:sp>
        <p:nvSpPr>
          <p:cNvPr id="6" name="TextBox 5">
            <a:extLst>
              <a:ext uri="{FF2B5EF4-FFF2-40B4-BE49-F238E27FC236}">
                <a16:creationId xmlns:a16="http://schemas.microsoft.com/office/drawing/2014/main" id="{694D80F2-8427-BA0D-6BBD-6417FFBA9110}"/>
              </a:ext>
            </a:extLst>
          </p:cNvPr>
          <p:cNvSpPr txBox="1"/>
          <p:nvPr/>
        </p:nvSpPr>
        <p:spPr>
          <a:xfrm>
            <a:off x="5515897" y="6284960"/>
            <a:ext cx="6096000" cy="369332"/>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Latency</a:t>
            </a:r>
            <a:endParaRPr lang="en-IN" dirty="0"/>
          </a:p>
        </p:txBody>
      </p:sp>
    </p:spTree>
    <p:extLst>
      <p:ext uri="{BB962C8B-B14F-4D97-AF65-F5344CB8AC3E}">
        <p14:creationId xmlns:p14="http://schemas.microsoft.com/office/powerpoint/2010/main" val="7522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67A696-D713-14A3-10A7-C967FFA90671}"/>
              </a:ext>
            </a:extLst>
          </p:cNvPr>
          <p:cNvSpPr txBox="1"/>
          <p:nvPr/>
        </p:nvSpPr>
        <p:spPr>
          <a:xfrm>
            <a:off x="255640" y="195907"/>
            <a:ext cx="11582400" cy="6044219"/>
          </a:xfrm>
          <a:prstGeom prst="rect">
            <a:avLst/>
          </a:prstGeom>
          <a:noFill/>
        </p:spPr>
        <p:txBody>
          <a:bodyPr wrap="square">
            <a:spAutoFit/>
          </a:bodyPr>
          <a:lstStyle/>
          <a:p>
            <a:pPr algn="just">
              <a:lnSpc>
                <a:spcPct val="150000"/>
              </a:lnSpc>
              <a:buNone/>
            </a:pPr>
            <a:r>
              <a:rPr lang="en-IN" sz="2000" b="1" dirty="0">
                <a:latin typeface="Times New Roman" panose="02020603050405020304" pitchFamily="18" charset="0"/>
                <a:cs typeface="Times New Roman" panose="02020603050405020304" pitchFamily="18" charset="0"/>
              </a:rPr>
              <a:t>Throughput</a:t>
            </a:r>
            <a:endParaRPr lang="en-IN"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Definition: Memory throughput is the actual amount of data successfully transferred or processed by the memory system per unit of time.</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 simple words, throughput tells us how much data is actually transferred in a given time.</a:t>
            </a:r>
          </a:p>
          <a:p>
            <a:pPr algn="just">
              <a:lnSpc>
                <a:spcPct val="100000"/>
              </a:lnSpc>
              <a:buNone/>
            </a:pPr>
            <a:r>
              <a:rPr lang="en-IN" b="1" i="1" dirty="0"/>
              <a:t>Example:</a:t>
            </a:r>
            <a:r>
              <a:rPr lang="en-IN" i="1" dirty="0"/>
              <a:t> an ice-cream factory produces 50 ice-creams in an hour so the throughput of the factory is 50 ice-creams/hour.</a:t>
            </a:r>
            <a:endParaRPr lang="en-IN" b="1" dirty="0">
              <a:latin typeface="Times New Roman" panose="02020603050405020304" pitchFamily="18" charset="0"/>
              <a:cs typeface="Times New Roman" panose="02020603050405020304" pitchFamily="18" charset="0"/>
            </a:endParaRPr>
          </a:p>
          <a:p>
            <a:pPr algn="just">
              <a:lnSpc>
                <a:spcPct val="150000"/>
              </a:lnSpc>
              <a:buNone/>
            </a:pPr>
            <a:endParaRPr lang="en-IN" b="1" dirty="0">
              <a:latin typeface="Times New Roman" panose="02020603050405020304" pitchFamily="18" charset="0"/>
              <a:cs typeface="Times New Roman" panose="02020603050405020304" pitchFamily="18" charset="0"/>
            </a:endParaRPr>
          </a:p>
          <a:p>
            <a:pPr algn="just">
              <a:lnSpc>
                <a:spcPct val="150000"/>
              </a:lnSpc>
              <a:buNone/>
            </a:pPr>
            <a:r>
              <a:rPr lang="en-IN" b="1" dirty="0">
                <a:latin typeface="Times New Roman" panose="02020603050405020304" pitchFamily="18" charset="0"/>
                <a:cs typeface="Times New Roman" panose="02020603050405020304" pitchFamily="18" charset="0"/>
              </a:rPr>
              <a:t>Formula</a:t>
            </a:r>
          </a:p>
          <a:p>
            <a:pPr algn="just">
              <a:lnSpc>
                <a:spcPct val="150000"/>
              </a:lnSpc>
              <a:buNone/>
            </a:pPr>
            <a:endParaRPr lang="en-IN" b="1" dirty="0">
              <a:latin typeface="Times New Roman" panose="02020603050405020304" pitchFamily="18" charset="0"/>
              <a:cs typeface="Times New Roman" panose="02020603050405020304" pitchFamily="18" charset="0"/>
            </a:endParaRPr>
          </a:p>
          <a:p>
            <a:pPr algn="just">
              <a:lnSpc>
                <a:spcPct val="100000"/>
              </a:lnSpc>
              <a:buNone/>
            </a:pPr>
            <a:endParaRPr lang="en-IN" b="1" dirty="0">
              <a:latin typeface="Times New Roman" panose="02020603050405020304" pitchFamily="18" charset="0"/>
              <a:cs typeface="Times New Roman" panose="02020603050405020304" pitchFamily="18" charset="0"/>
            </a:endParaRPr>
          </a:p>
          <a:p>
            <a:pPr algn="just">
              <a:lnSpc>
                <a:spcPct val="150000"/>
              </a:lnSpc>
              <a:buNone/>
            </a:pPr>
            <a:endParaRPr lang="en-IN" b="1" dirty="0">
              <a:latin typeface="Times New Roman" panose="02020603050405020304" pitchFamily="18" charset="0"/>
              <a:cs typeface="Times New Roman" panose="02020603050405020304" pitchFamily="18" charset="0"/>
            </a:endParaRPr>
          </a:p>
          <a:p>
            <a:pPr algn="just">
              <a:lnSpc>
                <a:spcPct val="150000"/>
              </a:lnSpc>
              <a:buNone/>
            </a:pPr>
            <a:r>
              <a:rPr lang="en-IN" b="1" dirty="0">
                <a:latin typeface="Times New Roman" panose="02020603050405020304" pitchFamily="18" charset="0"/>
                <a:cs typeface="Times New Roman" panose="02020603050405020304" pitchFamily="18" charset="0"/>
              </a:rPr>
              <a:t>Example</a:t>
            </a:r>
          </a:p>
          <a:p>
            <a:pPr algn="just">
              <a:lnSpc>
                <a:spcPct val="150000"/>
              </a:lnSpc>
              <a:buNone/>
            </a:pPr>
            <a:r>
              <a:rPr lang="en-IN" dirty="0">
                <a:latin typeface="Times New Roman" panose="02020603050405020304" pitchFamily="18" charset="0"/>
                <a:cs typeface="Times New Roman" panose="02020603050405020304" pitchFamily="18" charset="0"/>
              </a:rPr>
              <a:t>Suppose a memory system transfers 600 MB of data in 2 seconds.</a:t>
            </a:r>
          </a:p>
          <a:p>
            <a:pPr algn="just">
              <a:lnSpc>
                <a:spcPct val="150000"/>
              </a:lnSpc>
              <a:buNone/>
            </a:pPr>
            <a:r>
              <a:rPr lang="en-IN" dirty="0">
                <a:latin typeface="Times New Roman" panose="02020603050405020304" pitchFamily="18" charset="0"/>
                <a:cs typeface="Times New Roman" panose="02020603050405020304" pitchFamily="18" charset="0"/>
              </a:rPr>
              <a:t>Therefore, the actual throughput is 300 MB/s.</a:t>
            </a:r>
          </a:p>
          <a:p>
            <a:pPr algn="just">
              <a:lnSpc>
                <a:spcPct val="150000"/>
              </a:lnSpc>
              <a:buNone/>
            </a:pPr>
            <a:endParaRPr lang="en-IN" dirty="0">
              <a:latin typeface="Times New Roman" panose="02020603050405020304" pitchFamily="18" charset="0"/>
              <a:cs typeface="Times New Roman" panose="02020603050405020304" pitchFamily="18" charset="0"/>
            </a:endParaRPr>
          </a:p>
          <a:p>
            <a:pPr algn="just">
              <a:lnSpc>
                <a:spcPct val="150000"/>
              </a:lnSpc>
              <a:buNone/>
            </a:pPr>
            <a:r>
              <a:rPr lang="en-IN" b="1" dirty="0">
                <a:solidFill>
                  <a:srgbClr val="FF0000"/>
                </a:solidFill>
                <a:latin typeface="Times New Roman" panose="02020603050405020304" pitchFamily="18" charset="0"/>
                <a:cs typeface="Times New Roman" panose="02020603050405020304" pitchFamily="18" charset="0"/>
              </a:rPr>
              <a:t>Key point: Higher throughput generally means more data is being transferred successfully per second.</a:t>
            </a:r>
          </a:p>
        </p:txBody>
      </p:sp>
      <p:pic>
        <p:nvPicPr>
          <p:cNvPr id="5" name="Picture 4">
            <a:extLst>
              <a:ext uri="{FF2B5EF4-FFF2-40B4-BE49-F238E27FC236}">
                <a16:creationId xmlns:a16="http://schemas.microsoft.com/office/drawing/2014/main" id="{CA27FFD6-D942-7C69-DAF2-727389FE2C57}"/>
              </a:ext>
            </a:extLst>
          </p:cNvPr>
          <p:cNvPicPr>
            <a:picLocks noChangeAspect="1"/>
          </p:cNvPicPr>
          <p:nvPr/>
        </p:nvPicPr>
        <p:blipFill>
          <a:blip r:embed="rId2"/>
          <a:stretch>
            <a:fillRect/>
          </a:stretch>
        </p:blipFill>
        <p:spPr>
          <a:xfrm>
            <a:off x="2649648" y="2682141"/>
            <a:ext cx="5216158" cy="1493717"/>
          </a:xfrm>
          <a:prstGeom prst="rect">
            <a:avLst/>
          </a:prstGeom>
        </p:spPr>
      </p:pic>
      <p:pic>
        <p:nvPicPr>
          <p:cNvPr id="7" name="Picture 6">
            <a:extLst>
              <a:ext uri="{FF2B5EF4-FFF2-40B4-BE49-F238E27FC236}">
                <a16:creationId xmlns:a16="http://schemas.microsoft.com/office/drawing/2014/main" id="{EFE64BB5-2405-D988-36FE-190B501003FB}"/>
              </a:ext>
            </a:extLst>
          </p:cNvPr>
          <p:cNvPicPr>
            <a:picLocks noChangeAspect="1"/>
          </p:cNvPicPr>
          <p:nvPr/>
        </p:nvPicPr>
        <p:blipFill>
          <a:blip r:embed="rId3"/>
          <a:stretch>
            <a:fillRect/>
          </a:stretch>
        </p:blipFill>
        <p:spPr>
          <a:xfrm>
            <a:off x="7056146" y="4408057"/>
            <a:ext cx="4386958" cy="1024427"/>
          </a:xfrm>
          <a:prstGeom prst="rect">
            <a:avLst/>
          </a:prstGeom>
        </p:spPr>
      </p:pic>
    </p:spTree>
    <p:extLst>
      <p:ext uri="{BB962C8B-B14F-4D97-AF65-F5344CB8AC3E}">
        <p14:creationId xmlns:p14="http://schemas.microsoft.com/office/powerpoint/2010/main" val="1167212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AB95B0-302B-E972-980D-1B69A9A1B419}"/>
              </a:ext>
            </a:extLst>
          </p:cNvPr>
          <p:cNvSpPr txBox="1"/>
          <p:nvPr/>
        </p:nvSpPr>
        <p:spPr>
          <a:xfrm>
            <a:off x="560439" y="321483"/>
            <a:ext cx="11120283" cy="3947491"/>
          </a:xfrm>
          <a:prstGeom prst="rect">
            <a:avLst/>
          </a:prstGeom>
          <a:noFill/>
        </p:spPr>
        <p:txBody>
          <a:bodyPr wrap="square">
            <a:spAutoFit/>
          </a:bodyPr>
          <a:lstStyle/>
          <a:p>
            <a:pPr marL="0" marR="0" indent="0" algn="just" fontAlgn="base">
              <a:lnSpc>
                <a:spcPct val="200000"/>
              </a:lnSpc>
              <a:buNone/>
            </a:pPr>
            <a:r>
              <a:rPr lang="en-IN" sz="2000" b="1" i="0" dirty="0">
                <a:solidFill>
                  <a:schemeClr val="tx1"/>
                </a:solidFill>
                <a:effectLst/>
                <a:latin typeface="Times New Roman" panose="02020603050405020304" pitchFamily="18" charset="0"/>
                <a:cs typeface="Times New Roman" panose="02020603050405020304" pitchFamily="18" charset="0"/>
              </a:rPr>
              <a:t>Memory Bandwidth</a:t>
            </a:r>
          </a:p>
          <a:p>
            <a:pPr marL="285750" indent="-285750" algn="just" fontAlgn="base">
              <a:lnSpc>
                <a:spcPct val="200000"/>
              </a:lnSpc>
              <a:buFont typeface="Arial" panose="020B0604020202020204" pitchFamily="34" charset="0"/>
              <a:buChar char="•"/>
            </a:pPr>
            <a:r>
              <a:rPr lang="en-IN" u="sng" dirty="0">
                <a:latin typeface="Times New Roman" panose="02020603050405020304" pitchFamily="18" charset="0"/>
                <a:cs typeface="Times New Roman" panose="02020603050405020304" pitchFamily="18" charset="0"/>
              </a:rPr>
              <a:t>Memory bandwidth refers to the rate at which data can be transferred between memory </a:t>
            </a:r>
            <a:r>
              <a:rPr lang="en-IN" dirty="0">
                <a:latin typeface="Times New Roman" panose="02020603050405020304" pitchFamily="18" charset="0"/>
                <a:cs typeface="Times New Roman" panose="02020603050405020304" pitchFamily="18" charset="0"/>
              </a:rPr>
              <a:t>(such as DRAM, VRAM, or high bandwidth memory (HBM)) </a:t>
            </a:r>
            <a:r>
              <a:rPr lang="en-IN" u="sng" dirty="0">
                <a:latin typeface="Times New Roman" panose="02020603050405020304" pitchFamily="18" charset="0"/>
                <a:cs typeface="Times New Roman" panose="02020603050405020304" pitchFamily="18" charset="0"/>
              </a:rPr>
              <a:t>and processing units such as CPUs, GPUs</a:t>
            </a:r>
            <a:r>
              <a:rPr lang="en-IN" dirty="0">
                <a:latin typeface="Times New Roman" panose="02020603050405020304" pitchFamily="18" charset="0"/>
                <a:cs typeface="Times New Roman" panose="02020603050405020304" pitchFamily="18" charset="0"/>
              </a:rPr>
              <a:t>. </a:t>
            </a:r>
          </a:p>
          <a:p>
            <a:pPr marL="285750" indent="-285750" algn="just" fontAlgn="base">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simple words, bandwidth tells us how much data the memory system can transfer per second.</a:t>
            </a:r>
            <a:endParaRPr lang="en-IN" dirty="0">
              <a:latin typeface="Times New Roman" panose="02020603050405020304" pitchFamily="18" charset="0"/>
              <a:cs typeface="Times New Roman" panose="02020603050405020304" pitchFamily="18" charset="0"/>
            </a:endParaRPr>
          </a:p>
          <a:p>
            <a:pPr marL="285750" indent="-285750" algn="just" fontAlgn="base">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is typically measured in gigabytes per second (GB/s) and represents the maximum amount of data that can be read from or written to memory within a given timeframe. </a:t>
            </a:r>
          </a:p>
          <a:p>
            <a:pPr marL="285750" indent="-285750" algn="just" fontAlgn="base">
              <a:lnSpc>
                <a:spcPct val="20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Think of it as a highway for data; the wider the highway, the more data can travel at once.</a:t>
            </a:r>
            <a:endParaRPr lang="en-IN" sz="2000" b="0" i="0" dirty="0">
              <a:solidFill>
                <a:srgbClr val="012A58"/>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4006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459C26-F642-C179-064E-E9C35E54AEB0}"/>
              </a:ext>
            </a:extLst>
          </p:cNvPr>
          <p:cNvSpPr txBox="1"/>
          <p:nvPr/>
        </p:nvSpPr>
        <p:spPr>
          <a:xfrm>
            <a:off x="381369" y="231339"/>
            <a:ext cx="6096000" cy="5632311"/>
          </a:xfrm>
          <a:prstGeom prst="rect">
            <a:avLst/>
          </a:prstGeom>
          <a:noFill/>
        </p:spPr>
        <p:txBody>
          <a:bodyPr wrap="square">
            <a:spAutoFit/>
          </a:bodyPr>
          <a:lstStyle/>
          <a:p>
            <a:pPr algn="just">
              <a:buNone/>
            </a:pPr>
            <a:r>
              <a:rPr lang="en-IN" b="1" dirty="0">
                <a:latin typeface="Times New Roman" panose="02020603050405020304" pitchFamily="18" charset="0"/>
                <a:cs typeface="Times New Roman" panose="02020603050405020304" pitchFamily="18" charset="0"/>
              </a:rPr>
              <a:t>Real-Life Example: Highway Analogy</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Latency = Waiting time</a:t>
            </a:r>
          </a:p>
          <a:p>
            <a:pPr algn="just">
              <a:buNone/>
            </a:pPr>
            <a:r>
              <a:rPr lang="en-IN" dirty="0">
                <a:latin typeface="Times New Roman" panose="02020603050405020304" pitchFamily="18" charset="0"/>
                <a:cs typeface="Times New Roman" panose="02020603050405020304" pitchFamily="18" charset="0"/>
              </a:rPr>
              <a:t>How long does one car wait before passing through the toll booth?</a:t>
            </a: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Bandwidth = Highway capacity</a:t>
            </a:r>
          </a:p>
          <a:p>
            <a:pPr algn="just">
              <a:buNone/>
            </a:pPr>
            <a:r>
              <a:rPr lang="en-IN" dirty="0">
                <a:latin typeface="Times New Roman" panose="02020603050405020304" pitchFamily="18" charset="0"/>
                <a:cs typeface="Times New Roman" panose="02020603050405020304" pitchFamily="18" charset="0"/>
              </a:rPr>
              <a:t>How many cars per second could pass through under ideal conditions?</a:t>
            </a: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dirty="0">
              <a:latin typeface="Times New Roman" panose="02020603050405020304" pitchFamily="18" charset="0"/>
              <a:cs typeface="Times New Roman" panose="02020603050405020304" pitchFamily="18" charset="0"/>
            </a:endParaRPr>
          </a:p>
          <a:p>
            <a:pPr algn="just">
              <a:buNone/>
            </a:pPr>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Throughput = Actual traffic flow</a:t>
            </a:r>
          </a:p>
          <a:p>
            <a:pPr algn="just">
              <a:buNone/>
            </a:pPr>
            <a:r>
              <a:rPr lang="en-IN" dirty="0">
                <a:latin typeface="Times New Roman" panose="02020603050405020304" pitchFamily="18" charset="0"/>
                <a:cs typeface="Times New Roman" panose="02020603050405020304" pitchFamily="18" charset="0"/>
              </a:rPr>
              <a:t>How many cars per second actually pass through?</a:t>
            </a:r>
          </a:p>
        </p:txBody>
      </p:sp>
      <p:pic>
        <p:nvPicPr>
          <p:cNvPr id="4" name="Picture 3" descr="Visit World - Polska kończy bezwizową ścieżkę do pracy dla Kolumbii, Gruzji i Wenezueli: Nowe zasady od sierpnia 2026">
            <a:extLst>
              <a:ext uri="{FF2B5EF4-FFF2-40B4-BE49-F238E27FC236}">
                <a16:creationId xmlns:a16="http://schemas.microsoft.com/office/drawing/2014/main" id="{76F01FEA-94A8-20D6-8D6F-A60CF649079C}"/>
              </a:ext>
            </a:extLst>
          </p:cNvPr>
          <p:cNvPicPr>
            <a:picLocks noChangeAspect="1"/>
          </p:cNvPicPr>
          <p:nvPr/>
        </p:nvPicPr>
        <p:blipFill>
          <a:blip r:embed="rId2"/>
          <a:stretch>
            <a:fillRect/>
          </a:stretch>
        </p:blipFill>
        <p:spPr>
          <a:xfrm>
            <a:off x="6832449" y="353762"/>
            <a:ext cx="2921451" cy="2109937"/>
          </a:xfrm>
          <a:prstGeom prst="rect">
            <a:avLst/>
          </a:prstGeom>
        </p:spPr>
      </p:pic>
      <p:pic>
        <p:nvPicPr>
          <p:cNvPr id="5" name="Picture 4" descr="Импортозаместили систему мониторинга транспорта: новый спутник представила АФК «Система»">
            <a:extLst>
              <a:ext uri="{FF2B5EF4-FFF2-40B4-BE49-F238E27FC236}">
                <a16:creationId xmlns:a16="http://schemas.microsoft.com/office/drawing/2014/main" id="{4FF2B431-5198-0F32-089E-56DF244264E6}"/>
              </a:ext>
            </a:extLst>
          </p:cNvPr>
          <p:cNvPicPr>
            <a:picLocks noChangeAspect="1"/>
          </p:cNvPicPr>
          <p:nvPr/>
        </p:nvPicPr>
        <p:blipFill>
          <a:blip r:embed="rId3"/>
          <a:stretch>
            <a:fillRect/>
          </a:stretch>
        </p:blipFill>
        <p:spPr>
          <a:xfrm>
            <a:off x="6832449" y="2532785"/>
            <a:ext cx="2957720" cy="2218290"/>
          </a:xfrm>
          <a:prstGeom prst="rect">
            <a:avLst/>
          </a:prstGeom>
        </p:spPr>
      </p:pic>
      <p:pic>
        <p:nvPicPr>
          <p:cNvPr id="6" name="Picture 5" descr="Pedágios ficarão mais caros em rodovias de SP a partir da semana que vem; veja valores">
            <a:extLst>
              <a:ext uri="{FF2B5EF4-FFF2-40B4-BE49-F238E27FC236}">
                <a16:creationId xmlns:a16="http://schemas.microsoft.com/office/drawing/2014/main" id="{0C4903B7-45A1-108C-43D8-6D0E59FAEEB4}"/>
              </a:ext>
            </a:extLst>
          </p:cNvPr>
          <p:cNvPicPr>
            <a:picLocks noChangeAspect="1"/>
          </p:cNvPicPr>
          <p:nvPr/>
        </p:nvPicPr>
        <p:blipFill>
          <a:blip r:embed="rId4"/>
          <a:stretch>
            <a:fillRect/>
          </a:stretch>
        </p:blipFill>
        <p:spPr>
          <a:xfrm>
            <a:off x="6832449" y="4844730"/>
            <a:ext cx="3100426" cy="2037839"/>
          </a:xfrm>
          <a:prstGeom prst="rect">
            <a:avLst/>
          </a:prstGeom>
        </p:spPr>
      </p:pic>
    </p:spTree>
    <p:extLst>
      <p:ext uri="{BB962C8B-B14F-4D97-AF65-F5344CB8AC3E}">
        <p14:creationId xmlns:p14="http://schemas.microsoft.com/office/powerpoint/2010/main" val="1989124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E06BAD0-07E1-4786-2C68-89692597E814}"/>
              </a:ext>
            </a:extLst>
          </p:cNvPr>
          <p:cNvGraphicFramePr>
            <a:graphicFrameLocks noGrp="1"/>
          </p:cNvGraphicFramePr>
          <p:nvPr>
            <p:extLst>
              <p:ext uri="{D42A27DB-BD31-4B8C-83A1-F6EECF244321}">
                <p14:modId xmlns:p14="http://schemas.microsoft.com/office/powerpoint/2010/main" val="701328288"/>
              </p:ext>
            </p:extLst>
          </p:nvPr>
        </p:nvGraphicFramePr>
        <p:xfrm>
          <a:off x="730045" y="1325880"/>
          <a:ext cx="10515600" cy="4101527"/>
        </p:xfrm>
        <a:graphic>
          <a:graphicData uri="http://schemas.openxmlformats.org/drawingml/2006/table">
            <a:tbl>
              <a:tblPr>
                <a:tableStyleId>{5C22544A-7EE6-4342-B048-85BDC9FD1C3A}</a:tableStyleId>
              </a:tblPr>
              <a:tblGrid>
                <a:gridCol w="2628900">
                  <a:extLst>
                    <a:ext uri="{9D8B030D-6E8A-4147-A177-3AD203B41FA5}">
                      <a16:colId xmlns:a16="http://schemas.microsoft.com/office/drawing/2014/main" val="1693069121"/>
                    </a:ext>
                  </a:extLst>
                </a:gridCol>
                <a:gridCol w="2628900">
                  <a:extLst>
                    <a:ext uri="{9D8B030D-6E8A-4147-A177-3AD203B41FA5}">
                      <a16:colId xmlns:a16="http://schemas.microsoft.com/office/drawing/2014/main" val="2632906140"/>
                    </a:ext>
                  </a:extLst>
                </a:gridCol>
                <a:gridCol w="2628900">
                  <a:extLst>
                    <a:ext uri="{9D8B030D-6E8A-4147-A177-3AD203B41FA5}">
                      <a16:colId xmlns:a16="http://schemas.microsoft.com/office/drawing/2014/main" val="2449663378"/>
                    </a:ext>
                  </a:extLst>
                </a:gridCol>
                <a:gridCol w="2628900">
                  <a:extLst>
                    <a:ext uri="{9D8B030D-6E8A-4147-A177-3AD203B41FA5}">
                      <a16:colId xmlns:a16="http://schemas.microsoft.com/office/drawing/2014/main" val="2446422119"/>
                    </a:ext>
                  </a:extLst>
                </a:gridCol>
              </a:tblGrid>
              <a:tr h="713309">
                <a:tc>
                  <a:txBody>
                    <a:bodyPr/>
                    <a:lstStyle/>
                    <a:p>
                      <a:pPr>
                        <a:buNone/>
                      </a:pPr>
                      <a:r>
                        <a:rPr lang="en-IN"/>
                        <a:t>Parameter</a:t>
                      </a:r>
                    </a:p>
                  </a:txBody>
                  <a:tcPr anchor="ctr"/>
                </a:tc>
                <a:tc>
                  <a:txBody>
                    <a:bodyPr/>
                    <a:lstStyle/>
                    <a:p>
                      <a:pPr>
                        <a:buNone/>
                      </a:pPr>
                      <a:r>
                        <a:rPr lang="en-IN"/>
                        <a:t>Latency</a:t>
                      </a:r>
                    </a:p>
                  </a:txBody>
                  <a:tcPr anchor="ctr"/>
                </a:tc>
                <a:tc>
                  <a:txBody>
                    <a:bodyPr/>
                    <a:lstStyle/>
                    <a:p>
                      <a:pPr>
                        <a:buNone/>
                      </a:pPr>
                      <a:r>
                        <a:rPr lang="en-IN"/>
                        <a:t>Throughput</a:t>
                      </a:r>
                    </a:p>
                  </a:txBody>
                  <a:tcPr anchor="ctr"/>
                </a:tc>
                <a:tc>
                  <a:txBody>
                    <a:bodyPr/>
                    <a:lstStyle/>
                    <a:p>
                      <a:pPr>
                        <a:buNone/>
                      </a:pPr>
                      <a:r>
                        <a:rPr lang="en-IN"/>
                        <a:t>Bandwidth</a:t>
                      </a:r>
                    </a:p>
                  </a:txBody>
                  <a:tcPr anchor="ctr"/>
                </a:tc>
                <a:extLst>
                  <a:ext uri="{0D108BD9-81ED-4DB2-BD59-A6C34878D82A}">
                    <a16:rowId xmlns:a16="http://schemas.microsoft.com/office/drawing/2014/main" val="258689281"/>
                  </a:ext>
                </a:extLst>
              </a:tr>
              <a:tr h="1248291">
                <a:tc>
                  <a:txBody>
                    <a:bodyPr/>
                    <a:lstStyle/>
                    <a:p>
                      <a:pPr>
                        <a:buNone/>
                      </a:pPr>
                      <a:r>
                        <a:rPr lang="en-IN"/>
                        <a:t>Meaning</a:t>
                      </a:r>
                    </a:p>
                  </a:txBody>
                  <a:tcPr anchor="ctr"/>
                </a:tc>
                <a:tc>
                  <a:txBody>
                    <a:bodyPr/>
                    <a:lstStyle/>
                    <a:p>
                      <a:pPr>
                        <a:buNone/>
                      </a:pPr>
                      <a:r>
                        <a:rPr lang="en-IN"/>
                        <a:t>Time required to access data</a:t>
                      </a:r>
                    </a:p>
                  </a:txBody>
                  <a:tcPr anchor="ctr"/>
                </a:tc>
                <a:tc>
                  <a:txBody>
                    <a:bodyPr/>
                    <a:lstStyle/>
                    <a:p>
                      <a:pPr>
                        <a:buNone/>
                      </a:pPr>
                      <a:r>
                        <a:rPr lang="en-IN"/>
                        <a:t>Actual data transferred per unit time</a:t>
                      </a:r>
                    </a:p>
                  </a:txBody>
                  <a:tcPr anchor="ctr"/>
                </a:tc>
                <a:tc>
                  <a:txBody>
                    <a:bodyPr/>
                    <a:lstStyle/>
                    <a:p>
                      <a:pPr>
                        <a:buNone/>
                      </a:pPr>
                      <a:r>
                        <a:rPr lang="en-IN"/>
                        <a:t>Data-transfer capacity per unit time</a:t>
                      </a:r>
                    </a:p>
                  </a:txBody>
                  <a:tcPr anchor="ctr"/>
                </a:tc>
                <a:extLst>
                  <a:ext uri="{0D108BD9-81ED-4DB2-BD59-A6C34878D82A}">
                    <a16:rowId xmlns:a16="http://schemas.microsoft.com/office/drawing/2014/main" val="3772718076"/>
                  </a:ext>
                </a:extLst>
              </a:tr>
              <a:tr h="713309">
                <a:tc>
                  <a:txBody>
                    <a:bodyPr/>
                    <a:lstStyle/>
                    <a:p>
                      <a:pPr>
                        <a:buNone/>
                      </a:pPr>
                      <a:r>
                        <a:rPr lang="en-IN"/>
                        <a:t>Measures</a:t>
                      </a:r>
                    </a:p>
                  </a:txBody>
                  <a:tcPr anchor="ctr"/>
                </a:tc>
                <a:tc>
                  <a:txBody>
                    <a:bodyPr/>
                    <a:lstStyle/>
                    <a:p>
                      <a:pPr>
                        <a:buNone/>
                      </a:pPr>
                      <a:r>
                        <a:rPr lang="en-IN" dirty="0"/>
                        <a:t>Delay</a:t>
                      </a:r>
                    </a:p>
                  </a:txBody>
                  <a:tcPr anchor="ctr"/>
                </a:tc>
                <a:tc>
                  <a:txBody>
                    <a:bodyPr/>
                    <a:lstStyle/>
                    <a:p>
                      <a:pPr>
                        <a:buNone/>
                      </a:pPr>
                      <a:r>
                        <a:rPr lang="en-IN"/>
                        <a:t>Actual performance</a:t>
                      </a:r>
                    </a:p>
                  </a:txBody>
                  <a:tcPr anchor="ctr"/>
                </a:tc>
                <a:tc>
                  <a:txBody>
                    <a:bodyPr/>
                    <a:lstStyle/>
                    <a:p>
                      <a:pPr>
                        <a:buNone/>
                      </a:pPr>
                      <a:r>
                        <a:rPr lang="en-IN"/>
                        <a:t>Transfer capability</a:t>
                      </a:r>
                    </a:p>
                  </a:txBody>
                  <a:tcPr anchor="ctr"/>
                </a:tc>
                <a:extLst>
                  <a:ext uri="{0D108BD9-81ED-4DB2-BD59-A6C34878D82A}">
                    <a16:rowId xmlns:a16="http://schemas.microsoft.com/office/drawing/2014/main" val="3027995993"/>
                  </a:ext>
                </a:extLst>
              </a:tr>
              <a:tr h="713309">
                <a:tc>
                  <a:txBody>
                    <a:bodyPr/>
                    <a:lstStyle/>
                    <a:p>
                      <a:pPr>
                        <a:buNone/>
                      </a:pPr>
                      <a:r>
                        <a:rPr lang="en-IN"/>
                        <a:t>Unit</a:t>
                      </a:r>
                    </a:p>
                  </a:txBody>
                  <a:tcPr anchor="ctr"/>
                </a:tc>
                <a:tc>
                  <a:txBody>
                    <a:bodyPr/>
                    <a:lstStyle/>
                    <a:p>
                      <a:pPr>
                        <a:buNone/>
                      </a:pPr>
                      <a:r>
                        <a:rPr lang="en-IN"/>
                        <a:t>ns, clock cycles</a:t>
                      </a:r>
                    </a:p>
                  </a:txBody>
                  <a:tcPr anchor="ctr"/>
                </a:tc>
                <a:tc>
                  <a:txBody>
                    <a:bodyPr/>
                    <a:lstStyle/>
                    <a:p>
                      <a:pPr>
                        <a:buNone/>
                      </a:pPr>
                      <a:r>
                        <a:rPr lang="en-IN"/>
                        <a:t>MB/s, GB/s</a:t>
                      </a:r>
                    </a:p>
                  </a:txBody>
                  <a:tcPr anchor="ctr"/>
                </a:tc>
                <a:tc>
                  <a:txBody>
                    <a:bodyPr/>
                    <a:lstStyle/>
                    <a:p>
                      <a:pPr>
                        <a:buNone/>
                      </a:pPr>
                      <a:r>
                        <a:rPr lang="en-IN"/>
                        <a:t>MB/s, GB/s</a:t>
                      </a:r>
                    </a:p>
                  </a:txBody>
                  <a:tcPr anchor="ctr"/>
                </a:tc>
                <a:extLst>
                  <a:ext uri="{0D108BD9-81ED-4DB2-BD59-A6C34878D82A}">
                    <a16:rowId xmlns:a16="http://schemas.microsoft.com/office/drawing/2014/main" val="2258392725"/>
                  </a:ext>
                </a:extLst>
              </a:tr>
              <a:tr h="713309">
                <a:tc>
                  <a:txBody>
                    <a:bodyPr/>
                    <a:lstStyle/>
                    <a:p>
                      <a:pPr>
                        <a:buNone/>
                      </a:pPr>
                      <a:r>
                        <a:rPr lang="en-IN"/>
                        <a:t>Desired value</a:t>
                      </a:r>
                    </a:p>
                  </a:txBody>
                  <a:tcPr anchor="ctr"/>
                </a:tc>
                <a:tc>
                  <a:txBody>
                    <a:bodyPr/>
                    <a:lstStyle/>
                    <a:p>
                      <a:pPr>
                        <a:buNone/>
                      </a:pPr>
                      <a:r>
                        <a:rPr lang="en-IN"/>
                        <a:t>Low</a:t>
                      </a:r>
                    </a:p>
                  </a:txBody>
                  <a:tcPr anchor="ctr"/>
                </a:tc>
                <a:tc>
                  <a:txBody>
                    <a:bodyPr/>
                    <a:lstStyle/>
                    <a:p>
                      <a:pPr>
                        <a:buNone/>
                      </a:pPr>
                      <a:r>
                        <a:rPr lang="en-IN"/>
                        <a:t>High</a:t>
                      </a:r>
                    </a:p>
                  </a:txBody>
                  <a:tcPr anchor="ctr"/>
                </a:tc>
                <a:tc>
                  <a:txBody>
                    <a:bodyPr/>
                    <a:lstStyle/>
                    <a:p>
                      <a:pPr>
                        <a:buNone/>
                      </a:pPr>
                      <a:r>
                        <a:rPr lang="en-IN" dirty="0"/>
                        <a:t>High</a:t>
                      </a:r>
                    </a:p>
                  </a:txBody>
                  <a:tcPr anchor="ctr"/>
                </a:tc>
                <a:extLst>
                  <a:ext uri="{0D108BD9-81ED-4DB2-BD59-A6C34878D82A}">
                    <a16:rowId xmlns:a16="http://schemas.microsoft.com/office/drawing/2014/main" val="2037270226"/>
                  </a:ext>
                </a:extLst>
              </a:tr>
            </a:tbl>
          </a:graphicData>
        </a:graphic>
      </p:graphicFrame>
      <p:sp>
        <p:nvSpPr>
          <p:cNvPr id="4" name="TextBox 3">
            <a:extLst>
              <a:ext uri="{FF2B5EF4-FFF2-40B4-BE49-F238E27FC236}">
                <a16:creationId xmlns:a16="http://schemas.microsoft.com/office/drawing/2014/main" id="{33548C8C-B756-8090-73C7-C8B6F97B973A}"/>
              </a:ext>
            </a:extLst>
          </p:cNvPr>
          <p:cNvSpPr txBox="1"/>
          <p:nvPr/>
        </p:nvSpPr>
        <p:spPr>
          <a:xfrm>
            <a:off x="609600" y="365941"/>
            <a:ext cx="9055510" cy="400110"/>
          </a:xfrm>
          <a:prstGeom prst="rect">
            <a:avLst/>
          </a:prstGeom>
          <a:noFill/>
        </p:spPr>
        <p:txBody>
          <a:bodyPr wrap="square">
            <a:spAutoFit/>
          </a:bodyPr>
          <a:lstStyle/>
          <a:p>
            <a:pPr>
              <a:buNone/>
            </a:pPr>
            <a:r>
              <a:rPr lang="en-IN" sz="2000" b="1" dirty="0"/>
              <a:t>Difference Between Latency, Throughput and Bandwidth</a:t>
            </a:r>
          </a:p>
        </p:txBody>
      </p:sp>
    </p:spTree>
    <p:extLst>
      <p:ext uri="{BB962C8B-B14F-4D97-AF65-F5344CB8AC3E}">
        <p14:creationId xmlns:p14="http://schemas.microsoft.com/office/powerpoint/2010/main" val="1274759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4AEF42-C764-65A9-D5AC-6080071FE771}"/>
              </a:ext>
            </a:extLst>
          </p:cNvPr>
          <p:cNvSpPr txBox="1"/>
          <p:nvPr/>
        </p:nvSpPr>
        <p:spPr>
          <a:xfrm>
            <a:off x="786581" y="339143"/>
            <a:ext cx="10314038" cy="3200876"/>
          </a:xfrm>
          <a:prstGeom prst="rect">
            <a:avLst/>
          </a:prstGeom>
          <a:noFill/>
        </p:spPr>
        <p:txBody>
          <a:bodyPr wrap="square">
            <a:spAutoFit/>
          </a:bodyPr>
          <a:lstStyle/>
          <a:p>
            <a:pPr rtl="0">
              <a:buNone/>
            </a:pPr>
            <a:r>
              <a:rPr lang="en-IN" sz="1800" b="1" i="0" u="none" strike="noStrike" dirty="0">
                <a:solidFill>
                  <a:schemeClr val="tx1"/>
                </a:solidFill>
                <a:effectLst/>
                <a:latin typeface="+mn-lt"/>
              </a:rPr>
              <a:t>Memory Technologies: Overview of Main Memory Technologies</a:t>
            </a:r>
            <a:endParaRPr lang="en-IN" dirty="0">
              <a:effectLst/>
            </a:endParaRPr>
          </a:p>
          <a:p>
            <a:pPr rtl="0">
              <a:spcBef>
                <a:spcPts val="1800"/>
              </a:spcBef>
              <a:buNone/>
            </a:pPr>
            <a:r>
              <a:rPr lang="en-IN" sz="1800" b="0" i="0" u="none" strike="noStrike" dirty="0">
                <a:solidFill>
                  <a:schemeClr val="tx1"/>
                </a:solidFill>
                <a:effectLst/>
                <a:latin typeface="+mn-lt"/>
              </a:rPr>
              <a:t>1. </a:t>
            </a:r>
            <a:r>
              <a:rPr lang="en-IN" sz="1800" b="1" i="0" u="none" strike="noStrike" dirty="0">
                <a:solidFill>
                  <a:schemeClr val="tx1"/>
                </a:solidFill>
                <a:effectLst/>
                <a:latin typeface="+mn-lt"/>
              </a:rPr>
              <a:t>Introduction</a:t>
            </a:r>
            <a:endParaRPr lang="en-IN" b="1" dirty="0">
              <a:effectLst/>
            </a:endParaRPr>
          </a:p>
          <a:p>
            <a:pPr rtl="0">
              <a:spcBef>
                <a:spcPts val="600"/>
              </a:spcBef>
              <a:buNone/>
            </a:pPr>
            <a:r>
              <a:rPr lang="en-IN" sz="1800" b="0" i="0" u="none" strike="noStrike" dirty="0">
                <a:solidFill>
                  <a:schemeClr val="tx1"/>
                </a:solidFill>
                <a:effectLst/>
                <a:latin typeface="+mn-lt"/>
              </a:rPr>
              <a:t>Memory technology refers to the methods and electronic devices used to store data, instructions, and information in a computer system. Memory is essential for processing data and running programs.</a:t>
            </a:r>
            <a:endParaRPr lang="en-IN" dirty="0">
              <a:effectLst/>
            </a:endParaRPr>
          </a:p>
          <a:p>
            <a:pPr rtl="0">
              <a:spcBef>
                <a:spcPts val="1200"/>
              </a:spcBef>
              <a:buNone/>
            </a:pPr>
            <a:r>
              <a:rPr lang="en-IN" sz="1800" b="0" i="0" u="none" strike="noStrike" dirty="0">
                <a:solidFill>
                  <a:schemeClr val="tx1"/>
                </a:solidFill>
                <a:effectLst/>
                <a:latin typeface="+mn-lt"/>
              </a:rPr>
              <a:t>Computer memory is broadly classified into:</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Primary memory (main memory): Memory directly accessible by the CPU, such as RAM and ROM.</a:t>
            </a:r>
          </a:p>
          <a:p>
            <a:pPr lvl="0" rtl="0" fontAlgn="base"/>
            <a:endParaRPr lang="en-IN" sz="1800" b="0" i="0" u="none" strike="noStrike" dirty="0">
              <a:solidFill>
                <a:schemeClr val="tx1"/>
              </a:solidFill>
              <a:effectLst/>
              <a:latin typeface="+mn-l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Secondary memory: Storage devices such as SSDs, HDDs, and optical disks, used for long-term data storage.</a:t>
            </a:r>
            <a:endParaRPr lang="en-IN" sz="20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2554054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9CECEF-5104-3D41-3A7C-CCBBCBCF6BB0}"/>
              </a:ext>
            </a:extLst>
          </p:cNvPr>
          <p:cNvSpPr txBox="1"/>
          <p:nvPr/>
        </p:nvSpPr>
        <p:spPr>
          <a:xfrm>
            <a:off x="698091" y="533559"/>
            <a:ext cx="10550012" cy="4850687"/>
          </a:xfrm>
          <a:prstGeom prst="rect">
            <a:avLst/>
          </a:prstGeom>
          <a:noFill/>
        </p:spPr>
        <p:txBody>
          <a:bodyPr wrap="square">
            <a:spAutoFit/>
          </a:bodyPr>
          <a:lstStyle/>
          <a:p>
            <a:pPr rtl="0">
              <a:lnSpc>
                <a:spcPct val="150000"/>
              </a:lnSpc>
              <a:spcBef>
                <a:spcPts val="1800"/>
              </a:spcBef>
              <a:buNone/>
            </a:pPr>
            <a:r>
              <a:rPr lang="en-IN" sz="1800" b="1" i="0" u="none" strike="noStrike" dirty="0">
                <a:solidFill>
                  <a:schemeClr val="tx1"/>
                </a:solidFill>
                <a:effectLst/>
                <a:latin typeface="+mn-lt"/>
              </a:rPr>
              <a:t>2. Main Memory Technologies</a:t>
            </a:r>
            <a:endParaRPr lang="en-IN" dirty="0"/>
          </a:p>
          <a:p>
            <a:pPr rtl="0">
              <a:lnSpc>
                <a:spcPct val="150000"/>
              </a:lnSpc>
              <a:spcBef>
                <a:spcPts val="600"/>
              </a:spcBef>
              <a:buNone/>
            </a:pPr>
            <a:r>
              <a:rPr lang="en-IN" sz="1800" b="0" i="0" u="none" strike="noStrike" dirty="0">
                <a:solidFill>
                  <a:schemeClr val="tx1"/>
                </a:solidFill>
                <a:effectLst/>
                <a:latin typeface="+mn-lt"/>
              </a:rPr>
              <a:t>The main memory technologies are SRAM, DRAM, ROM, PROM, EPROM, EEPROM, and Flash memory.</a:t>
            </a:r>
          </a:p>
          <a:p>
            <a:pPr rtl="0">
              <a:lnSpc>
                <a:spcPct val="150000"/>
              </a:lnSpc>
              <a:spcBef>
                <a:spcPts val="600"/>
              </a:spcBef>
              <a:buNone/>
            </a:pPr>
            <a:endParaRPr lang="en-IN" dirty="0"/>
          </a:p>
          <a:p>
            <a:pPr>
              <a:lnSpc>
                <a:spcPct val="150000"/>
              </a:lnSpc>
            </a:pPr>
            <a:r>
              <a:rPr lang="en-IN" b="1" dirty="0"/>
              <a:t>1. SRAM (Static RAM)</a:t>
            </a:r>
          </a:p>
          <a:p>
            <a:pPr>
              <a:lnSpc>
                <a:spcPct val="150000"/>
              </a:lnSpc>
            </a:pPr>
            <a:r>
              <a:rPr lang="en-IN" dirty="0"/>
              <a:t>SRAM stores each bit using a circuit called a flip-flop.</a:t>
            </a:r>
          </a:p>
          <a:p>
            <a:pPr marL="285750" lvl="0" indent="-285750" fontAlgn="base">
              <a:lnSpc>
                <a:spcPct val="150000"/>
              </a:lnSpc>
              <a:buFont typeface="Arial" panose="020B0604020202020204" pitchFamily="34" charset="0"/>
              <a:buChar char="•"/>
            </a:pPr>
            <a:r>
              <a:rPr lang="en-IN" dirty="0"/>
              <a:t>Very fast access speed.</a:t>
            </a:r>
          </a:p>
          <a:p>
            <a:pPr marL="285750" lvl="0" indent="-285750" fontAlgn="base">
              <a:lnSpc>
                <a:spcPct val="150000"/>
              </a:lnSpc>
              <a:buFont typeface="Arial" panose="020B0604020202020204" pitchFamily="34" charset="0"/>
              <a:buChar char="•"/>
            </a:pPr>
            <a:r>
              <a:rPr lang="en-IN" dirty="0"/>
              <a:t>Does not require periodic refreshing.</a:t>
            </a:r>
          </a:p>
          <a:p>
            <a:pPr marL="285750" lvl="0" indent="-285750" fontAlgn="base">
              <a:lnSpc>
                <a:spcPct val="150000"/>
              </a:lnSpc>
              <a:buFont typeface="Arial" panose="020B0604020202020204" pitchFamily="34" charset="0"/>
              <a:buChar char="•"/>
            </a:pPr>
            <a:r>
              <a:rPr lang="en-IN" dirty="0"/>
              <a:t>Volatile: data is lost when power is turned off.</a:t>
            </a:r>
          </a:p>
          <a:p>
            <a:pPr marL="285750" lvl="0" indent="-285750" fontAlgn="base">
              <a:lnSpc>
                <a:spcPct val="150000"/>
              </a:lnSpc>
              <a:buFont typeface="Arial" panose="020B0604020202020204" pitchFamily="34" charset="0"/>
              <a:buChar char="•"/>
            </a:pPr>
            <a:r>
              <a:rPr lang="en-IN" dirty="0"/>
              <a:t>Expensive and has lower storage density than DRAM.</a:t>
            </a:r>
          </a:p>
          <a:p>
            <a:pPr marL="285750" lvl="0" indent="-285750" fontAlgn="base">
              <a:lnSpc>
                <a:spcPct val="150000"/>
              </a:lnSpc>
              <a:buFont typeface="Arial" panose="020B0604020202020204" pitchFamily="34" charset="0"/>
              <a:buChar char="•"/>
            </a:pPr>
            <a:r>
              <a:rPr lang="en-IN" dirty="0"/>
              <a:t>Uses: CPU cache memory.</a:t>
            </a:r>
          </a:p>
          <a:p>
            <a:pPr rtl="0">
              <a:lnSpc>
                <a:spcPct val="150000"/>
              </a:lnSpc>
              <a:spcBef>
                <a:spcPts val="600"/>
              </a:spcBef>
              <a:buNone/>
            </a:pPr>
            <a:endParaRPr lang="en-IN" dirty="0">
              <a:effectLst/>
            </a:endParaRPr>
          </a:p>
        </p:txBody>
      </p:sp>
    </p:spTree>
    <p:extLst>
      <p:ext uri="{BB962C8B-B14F-4D97-AF65-F5344CB8AC3E}">
        <p14:creationId xmlns:p14="http://schemas.microsoft.com/office/powerpoint/2010/main" val="18342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DA3933-E8AC-7B0E-8FF7-F0A45419181B}"/>
              </a:ext>
            </a:extLst>
          </p:cNvPr>
          <p:cNvSpPr txBox="1"/>
          <p:nvPr/>
        </p:nvSpPr>
        <p:spPr>
          <a:xfrm>
            <a:off x="560439" y="185709"/>
            <a:ext cx="8652387" cy="2956066"/>
          </a:xfrm>
          <a:prstGeom prst="rect">
            <a:avLst/>
          </a:prstGeom>
          <a:noFill/>
        </p:spPr>
        <p:txBody>
          <a:bodyPr wrap="square">
            <a:spAutoFit/>
          </a:bodyPr>
          <a:lstStyle/>
          <a:p>
            <a:pPr rtl="0">
              <a:lnSpc>
                <a:spcPct val="150000"/>
              </a:lnSpc>
              <a:buNone/>
            </a:pPr>
            <a:r>
              <a:rPr lang="en-IN" sz="1800" b="1" i="0" u="none" strike="noStrike" dirty="0">
                <a:solidFill>
                  <a:schemeClr val="tx1"/>
                </a:solidFill>
                <a:effectLst/>
                <a:latin typeface="+mn-lt"/>
              </a:rPr>
              <a:t>2. DRAM (Dynamic RAM)</a:t>
            </a:r>
            <a:endParaRPr lang="en-IN" b="1" dirty="0">
              <a:effectLst/>
            </a:endParaRPr>
          </a:p>
          <a:p>
            <a:pPr rtl="0">
              <a:lnSpc>
                <a:spcPct val="150000"/>
              </a:lnSpc>
              <a:buNone/>
            </a:pPr>
            <a:r>
              <a:rPr lang="en-IN" sz="1800" b="0" i="0" u="none" strike="noStrike" dirty="0">
                <a:solidFill>
                  <a:schemeClr val="tx1"/>
                </a:solidFill>
                <a:effectLst/>
                <a:latin typeface="+mn-lt"/>
              </a:rPr>
              <a:t>DRAM stores each bit using a transistor and a capacitor.</a:t>
            </a:r>
            <a:endParaRPr lang="en-IN" dirty="0">
              <a:effectLst/>
            </a:endParaRP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Requires periodic refreshing to retain data.</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Slower than SRAM.</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Cheaper and offers higher storage density.</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Volatile memory.</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Uses: Main memory in computers and laptops.</a:t>
            </a:r>
            <a:endParaRPr lang="en-IN" sz="2100" b="0" i="0" u="none" strike="noStrike" dirty="0">
              <a:solidFill>
                <a:srgbClr val="0D0D0D"/>
              </a:solidFill>
              <a:effectLst/>
              <a:latin typeface="Arial" panose="020B0604020202020204" pitchFamily="34" charset="0"/>
            </a:endParaRPr>
          </a:p>
        </p:txBody>
      </p:sp>
      <p:sp>
        <p:nvSpPr>
          <p:cNvPr id="5" name="TextBox 4">
            <a:extLst>
              <a:ext uri="{FF2B5EF4-FFF2-40B4-BE49-F238E27FC236}">
                <a16:creationId xmlns:a16="http://schemas.microsoft.com/office/drawing/2014/main" id="{E2F07BFE-F13C-76BA-EE0B-69BA0A6C6FFB}"/>
              </a:ext>
            </a:extLst>
          </p:cNvPr>
          <p:cNvSpPr txBox="1"/>
          <p:nvPr/>
        </p:nvSpPr>
        <p:spPr>
          <a:xfrm>
            <a:off x="560439" y="3429000"/>
            <a:ext cx="10314039" cy="2540567"/>
          </a:xfrm>
          <a:prstGeom prst="rect">
            <a:avLst/>
          </a:prstGeom>
          <a:noFill/>
        </p:spPr>
        <p:txBody>
          <a:bodyPr wrap="square">
            <a:spAutoFit/>
          </a:bodyPr>
          <a:lstStyle/>
          <a:p>
            <a:pPr algn="just" rtl="0">
              <a:lnSpc>
                <a:spcPct val="150000"/>
              </a:lnSpc>
              <a:buNone/>
            </a:pPr>
            <a:r>
              <a:rPr lang="en-IN" sz="1800" b="1" i="0" u="none" strike="noStrike" dirty="0">
                <a:solidFill>
                  <a:schemeClr val="tx1"/>
                </a:solidFill>
                <a:effectLst/>
                <a:latin typeface="+mn-lt"/>
              </a:rPr>
              <a:t>3. ROM (Read-Only Memory)</a:t>
            </a:r>
            <a:endParaRPr lang="en-IN" b="1" dirty="0">
              <a:effectLst/>
            </a:endParaRPr>
          </a:p>
          <a:p>
            <a:pPr algn="just" rtl="0">
              <a:lnSpc>
                <a:spcPct val="150000"/>
              </a:lnSpc>
              <a:buNone/>
            </a:pPr>
            <a:r>
              <a:rPr lang="en-IN" sz="1800" b="0" i="0" u="none" strike="noStrike" dirty="0">
                <a:solidFill>
                  <a:schemeClr val="tx1"/>
                </a:solidFill>
                <a:effectLst/>
                <a:latin typeface="+mn-lt"/>
              </a:rPr>
              <a:t>ROM stores information that is retained even when power is turned off.</a:t>
            </a:r>
            <a:endParaRPr lang="en-IN" dirty="0">
              <a:effectLst/>
            </a:endParaRP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Non-volatile memory.</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Traditionally designed mainly for reading.</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Stores permanent instructions and firmware.</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Uses: Embedded systems and firmware storage.</a:t>
            </a:r>
            <a:endParaRPr lang="en-IN" sz="20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3842649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DAE713-86BB-2A72-07A0-EB5628FEE253}"/>
              </a:ext>
            </a:extLst>
          </p:cNvPr>
          <p:cNvSpPr txBox="1"/>
          <p:nvPr/>
        </p:nvSpPr>
        <p:spPr>
          <a:xfrm>
            <a:off x="619432" y="214244"/>
            <a:ext cx="8416413" cy="2125069"/>
          </a:xfrm>
          <a:prstGeom prst="rect">
            <a:avLst/>
          </a:prstGeom>
          <a:noFill/>
        </p:spPr>
        <p:txBody>
          <a:bodyPr wrap="square">
            <a:spAutoFit/>
          </a:bodyPr>
          <a:lstStyle/>
          <a:p>
            <a:pPr rtl="0">
              <a:lnSpc>
                <a:spcPct val="150000"/>
              </a:lnSpc>
              <a:buNone/>
            </a:pPr>
            <a:r>
              <a:rPr lang="en-IN" sz="1800" b="1" i="0" u="none" strike="noStrike" dirty="0">
                <a:solidFill>
                  <a:schemeClr val="tx1"/>
                </a:solidFill>
                <a:effectLst/>
                <a:latin typeface="+mn-lt"/>
              </a:rPr>
              <a:t>4. PROM (Programmable ROM)</a:t>
            </a:r>
            <a:endParaRPr lang="en-IN" b="1" dirty="0">
              <a:effectLst/>
            </a:endParaRPr>
          </a:p>
          <a:p>
            <a:pPr rtl="0">
              <a:lnSpc>
                <a:spcPct val="150000"/>
              </a:lnSpc>
              <a:buNone/>
            </a:pPr>
            <a:r>
              <a:rPr lang="en-IN" sz="1800" b="0" i="0" u="none" strike="noStrike" dirty="0">
                <a:solidFill>
                  <a:schemeClr val="tx1"/>
                </a:solidFill>
                <a:effectLst/>
                <a:latin typeface="+mn-lt"/>
              </a:rPr>
              <a:t>PROM is manufactured blank and can be programmed once.</a:t>
            </a:r>
            <a:endParaRPr lang="en-IN" dirty="0">
              <a:effectLst/>
            </a:endParaRP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Non-volatile.</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Data cannot normally be erased and rewritten.</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Uses: Permanent program and configuration storage.</a:t>
            </a:r>
            <a:endParaRPr lang="en-IN" sz="2200" b="0" i="0" u="none" strike="noStrike" dirty="0">
              <a:solidFill>
                <a:srgbClr val="0D0D0D"/>
              </a:solidFill>
              <a:effectLst/>
              <a:latin typeface="Arial" panose="020B0604020202020204" pitchFamily="34" charset="0"/>
            </a:endParaRPr>
          </a:p>
        </p:txBody>
      </p:sp>
      <p:sp>
        <p:nvSpPr>
          <p:cNvPr id="5" name="TextBox 4">
            <a:extLst>
              <a:ext uri="{FF2B5EF4-FFF2-40B4-BE49-F238E27FC236}">
                <a16:creationId xmlns:a16="http://schemas.microsoft.com/office/drawing/2014/main" id="{2E0E3BBD-2CBC-4E5E-379E-E99927FB8A60}"/>
              </a:ext>
            </a:extLst>
          </p:cNvPr>
          <p:cNvSpPr txBox="1"/>
          <p:nvPr/>
        </p:nvSpPr>
        <p:spPr>
          <a:xfrm>
            <a:off x="619431" y="2629976"/>
            <a:ext cx="10333703" cy="2540567"/>
          </a:xfrm>
          <a:prstGeom prst="rect">
            <a:avLst/>
          </a:prstGeom>
          <a:noFill/>
        </p:spPr>
        <p:txBody>
          <a:bodyPr wrap="square">
            <a:spAutoFit/>
          </a:bodyPr>
          <a:lstStyle/>
          <a:p>
            <a:pPr rtl="0">
              <a:lnSpc>
                <a:spcPct val="150000"/>
              </a:lnSpc>
              <a:buNone/>
            </a:pPr>
            <a:r>
              <a:rPr lang="en-IN" sz="1800" b="1" i="0" u="none" strike="noStrike" dirty="0">
                <a:solidFill>
                  <a:schemeClr val="tx1"/>
                </a:solidFill>
                <a:effectLst/>
                <a:latin typeface="+mn-lt"/>
              </a:rPr>
              <a:t>5. EPROM (Erasable Programmable ROM)</a:t>
            </a:r>
            <a:endParaRPr lang="en-IN" b="1" dirty="0">
              <a:effectLst/>
            </a:endParaRPr>
          </a:p>
          <a:p>
            <a:pPr rtl="0">
              <a:lnSpc>
                <a:spcPct val="150000"/>
              </a:lnSpc>
              <a:buNone/>
            </a:pPr>
            <a:r>
              <a:rPr lang="en-IN" sz="1800" b="0" i="0" u="none" strike="noStrike" dirty="0">
                <a:solidFill>
                  <a:schemeClr val="tx1"/>
                </a:solidFill>
                <a:effectLst/>
                <a:latin typeface="+mn-lt"/>
              </a:rPr>
              <a:t>EPROM can be erased using ultraviolet light and programmed again.</a:t>
            </a:r>
            <a:endParaRPr lang="en-IN" dirty="0">
              <a:effectLst/>
            </a:endParaRP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Non-volatile.</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Can be reused after erasing.</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Erasure usually clears the entire chip.</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Uses: Older firmware development and testing.</a:t>
            </a:r>
            <a:endParaRPr lang="en-IN" sz="21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4068362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29A5B3-0594-73BA-245D-A512A1807332}"/>
              </a:ext>
            </a:extLst>
          </p:cNvPr>
          <p:cNvSpPr txBox="1"/>
          <p:nvPr/>
        </p:nvSpPr>
        <p:spPr>
          <a:xfrm>
            <a:off x="609600" y="171949"/>
            <a:ext cx="8878529" cy="3373359"/>
          </a:xfrm>
          <a:prstGeom prst="rect">
            <a:avLst/>
          </a:prstGeom>
          <a:noFill/>
        </p:spPr>
        <p:txBody>
          <a:bodyPr wrap="square">
            <a:spAutoFit/>
          </a:bodyPr>
          <a:lstStyle/>
          <a:p>
            <a:pPr rtl="0">
              <a:lnSpc>
                <a:spcPct val="150000"/>
              </a:lnSpc>
              <a:buNone/>
            </a:pPr>
            <a:r>
              <a:rPr lang="en-IN" sz="1800" b="1" i="0" u="none" strike="noStrike" dirty="0">
                <a:solidFill>
                  <a:schemeClr val="tx1"/>
                </a:solidFill>
                <a:effectLst/>
                <a:latin typeface="+mn-lt"/>
              </a:rPr>
              <a:t>6. EEPROM (Electrically Erasable Programmable ROM)</a:t>
            </a:r>
            <a:endParaRPr lang="en-IN" b="1" dirty="0">
              <a:effectLst/>
            </a:endParaRPr>
          </a:p>
          <a:p>
            <a:pPr rtl="0">
              <a:lnSpc>
                <a:spcPct val="150000"/>
              </a:lnSpc>
              <a:buNone/>
            </a:pPr>
            <a:r>
              <a:rPr lang="en-IN" sz="1800" b="0" i="0" u="none" strike="noStrike" dirty="0">
                <a:solidFill>
                  <a:schemeClr val="tx1"/>
                </a:solidFill>
                <a:effectLst/>
                <a:latin typeface="+mn-lt"/>
              </a:rPr>
              <a:t>EEPROM can be erased and reprogrammed electrically.</a:t>
            </a:r>
            <a:endParaRPr lang="en-IN" dirty="0">
              <a:effectLst/>
            </a:endParaRP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Non-volatile.</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Can update data without removing the chip.</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Usually supports rewriting smaller portions of data.</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Uses: Device settings, calibration data, and configuration storage.</a:t>
            </a:r>
          </a:p>
          <a:p>
            <a:pPr>
              <a:lnSpc>
                <a:spcPct val="150000"/>
              </a:lnSpc>
              <a:buNone/>
            </a:pPr>
            <a:br>
              <a:rPr lang="en-IN" dirty="0"/>
            </a:br>
            <a:endParaRPr lang="en-IN" dirty="0"/>
          </a:p>
        </p:txBody>
      </p:sp>
      <p:sp>
        <p:nvSpPr>
          <p:cNvPr id="5" name="TextBox 4">
            <a:extLst>
              <a:ext uri="{FF2B5EF4-FFF2-40B4-BE49-F238E27FC236}">
                <a16:creationId xmlns:a16="http://schemas.microsoft.com/office/drawing/2014/main" id="{B0A08958-1928-1D63-FCC2-5300EBF34B9D}"/>
              </a:ext>
            </a:extLst>
          </p:cNvPr>
          <p:cNvSpPr txBox="1"/>
          <p:nvPr/>
        </p:nvSpPr>
        <p:spPr>
          <a:xfrm>
            <a:off x="609599" y="2910846"/>
            <a:ext cx="10028903" cy="2540567"/>
          </a:xfrm>
          <a:prstGeom prst="rect">
            <a:avLst/>
          </a:prstGeom>
          <a:noFill/>
        </p:spPr>
        <p:txBody>
          <a:bodyPr wrap="square">
            <a:spAutoFit/>
          </a:bodyPr>
          <a:lstStyle/>
          <a:p>
            <a:pPr rtl="0">
              <a:lnSpc>
                <a:spcPct val="150000"/>
              </a:lnSpc>
              <a:buNone/>
            </a:pPr>
            <a:r>
              <a:rPr lang="en-IN" sz="1800" b="1" i="0" u="none" strike="noStrike" dirty="0">
                <a:solidFill>
                  <a:schemeClr val="tx1"/>
                </a:solidFill>
                <a:effectLst/>
                <a:latin typeface="+mn-lt"/>
              </a:rPr>
              <a:t>7. Flash Memory</a:t>
            </a:r>
            <a:endParaRPr lang="en-IN" b="1" dirty="0">
              <a:effectLst/>
            </a:endParaRPr>
          </a:p>
          <a:p>
            <a:pPr rtl="0">
              <a:lnSpc>
                <a:spcPct val="150000"/>
              </a:lnSpc>
              <a:buNone/>
            </a:pPr>
            <a:r>
              <a:rPr lang="en-IN" sz="1800" b="0" i="0" u="none" strike="noStrike" dirty="0">
                <a:solidFill>
                  <a:schemeClr val="tx1"/>
                </a:solidFill>
                <a:effectLst/>
                <a:latin typeface="+mn-lt"/>
              </a:rPr>
              <a:t>Flash memory is a type of electrically erasable non-volatile memory.</a:t>
            </a:r>
            <a:endParaRPr lang="en-IN" dirty="0">
              <a:effectLst/>
            </a:endParaRP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Retains data without power.</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Erases data in blocks.</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Compact, durable, and energy-efficient.</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Uses: SSDs, USB drives, memory cards, and embedded devices.</a:t>
            </a:r>
            <a:endParaRPr lang="en-IN" sz="21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905216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E7F0CD-0A96-EAA0-FB93-7D0ADAE4BBAE}"/>
              </a:ext>
            </a:extLst>
          </p:cNvPr>
          <p:cNvSpPr txBox="1"/>
          <p:nvPr/>
        </p:nvSpPr>
        <p:spPr>
          <a:xfrm>
            <a:off x="914400" y="217176"/>
            <a:ext cx="6096000" cy="430887"/>
          </a:xfrm>
          <a:prstGeom prst="rect">
            <a:avLst/>
          </a:prstGeom>
          <a:noFill/>
        </p:spPr>
        <p:txBody>
          <a:bodyPr wrap="square">
            <a:spAutoFit/>
          </a:bodyPr>
          <a:lstStyle/>
          <a:p>
            <a:pPr rtl="0">
              <a:spcBef>
                <a:spcPts val="1800"/>
              </a:spcBef>
              <a:buNone/>
            </a:pPr>
            <a:r>
              <a:rPr lang="en-IN" sz="1800" b="1" i="0" u="none" strike="noStrike" dirty="0">
                <a:solidFill>
                  <a:schemeClr val="tx1"/>
                </a:solidFill>
                <a:effectLst/>
                <a:latin typeface="+mn-lt"/>
              </a:rPr>
              <a:t>Comparison of Memory Technologies</a:t>
            </a:r>
            <a:endParaRPr lang="en-IN" dirty="0">
              <a:effectLst/>
            </a:endParaRPr>
          </a:p>
        </p:txBody>
      </p:sp>
      <p:pic>
        <p:nvPicPr>
          <p:cNvPr id="4" name="Picture 3">
            <a:extLst>
              <a:ext uri="{FF2B5EF4-FFF2-40B4-BE49-F238E27FC236}">
                <a16:creationId xmlns:a16="http://schemas.microsoft.com/office/drawing/2014/main" id="{F7B6F790-ED66-39CE-BAA2-22076E656320}"/>
              </a:ext>
            </a:extLst>
          </p:cNvPr>
          <p:cNvPicPr>
            <a:picLocks noChangeAspect="1"/>
          </p:cNvPicPr>
          <p:nvPr/>
        </p:nvPicPr>
        <p:blipFill>
          <a:blip r:embed="rId2"/>
          <a:stretch>
            <a:fillRect/>
          </a:stretch>
        </p:blipFill>
        <p:spPr>
          <a:xfrm>
            <a:off x="1676400" y="1264520"/>
            <a:ext cx="8839200" cy="4333875"/>
          </a:xfrm>
          <a:prstGeom prst="rect">
            <a:avLst/>
          </a:prstGeom>
        </p:spPr>
      </p:pic>
    </p:spTree>
    <p:extLst>
      <p:ext uri="{BB962C8B-B14F-4D97-AF65-F5344CB8AC3E}">
        <p14:creationId xmlns:p14="http://schemas.microsoft.com/office/powerpoint/2010/main" val="21699559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D230D5-14A2-2A82-3E37-2B9E7D9587F5}"/>
              </a:ext>
            </a:extLst>
          </p:cNvPr>
          <p:cNvSpPr txBox="1"/>
          <p:nvPr/>
        </p:nvSpPr>
        <p:spPr>
          <a:xfrm>
            <a:off x="3048000" y="3246792"/>
            <a:ext cx="6096000" cy="369332"/>
          </a:xfrm>
          <a:prstGeom prst="rect">
            <a:avLst/>
          </a:prstGeom>
          <a:noFill/>
        </p:spPr>
        <p:txBody>
          <a:bodyPr wrap="square">
            <a:spAutoFit/>
          </a:bodyPr>
          <a:lstStyle/>
          <a:p>
            <a:r>
              <a:rPr lang="en-IN" dirty="0"/>
              <a:t>  </a:t>
            </a:r>
          </a:p>
        </p:txBody>
      </p:sp>
      <p:sp>
        <p:nvSpPr>
          <p:cNvPr id="5" name="TextBox 4">
            <a:extLst>
              <a:ext uri="{FF2B5EF4-FFF2-40B4-BE49-F238E27FC236}">
                <a16:creationId xmlns:a16="http://schemas.microsoft.com/office/drawing/2014/main" id="{2CF03DC0-008A-8A63-0196-9BB69F4A8C71}"/>
              </a:ext>
            </a:extLst>
          </p:cNvPr>
          <p:cNvSpPr txBox="1"/>
          <p:nvPr/>
        </p:nvSpPr>
        <p:spPr>
          <a:xfrm>
            <a:off x="383458" y="723024"/>
            <a:ext cx="8760542" cy="3448508"/>
          </a:xfrm>
          <a:prstGeom prst="rect">
            <a:avLst/>
          </a:prstGeom>
          <a:noFill/>
        </p:spPr>
        <p:txBody>
          <a:bodyPr wrap="square">
            <a:spAutoFit/>
          </a:bodyPr>
          <a:lstStyle/>
          <a:p>
            <a:pPr algn="just" rtl="0">
              <a:lnSpc>
                <a:spcPct val="150000"/>
              </a:lnSpc>
              <a:spcBef>
                <a:spcPts val="1800"/>
              </a:spcBef>
              <a:buNone/>
            </a:pPr>
            <a:r>
              <a:rPr lang="en-IN" sz="1800" b="1" i="0" u="none" strike="noStrike" dirty="0">
                <a:solidFill>
                  <a:schemeClr val="tx1"/>
                </a:solidFill>
                <a:effectLst/>
                <a:latin typeface="+mn-lt"/>
              </a:rPr>
              <a:t>Advantages of Main Memory Technologies</a:t>
            </a:r>
            <a:endParaRPr lang="en-IN" dirty="0">
              <a:effectLst/>
            </a:endParaRPr>
          </a:p>
          <a:p>
            <a:pPr lvl="0" algn="just" rtl="0" fontAlgn="base">
              <a:lnSpc>
                <a:spcPct val="150000"/>
              </a:lnSpc>
            </a:pPr>
            <a:endParaRPr lang="en-IN" sz="1800" b="0" i="0" u="none" strike="noStrike" dirty="0">
              <a:solidFill>
                <a:schemeClr val="tx1"/>
              </a:solidFill>
              <a:effectLst/>
              <a:latin typeface="+mn-lt"/>
            </a:endParaRPr>
          </a:p>
          <a:p>
            <a:pPr marL="342900" lvl="0" indent="-342900" algn="just" rtl="0" fontAlgn="base">
              <a:lnSpc>
                <a:spcPct val="150000"/>
              </a:lnSpc>
              <a:spcBef>
                <a:spcPts val="600"/>
              </a:spcBef>
              <a:buFont typeface="Arial" panose="020B0604020202020204" pitchFamily="34" charset="0"/>
              <a:buChar char="•"/>
            </a:pPr>
            <a:r>
              <a:rPr lang="en-IN" sz="1800" b="0" i="0" u="none" strike="noStrike" dirty="0">
                <a:solidFill>
                  <a:schemeClr val="tx1"/>
                </a:solidFill>
                <a:effectLst/>
                <a:latin typeface="+mn-lt"/>
              </a:rPr>
              <a:t>SRAM: Extremely fast; suitable for high-speed processing.</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DRAM: High capacity at a relatively low cost; suitable for system memory.</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ROM: Stores essential instructions even when power is off.</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PROM and EPROM: Useful for programmable firmware.</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EEPROM: Allows electrical updating of stored information.</a:t>
            </a:r>
          </a:p>
          <a:p>
            <a:pPr marL="342900" lvl="0" indent="-342900" algn="just" rtl="0" fontAlgn="base">
              <a:lnSpc>
                <a:spcPct val="150000"/>
              </a:lnSpc>
              <a:buFont typeface="Arial" panose="020B0604020202020204" pitchFamily="34" charset="0"/>
              <a:buChar char="•"/>
            </a:pPr>
            <a:r>
              <a:rPr lang="en-IN" sz="1800" b="0" i="0" u="none" strike="noStrike" dirty="0">
                <a:solidFill>
                  <a:schemeClr val="tx1"/>
                </a:solidFill>
                <a:effectLst/>
                <a:latin typeface="+mn-lt"/>
              </a:rPr>
              <a:t>Flash memory: Provides compact, persistent storage with no moving parts.</a:t>
            </a:r>
            <a:endParaRPr lang="en-IN" sz="12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777985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A7C8A8-6556-0AD9-6380-AE60462D0E6B}"/>
              </a:ext>
            </a:extLst>
          </p:cNvPr>
          <p:cNvSpPr txBox="1"/>
          <p:nvPr/>
        </p:nvSpPr>
        <p:spPr>
          <a:xfrm>
            <a:off x="1101212" y="406127"/>
            <a:ext cx="6096000" cy="446276"/>
          </a:xfrm>
          <a:prstGeom prst="rect">
            <a:avLst/>
          </a:prstGeom>
          <a:noFill/>
        </p:spPr>
        <p:txBody>
          <a:bodyPr wrap="square">
            <a:spAutoFit/>
          </a:bodyPr>
          <a:lstStyle/>
          <a:p>
            <a:pPr rtl="0">
              <a:spcBef>
                <a:spcPts val="1800"/>
              </a:spcBef>
              <a:buNone/>
            </a:pPr>
            <a:r>
              <a:rPr lang="en-IN" sz="1800" b="1" i="0" u="none" strike="noStrike" dirty="0">
                <a:solidFill>
                  <a:schemeClr val="tx1"/>
                </a:solidFill>
                <a:effectLst/>
                <a:latin typeface="+mn-lt"/>
              </a:rPr>
              <a:t>Classification of Memory</a:t>
            </a:r>
            <a:endParaRPr lang="en-IN" dirty="0">
              <a:effectLst/>
            </a:endParaRPr>
          </a:p>
        </p:txBody>
      </p:sp>
      <p:pic>
        <p:nvPicPr>
          <p:cNvPr id="4" name="Picture 3">
            <a:extLst>
              <a:ext uri="{FF2B5EF4-FFF2-40B4-BE49-F238E27FC236}">
                <a16:creationId xmlns:a16="http://schemas.microsoft.com/office/drawing/2014/main" id="{25408CD9-C3C0-A4F1-BB2A-E9B50B06E4BC}"/>
              </a:ext>
            </a:extLst>
          </p:cNvPr>
          <p:cNvPicPr>
            <a:picLocks noChangeAspect="1"/>
          </p:cNvPicPr>
          <p:nvPr/>
        </p:nvPicPr>
        <p:blipFill>
          <a:blip r:embed="rId2"/>
          <a:stretch>
            <a:fillRect/>
          </a:stretch>
        </p:blipFill>
        <p:spPr>
          <a:xfrm>
            <a:off x="2290762" y="1321670"/>
            <a:ext cx="7610475" cy="4219575"/>
          </a:xfrm>
          <a:prstGeom prst="rect">
            <a:avLst/>
          </a:prstGeom>
        </p:spPr>
      </p:pic>
    </p:spTree>
    <p:extLst>
      <p:ext uri="{BB962C8B-B14F-4D97-AF65-F5344CB8AC3E}">
        <p14:creationId xmlns:p14="http://schemas.microsoft.com/office/powerpoint/2010/main" val="38018663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18524E-035E-06CA-8C1F-EF3BA7DA02B9}"/>
              </a:ext>
            </a:extLst>
          </p:cNvPr>
          <p:cNvSpPr txBox="1"/>
          <p:nvPr/>
        </p:nvSpPr>
        <p:spPr>
          <a:xfrm>
            <a:off x="776748" y="526361"/>
            <a:ext cx="10107561" cy="3338735"/>
          </a:xfrm>
          <a:prstGeom prst="rect">
            <a:avLst/>
          </a:prstGeom>
          <a:noFill/>
        </p:spPr>
        <p:txBody>
          <a:bodyPr wrap="square">
            <a:spAutoFit/>
          </a:bodyPr>
          <a:lstStyle/>
          <a:p>
            <a:pPr marL="342900" lvl="0" indent="-342900" algn="just" rtl="0" fontAlgn="base">
              <a:lnSpc>
                <a:spcPct val="200000"/>
              </a:lnSpc>
              <a:spcBef>
                <a:spcPts val="600"/>
              </a:spcBef>
              <a:buFont typeface="Arial" panose="020B0604020202020204" pitchFamily="34" charset="0"/>
              <a:buChar char="•"/>
            </a:pPr>
            <a:r>
              <a:rPr lang="en-IN" sz="1800" b="0" i="0" u="none" strike="noStrike" dirty="0">
                <a:solidFill>
                  <a:schemeClr val="tx1"/>
                </a:solidFill>
                <a:effectLst/>
                <a:latin typeface="+mn-lt"/>
              </a:rPr>
              <a:t>Memory technologies play an important role in computer performance and data storage. SRAM is mainly used for cache, DRAM for main memory, and ROM-family technologies for non-volatile storage. Flash memory is widely used in modern storage devices. The choice of technology depends on speed, cost, capacity, power consumption, and whether data must be retained without power.</a:t>
            </a:r>
          </a:p>
          <a:p>
            <a:pPr algn="just">
              <a:lnSpc>
                <a:spcPct val="200000"/>
              </a:lnSpc>
              <a:buNone/>
            </a:pPr>
            <a:br>
              <a:rPr lang="en-IN" dirty="0"/>
            </a:br>
            <a:endParaRPr lang="en-IN" dirty="0"/>
          </a:p>
        </p:txBody>
      </p:sp>
    </p:spTree>
    <p:extLst>
      <p:ext uri="{BB962C8B-B14F-4D97-AF65-F5344CB8AC3E}">
        <p14:creationId xmlns:p14="http://schemas.microsoft.com/office/powerpoint/2010/main" val="1375010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CCB538-DDE5-E9AD-ECCF-325359E0A1A4}"/>
              </a:ext>
            </a:extLst>
          </p:cNvPr>
          <p:cNvSpPr txBox="1"/>
          <p:nvPr/>
        </p:nvSpPr>
        <p:spPr>
          <a:xfrm>
            <a:off x="639096" y="330716"/>
            <a:ext cx="10530349" cy="2778325"/>
          </a:xfrm>
          <a:prstGeom prst="rect">
            <a:avLst/>
          </a:prstGeom>
          <a:noFill/>
        </p:spPr>
        <p:txBody>
          <a:bodyPr wrap="square">
            <a:spAutoFit/>
          </a:bodyPr>
          <a:lstStyle/>
          <a:p>
            <a:pPr algn="just" rtl="0">
              <a:lnSpc>
                <a:spcPct val="150000"/>
              </a:lnSpc>
              <a:spcBef>
                <a:spcPts val="1800"/>
              </a:spcBef>
              <a:spcAft>
                <a:spcPts val="400"/>
              </a:spcAft>
              <a:buNone/>
            </a:pPr>
            <a:r>
              <a:rPr lang="en-IN" sz="2400" b="1" i="0" u="none" strike="noStrike" dirty="0">
                <a:solidFill>
                  <a:schemeClr val="tx1"/>
                </a:solidFill>
                <a:effectLst/>
                <a:latin typeface="+mn-lt"/>
              </a:rPr>
              <a:t>Introduction to Cache Memory</a:t>
            </a:r>
            <a:endParaRPr lang="en-IN" sz="2400" dirty="0"/>
          </a:p>
          <a:p>
            <a:pPr algn="just" rtl="0">
              <a:lnSpc>
                <a:spcPct val="150000"/>
              </a:lnSpc>
              <a:spcBef>
                <a:spcPts val="1200"/>
              </a:spcBef>
              <a:spcAft>
                <a:spcPts val="1200"/>
              </a:spcAft>
              <a:buNone/>
            </a:pPr>
            <a:r>
              <a:rPr lang="en-IN" sz="1800" b="0" i="0" u="none" strike="noStrike" dirty="0">
                <a:solidFill>
                  <a:schemeClr val="tx1"/>
                </a:solidFill>
                <a:effectLst/>
                <a:latin typeface="+mn-lt"/>
              </a:rPr>
              <a:t>Cache memory is a small, high-speed memory located inside or close to the CPU. It stores frequently used instructions and data so that the processor can access them faster than from main memory (RAM).</a:t>
            </a:r>
            <a:endParaRPr lang="en-IN" dirty="0"/>
          </a:p>
          <a:p>
            <a:pPr algn="just" rtl="0">
              <a:lnSpc>
                <a:spcPct val="150000"/>
              </a:lnSpc>
              <a:spcBef>
                <a:spcPts val="1200"/>
              </a:spcBef>
              <a:spcAft>
                <a:spcPts val="1200"/>
              </a:spcAft>
              <a:buNone/>
            </a:pPr>
            <a:r>
              <a:rPr lang="en-IN" sz="1800" b="0" i="0" u="none" strike="noStrike" dirty="0">
                <a:solidFill>
                  <a:schemeClr val="tx1"/>
                </a:solidFill>
                <a:effectLst/>
                <a:latin typeface="+mn-lt"/>
              </a:rPr>
              <a:t>The CPU operates much faster than RAM. Cache memory helps reduce this speed difference and improves overall system performance.</a:t>
            </a:r>
            <a:endParaRPr lang="en-IN" dirty="0">
              <a:effectLst/>
            </a:endParaRPr>
          </a:p>
        </p:txBody>
      </p:sp>
    </p:spTree>
    <p:extLst>
      <p:ext uri="{BB962C8B-B14F-4D97-AF65-F5344CB8AC3E}">
        <p14:creationId xmlns:p14="http://schemas.microsoft.com/office/powerpoint/2010/main" val="2129078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3027D4-BBC5-4CCE-EE39-156B07C94F90}"/>
              </a:ext>
            </a:extLst>
          </p:cNvPr>
          <p:cNvSpPr txBox="1"/>
          <p:nvPr/>
        </p:nvSpPr>
        <p:spPr>
          <a:xfrm>
            <a:off x="1140542" y="474952"/>
            <a:ext cx="6096000" cy="461665"/>
          </a:xfrm>
          <a:prstGeom prst="rect">
            <a:avLst/>
          </a:prstGeom>
          <a:noFill/>
        </p:spPr>
        <p:txBody>
          <a:bodyPr wrap="square">
            <a:spAutoFit/>
          </a:bodyPr>
          <a:lstStyle/>
          <a:p>
            <a:pPr rtl="0">
              <a:buNone/>
            </a:pPr>
            <a:r>
              <a:rPr lang="en-IN" sz="2400" b="1" i="0" u="none" strike="noStrike" dirty="0">
                <a:solidFill>
                  <a:schemeClr val="tx1"/>
                </a:solidFill>
                <a:effectLst/>
                <a:latin typeface="+mn-lt"/>
              </a:rPr>
              <a:t>Cache Memory: Purpose of cache memory</a:t>
            </a:r>
            <a:endParaRPr lang="en-IN" sz="2400" dirty="0">
              <a:effectLst/>
            </a:endParaRPr>
          </a:p>
        </p:txBody>
      </p:sp>
      <p:sp>
        <p:nvSpPr>
          <p:cNvPr id="5" name="TextBox 4">
            <a:extLst>
              <a:ext uri="{FF2B5EF4-FFF2-40B4-BE49-F238E27FC236}">
                <a16:creationId xmlns:a16="http://schemas.microsoft.com/office/drawing/2014/main" id="{7834B086-3D9E-2E6C-BDA4-4612306D5AFA}"/>
              </a:ext>
            </a:extLst>
          </p:cNvPr>
          <p:cNvSpPr txBox="1"/>
          <p:nvPr/>
        </p:nvSpPr>
        <p:spPr>
          <a:xfrm>
            <a:off x="1140542" y="1121014"/>
            <a:ext cx="10294374" cy="4433393"/>
          </a:xfrm>
          <a:prstGeom prst="rect">
            <a:avLst/>
          </a:prstGeom>
          <a:noFill/>
        </p:spPr>
        <p:txBody>
          <a:bodyPr wrap="square">
            <a:spAutoFit/>
          </a:bodyPr>
          <a:lstStyle/>
          <a:p>
            <a:pPr rtl="0">
              <a:lnSpc>
                <a:spcPct val="150000"/>
              </a:lnSpc>
              <a:spcBef>
                <a:spcPts val="1800"/>
              </a:spcBef>
              <a:spcAft>
                <a:spcPts val="900"/>
              </a:spcAft>
              <a:buNone/>
            </a:pPr>
            <a:r>
              <a:rPr lang="en-IN" sz="1800" b="1" i="0" u="none" strike="noStrike" dirty="0">
                <a:solidFill>
                  <a:schemeClr val="tx1"/>
                </a:solidFill>
                <a:effectLst/>
                <a:latin typeface="+mn-lt"/>
              </a:rPr>
              <a:t>Key Purposes and Functions</a:t>
            </a:r>
            <a:endParaRPr lang="en-IN" dirty="0">
              <a:effectLst/>
            </a:endParaRPr>
          </a:p>
          <a:p>
            <a:pPr marL="342900" lvl="0" indent="-342900" rtl="0" fontAlgn="base">
              <a:lnSpc>
                <a:spcPct val="150000"/>
              </a:lnSpc>
              <a:spcBef>
                <a:spcPts val="900"/>
              </a:spcBef>
              <a:buFont typeface="Arial" panose="020B0604020202020204" pitchFamily="34" charset="0"/>
              <a:buChar char="•"/>
            </a:pPr>
            <a:r>
              <a:rPr lang="en-IN" sz="1800" b="1" i="0" u="none" strike="noStrike" dirty="0">
                <a:solidFill>
                  <a:schemeClr val="tx1"/>
                </a:solidFill>
                <a:effectLst/>
                <a:latin typeface="+mn-lt"/>
              </a:rPr>
              <a:t>Accelerate Data Access:</a:t>
            </a:r>
            <a:r>
              <a:rPr lang="en-IN" sz="1800" b="0" i="0" u="none" strike="noStrike" dirty="0">
                <a:solidFill>
                  <a:schemeClr val="tx1"/>
                </a:solidFill>
                <a:effectLst/>
                <a:latin typeface="+mn-lt"/>
              </a:rPr>
              <a:t> Cache memory is much faster than standard RAM, allowing the CPU to read and write information in nanoseconds instead of waiting longer cycles. </a:t>
            </a:r>
          </a:p>
          <a:p>
            <a:pPr marL="342900" lvl="0" indent="-342900" rtl="0" fontAlgn="base">
              <a:lnSpc>
                <a:spcPct val="150000"/>
              </a:lnSpc>
              <a:buFont typeface="Arial" panose="020B0604020202020204" pitchFamily="34" charset="0"/>
              <a:buChar char="•"/>
            </a:pPr>
            <a:r>
              <a:rPr lang="en-IN" sz="1800" b="1" i="0" u="none" strike="noStrike" dirty="0">
                <a:solidFill>
                  <a:schemeClr val="tx1"/>
                </a:solidFill>
                <a:effectLst/>
                <a:latin typeface="+mn-lt"/>
              </a:rPr>
              <a:t>Reduce CPU Wait Time (Latency):</a:t>
            </a:r>
            <a:r>
              <a:rPr lang="en-IN" sz="1800" b="0" i="0" u="none" strike="noStrike" dirty="0">
                <a:solidFill>
                  <a:schemeClr val="tx1"/>
                </a:solidFill>
                <a:effectLst/>
                <a:latin typeface="+mn-lt"/>
              </a:rPr>
              <a:t> By holding copies of data that the processor is likely to request next—relying on a concept called </a:t>
            </a:r>
            <a:r>
              <a:rPr lang="en-IN" sz="1800" b="1" i="0" u="none" strike="noStrike" dirty="0">
                <a:solidFill>
                  <a:schemeClr val="tx1"/>
                </a:solidFill>
                <a:effectLst/>
                <a:latin typeface="+mn-lt"/>
              </a:rPr>
              <a:t>locality of reference</a:t>
            </a:r>
            <a:r>
              <a:rPr lang="en-IN" sz="1800" b="0" i="0" u="none" strike="noStrike" dirty="0">
                <a:solidFill>
                  <a:schemeClr val="tx1"/>
                </a:solidFill>
                <a:effectLst/>
                <a:latin typeface="+mn-lt"/>
              </a:rPr>
              <a:t>—it prevents the CPU from sitting idle.</a:t>
            </a:r>
          </a:p>
          <a:p>
            <a:pPr marL="342900" lvl="0" indent="-342900" rtl="0" fontAlgn="base">
              <a:lnSpc>
                <a:spcPct val="150000"/>
              </a:lnSpc>
              <a:buFont typeface="Arial" panose="020B0604020202020204" pitchFamily="34" charset="0"/>
              <a:buChar char="•"/>
            </a:pPr>
            <a:r>
              <a:rPr lang="en-IN" sz="1800" b="1" i="0" u="none" strike="noStrike" dirty="0">
                <a:solidFill>
                  <a:schemeClr val="tx1"/>
                </a:solidFill>
                <a:effectLst/>
                <a:latin typeface="+mn-lt"/>
              </a:rPr>
              <a:t>Bridge Speed Gaps:</a:t>
            </a:r>
            <a:r>
              <a:rPr lang="en-IN" sz="1800" b="0" i="0" u="none" strike="noStrike" dirty="0">
                <a:solidFill>
                  <a:schemeClr val="tx1"/>
                </a:solidFill>
                <a:effectLst/>
                <a:latin typeface="+mn-lt"/>
              </a:rPr>
              <a:t> It acts as a high-speed buffer between the ultra-fast CPU and the slower main memory or storage drives.</a:t>
            </a:r>
          </a:p>
          <a:p>
            <a:pPr marL="342900" lvl="0" indent="-342900" rtl="0" fontAlgn="base">
              <a:lnSpc>
                <a:spcPct val="150000"/>
              </a:lnSpc>
              <a:spcAft>
                <a:spcPts val="2100"/>
              </a:spcAft>
              <a:buFont typeface="Arial" panose="020B0604020202020204" pitchFamily="34" charset="0"/>
              <a:buChar char="•"/>
            </a:pPr>
            <a:r>
              <a:rPr lang="en-IN" sz="1800" b="1" i="0" u="none" strike="noStrike" dirty="0">
                <a:solidFill>
                  <a:schemeClr val="tx1"/>
                </a:solidFill>
                <a:effectLst/>
                <a:latin typeface="+mn-lt"/>
              </a:rPr>
              <a:t>Handle Multiple Tiers:</a:t>
            </a:r>
            <a:r>
              <a:rPr lang="en-IN" sz="1800" b="0" i="0" u="none" strike="noStrike" dirty="0">
                <a:solidFill>
                  <a:schemeClr val="tx1"/>
                </a:solidFill>
                <a:effectLst/>
                <a:latin typeface="+mn-lt"/>
              </a:rPr>
              <a:t> Modern systems use a hierarchy of caches—such as </a:t>
            </a:r>
            <a:r>
              <a:rPr lang="en-IN" sz="1800" b="1" i="0" u="none" strike="noStrike" dirty="0">
                <a:solidFill>
                  <a:schemeClr val="tx1"/>
                </a:solidFill>
                <a:effectLst/>
                <a:latin typeface="+mn-lt"/>
              </a:rPr>
              <a:t>L1</a:t>
            </a:r>
            <a:r>
              <a:rPr lang="en-IN" sz="1800" b="0" i="0" u="none" strike="noStrike" dirty="0">
                <a:solidFill>
                  <a:schemeClr val="tx1"/>
                </a:solidFill>
                <a:effectLst/>
                <a:latin typeface="+mn-lt"/>
              </a:rPr>
              <a:t>, </a:t>
            </a:r>
            <a:r>
              <a:rPr lang="en-IN" sz="1800" b="1" i="0" u="none" strike="noStrike" dirty="0">
                <a:solidFill>
                  <a:schemeClr val="tx1"/>
                </a:solidFill>
                <a:effectLst/>
                <a:latin typeface="+mn-lt"/>
              </a:rPr>
              <a:t>L2</a:t>
            </a:r>
            <a:r>
              <a:rPr lang="en-IN" sz="1800" b="0" i="0" u="none" strike="noStrike" dirty="0">
                <a:solidFill>
                  <a:schemeClr val="tx1"/>
                </a:solidFill>
                <a:effectLst/>
                <a:latin typeface="+mn-lt"/>
              </a:rPr>
              <a:t>, and </a:t>
            </a:r>
            <a:r>
              <a:rPr lang="en-IN" sz="1800" b="1" i="0" u="none" strike="noStrike" dirty="0">
                <a:solidFill>
                  <a:schemeClr val="tx1"/>
                </a:solidFill>
                <a:effectLst/>
                <a:latin typeface="+mn-lt"/>
              </a:rPr>
              <a:t>L3</a:t>
            </a:r>
            <a:r>
              <a:rPr lang="en-IN" sz="1800" b="0" i="0" u="none" strike="noStrike" dirty="0">
                <a:solidFill>
                  <a:schemeClr val="tx1"/>
                </a:solidFill>
                <a:effectLst/>
                <a:latin typeface="+mn-lt"/>
              </a:rPr>
              <a:t> caches—to balance storage capacity and speed, keeping the most critical instructions right inside or adjacent to the processor core</a:t>
            </a:r>
            <a:endParaRPr lang="en-IN" sz="19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507007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EE1EB0-DF41-04A4-ABC4-79D9A4B3C79E}"/>
              </a:ext>
            </a:extLst>
          </p:cNvPr>
          <p:cNvPicPr>
            <a:picLocks noChangeAspect="1"/>
          </p:cNvPicPr>
          <p:nvPr/>
        </p:nvPicPr>
        <p:blipFill>
          <a:blip r:embed="rId2"/>
          <a:stretch>
            <a:fillRect/>
          </a:stretch>
        </p:blipFill>
        <p:spPr>
          <a:xfrm>
            <a:off x="1871902" y="857864"/>
            <a:ext cx="8448195" cy="5147188"/>
          </a:xfrm>
          <a:prstGeom prst="rect">
            <a:avLst/>
          </a:prstGeom>
        </p:spPr>
      </p:pic>
    </p:spTree>
    <p:extLst>
      <p:ext uri="{BB962C8B-B14F-4D97-AF65-F5344CB8AC3E}">
        <p14:creationId xmlns:p14="http://schemas.microsoft.com/office/powerpoint/2010/main" val="735033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9A1F3B-0D64-3F79-48B0-5A93C0BB7755}"/>
              </a:ext>
            </a:extLst>
          </p:cNvPr>
          <p:cNvSpPr txBox="1"/>
          <p:nvPr/>
        </p:nvSpPr>
        <p:spPr>
          <a:xfrm>
            <a:off x="698090" y="592219"/>
            <a:ext cx="10972800" cy="4287199"/>
          </a:xfrm>
          <a:prstGeom prst="rect">
            <a:avLst/>
          </a:prstGeom>
          <a:noFill/>
        </p:spPr>
        <p:txBody>
          <a:bodyPr wrap="square">
            <a:spAutoFit/>
          </a:bodyPr>
          <a:lstStyle/>
          <a:p>
            <a:pPr rtl="0">
              <a:lnSpc>
                <a:spcPct val="150000"/>
              </a:lnSpc>
              <a:spcBef>
                <a:spcPts val="1800"/>
              </a:spcBef>
              <a:spcAft>
                <a:spcPts val="900"/>
              </a:spcAft>
              <a:buNone/>
            </a:pPr>
            <a:r>
              <a:rPr lang="en-IN" sz="1800" b="1" i="0" u="none" strike="noStrike" dirty="0">
                <a:solidFill>
                  <a:schemeClr val="tx1"/>
                </a:solidFill>
                <a:effectLst/>
                <a:latin typeface="+mn-lt"/>
              </a:rPr>
              <a:t>Instruction and Data Caches (Split Caches)</a:t>
            </a:r>
            <a:endParaRPr lang="en-IN" sz="1800" b="0" i="0" u="none" strike="noStrike" dirty="0">
              <a:solidFill>
                <a:schemeClr val="tx1"/>
              </a:solidFill>
              <a:effectLst/>
              <a:latin typeface="+mn-lt"/>
            </a:endParaRPr>
          </a:p>
          <a:p>
            <a:pPr marL="342900" lvl="0" indent="-342900" rtl="0" fontAlgn="base">
              <a:lnSpc>
                <a:spcPct val="150000"/>
              </a:lnSpc>
              <a:spcBef>
                <a:spcPts val="900"/>
              </a:spcBef>
              <a:buFont typeface="Arial" panose="020B0604020202020204" pitchFamily="34" charset="0"/>
              <a:buChar char="•"/>
            </a:pPr>
            <a:r>
              <a:rPr lang="en-IN" sz="1800" b="1" i="0" u="none" strike="noStrike" dirty="0">
                <a:solidFill>
                  <a:schemeClr val="tx1"/>
                </a:solidFill>
                <a:effectLst/>
                <a:latin typeface="+mn-lt"/>
              </a:rPr>
              <a:t>Instruction Cache (I-Cache):</a:t>
            </a:r>
            <a:r>
              <a:rPr lang="en-IN" sz="1800" b="0" i="0" u="none" strike="noStrike" dirty="0">
                <a:solidFill>
                  <a:schemeClr val="tx1"/>
                </a:solidFill>
                <a:effectLst/>
                <a:latin typeface="+mn-lt"/>
              </a:rPr>
              <a:t> Dedicated solely to storing executable machine instructions that the CPU needs to run next. </a:t>
            </a:r>
          </a:p>
          <a:p>
            <a:pPr marL="342900" lvl="0" indent="-342900" rtl="0" fontAlgn="base">
              <a:lnSpc>
                <a:spcPct val="150000"/>
              </a:lnSpc>
              <a:buFont typeface="Arial" panose="020B0604020202020204" pitchFamily="34" charset="0"/>
              <a:buChar char="•"/>
            </a:pPr>
            <a:r>
              <a:rPr lang="en-IN" sz="1800" b="1" i="0" u="none" strike="noStrike" dirty="0">
                <a:solidFill>
                  <a:schemeClr val="tx1"/>
                </a:solidFill>
                <a:effectLst/>
                <a:latin typeface="+mn-lt"/>
              </a:rPr>
              <a:t>Data Cache (D-Cache):</a:t>
            </a:r>
            <a:r>
              <a:rPr lang="en-IN" sz="1800" b="0" i="0" u="none" strike="noStrike" dirty="0">
                <a:solidFill>
                  <a:schemeClr val="tx1"/>
                </a:solidFill>
                <a:effectLst/>
                <a:latin typeface="+mn-lt"/>
              </a:rPr>
              <a:t> Dedicated to storing variables, operands, and temporary calculation results loaded or stored by program execution. </a:t>
            </a:r>
          </a:p>
          <a:p>
            <a:pPr lvl="0" rtl="0" fontAlgn="base">
              <a:lnSpc>
                <a:spcPct val="150000"/>
              </a:lnSpc>
              <a:spcAft>
                <a:spcPts val="2100"/>
              </a:spcAft>
            </a:pPr>
            <a:endParaRPr lang="en-IN" sz="1800" b="1" i="0" u="none" strike="noStrike" dirty="0">
              <a:solidFill>
                <a:schemeClr val="tx1"/>
              </a:solidFill>
              <a:effectLst/>
              <a:latin typeface="+mn-lt"/>
            </a:endParaRPr>
          </a:p>
          <a:p>
            <a:pPr lvl="0" rtl="0" fontAlgn="base">
              <a:lnSpc>
                <a:spcPct val="150000"/>
              </a:lnSpc>
              <a:spcAft>
                <a:spcPts val="2100"/>
              </a:spcAft>
            </a:pPr>
            <a:r>
              <a:rPr lang="en-IN" sz="1800" b="1" i="0" u="none" strike="noStrike" dirty="0">
                <a:solidFill>
                  <a:schemeClr val="tx1"/>
                </a:solidFill>
                <a:effectLst/>
                <a:latin typeface="+mn-lt"/>
              </a:rPr>
              <a:t>Why Split Them:</a:t>
            </a:r>
            <a:r>
              <a:rPr lang="en-IN" sz="1800" b="0" i="0" u="none" strike="noStrike" dirty="0">
                <a:solidFill>
                  <a:schemeClr val="tx1"/>
                </a:solidFill>
                <a:effectLst/>
                <a:latin typeface="+mn-lt"/>
              </a:rPr>
              <a:t> Separating instructions and data prevents structural hazards (contention), allowing the CPU to fetch an instruction and access data simultaneously in the same clock cycle. This is typical at the Level 1 (L1) cache stage. </a:t>
            </a:r>
            <a:endParaRPr lang="en-IN" sz="22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254548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4F6B55-D2C5-C794-2A9E-254D1B076640}"/>
              </a:ext>
            </a:extLst>
          </p:cNvPr>
          <p:cNvSpPr txBox="1"/>
          <p:nvPr/>
        </p:nvSpPr>
        <p:spPr>
          <a:xfrm>
            <a:off x="727587" y="307856"/>
            <a:ext cx="10589342" cy="1436291"/>
          </a:xfrm>
          <a:prstGeom prst="rect">
            <a:avLst/>
          </a:prstGeom>
          <a:noFill/>
        </p:spPr>
        <p:txBody>
          <a:bodyPr wrap="square">
            <a:spAutoFit/>
          </a:bodyPr>
          <a:lstStyle/>
          <a:p>
            <a:pPr rtl="0">
              <a:spcBef>
                <a:spcPts val="1800"/>
              </a:spcBef>
              <a:spcAft>
                <a:spcPts val="400"/>
              </a:spcAft>
              <a:buNone/>
            </a:pPr>
            <a:r>
              <a:rPr lang="en-IN" sz="1800" b="1" i="0" u="none" strike="noStrike" dirty="0">
                <a:solidFill>
                  <a:schemeClr val="tx1"/>
                </a:solidFill>
                <a:effectLst/>
                <a:latin typeface="+mn-lt"/>
              </a:rPr>
              <a:t>Instruction Cache</a:t>
            </a:r>
            <a:endParaRPr lang="en-IN" dirty="0">
              <a:effectLst/>
            </a:endParaRPr>
          </a:p>
          <a:p>
            <a:pPr marL="285750" indent="-285750" rtl="0">
              <a:spcBef>
                <a:spcPts val="1200"/>
              </a:spcBef>
              <a:spcAft>
                <a:spcPts val="1200"/>
              </a:spcAft>
              <a:buFont typeface="Arial" panose="020B0604020202020204" pitchFamily="34" charset="0"/>
              <a:buChar char="•"/>
            </a:pPr>
            <a:r>
              <a:rPr lang="en-IN" sz="1800" b="0" i="0" u="none" strike="noStrike" dirty="0">
                <a:solidFill>
                  <a:schemeClr val="tx1"/>
                </a:solidFill>
                <a:effectLst/>
                <a:latin typeface="+mn-lt"/>
              </a:rPr>
              <a:t>An instruction cache (I-cache) stores copies of program instructions that the CPU is likely to execute soon.</a:t>
            </a:r>
            <a:endParaRPr lang="en-IN" dirty="0">
              <a:effectLst/>
            </a:endParaRPr>
          </a:p>
          <a:p>
            <a:pPr marL="285750" indent="-285750" rtl="0">
              <a:spcBef>
                <a:spcPts val="1200"/>
              </a:spcBef>
              <a:spcAft>
                <a:spcPts val="1200"/>
              </a:spcAft>
              <a:buFont typeface="Arial" panose="020B0604020202020204" pitchFamily="34" charset="0"/>
              <a:buChar char="•"/>
            </a:pPr>
            <a:r>
              <a:rPr lang="en-IN" sz="1800" b="0" i="0" u="none" strike="noStrike" dirty="0">
                <a:solidFill>
                  <a:schemeClr val="tx1"/>
                </a:solidFill>
                <a:effectLst/>
                <a:latin typeface="+mn-lt"/>
              </a:rPr>
              <a:t>Its main purpose is to provide instructions quickly to the processor for decoding and execution.</a:t>
            </a:r>
            <a:endParaRPr lang="en-IN" dirty="0">
              <a:effectLst/>
            </a:endParaRPr>
          </a:p>
        </p:txBody>
      </p:sp>
      <p:pic>
        <p:nvPicPr>
          <p:cNvPr id="4" name="Picture 3">
            <a:extLst>
              <a:ext uri="{FF2B5EF4-FFF2-40B4-BE49-F238E27FC236}">
                <a16:creationId xmlns:a16="http://schemas.microsoft.com/office/drawing/2014/main" id="{D5FEE267-8B63-41B6-2638-05A163E50F91}"/>
              </a:ext>
            </a:extLst>
          </p:cNvPr>
          <p:cNvPicPr>
            <a:picLocks noChangeAspect="1"/>
          </p:cNvPicPr>
          <p:nvPr/>
        </p:nvPicPr>
        <p:blipFill>
          <a:blip r:embed="rId2"/>
          <a:stretch>
            <a:fillRect/>
          </a:stretch>
        </p:blipFill>
        <p:spPr>
          <a:xfrm>
            <a:off x="2460983" y="2013615"/>
            <a:ext cx="5972175" cy="4448175"/>
          </a:xfrm>
          <a:prstGeom prst="rect">
            <a:avLst/>
          </a:prstGeom>
        </p:spPr>
      </p:pic>
    </p:spTree>
    <p:extLst>
      <p:ext uri="{BB962C8B-B14F-4D97-AF65-F5344CB8AC3E}">
        <p14:creationId xmlns:p14="http://schemas.microsoft.com/office/powerpoint/2010/main" val="3862184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F4F2D7-C9D2-573F-00EB-1EBFF464DDD8}"/>
              </a:ext>
            </a:extLst>
          </p:cNvPr>
          <p:cNvSpPr txBox="1"/>
          <p:nvPr/>
        </p:nvSpPr>
        <p:spPr>
          <a:xfrm>
            <a:off x="727587" y="473327"/>
            <a:ext cx="8681884" cy="2745752"/>
          </a:xfrm>
          <a:prstGeom prst="rect">
            <a:avLst/>
          </a:prstGeom>
          <a:noFill/>
        </p:spPr>
        <p:txBody>
          <a:bodyPr wrap="square">
            <a:spAutoFit/>
          </a:bodyPr>
          <a:lstStyle/>
          <a:p>
            <a:pPr rtl="0">
              <a:lnSpc>
                <a:spcPct val="150000"/>
              </a:lnSpc>
              <a:spcBef>
                <a:spcPts val="1400"/>
              </a:spcBef>
              <a:spcAft>
                <a:spcPts val="400"/>
              </a:spcAft>
              <a:buNone/>
            </a:pPr>
            <a:r>
              <a:rPr lang="en-IN" sz="1800" b="1" i="0" u="none" strike="noStrike" dirty="0">
                <a:solidFill>
                  <a:schemeClr val="tx1"/>
                </a:solidFill>
                <a:effectLst/>
                <a:latin typeface="+mn-lt"/>
              </a:rPr>
              <a:t>Working of Instruction Cache</a:t>
            </a:r>
            <a:endParaRPr lang="en-IN" dirty="0">
              <a:effectLst/>
            </a:endParaRPr>
          </a:p>
          <a:p>
            <a:pPr marL="342900" lvl="0" indent="-342900" rtl="0" fontAlgn="base">
              <a:lnSpc>
                <a:spcPct val="150000"/>
              </a:lnSpc>
              <a:spcBef>
                <a:spcPts val="1200"/>
              </a:spcBef>
              <a:buFont typeface="+mj-lt"/>
              <a:buAutoNum type="arabicPeriod"/>
            </a:pPr>
            <a:r>
              <a:rPr lang="en-IN" sz="1800" b="0" i="0" u="none" strike="noStrike" dirty="0">
                <a:solidFill>
                  <a:schemeClr val="tx1"/>
                </a:solidFill>
                <a:effectLst/>
                <a:latin typeface="+mn-lt"/>
              </a:rPr>
              <a:t>The CPU requests the next instruction.</a:t>
            </a:r>
          </a:p>
          <a:p>
            <a:pPr marL="342900" lvl="0" indent="-342900" rtl="0" fontAlgn="base">
              <a:lnSpc>
                <a:spcPct val="150000"/>
              </a:lnSpc>
              <a:buFont typeface="+mj-lt"/>
              <a:buAutoNum type="arabicPeriod"/>
            </a:pPr>
            <a:r>
              <a:rPr lang="en-IN" sz="1800" b="0" i="0" u="none" strike="noStrike" dirty="0">
                <a:solidFill>
                  <a:schemeClr val="tx1"/>
                </a:solidFill>
                <a:effectLst/>
                <a:latin typeface="+mn-lt"/>
              </a:rPr>
              <a:t>The instruction cache checks whether it contains that instruction.</a:t>
            </a:r>
          </a:p>
          <a:p>
            <a:pPr marL="342900" lvl="0" indent="-342900" rtl="0" fontAlgn="base">
              <a:lnSpc>
                <a:spcPct val="150000"/>
              </a:lnSpc>
              <a:buFont typeface="+mj-lt"/>
              <a:buAutoNum type="arabicPeriod"/>
            </a:pPr>
            <a:r>
              <a:rPr lang="en-IN" sz="1800" b="0" i="0" u="none" strike="noStrike" dirty="0">
                <a:solidFill>
                  <a:schemeClr val="tx1"/>
                </a:solidFill>
                <a:effectLst/>
                <a:latin typeface="+mn-lt"/>
              </a:rPr>
              <a:t>If a cache hit occurs, the instruction is supplied quickly.</a:t>
            </a:r>
          </a:p>
          <a:p>
            <a:pPr marL="342900" lvl="0" indent="-342900" rtl="0" fontAlgn="base">
              <a:lnSpc>
                <a:spcPct val="150000"/>
              </a:lnSpc>
              <a:buFont typeface="+mj-lt"/>
              <a:buAutoNum type="arabicPeriod"/>
            </a:pPr>
            <a:r>
              <a:rPr lang="en-IN" sz="1800" b="0" i="0" u="none" strike="noStrike" dirty="0">
                <a:solidFill>
                  <a:schemeClr val="tx1"/>
                </a:solidFill>
                <a:effectLst/>
                <a:latin typeface="+mn-lt"/>
              </a:rPr>
              <a:t>If a cache miss occurs, the instruction is fetched from a lower memory level.</a:t>
            </a:r>
          </a:p>
          <a:p>
            <a:pPr marL="342900" lvl="0" indent="-342900" rtl="0" fontAlgn="base">
              <a:lnSpc>
                <a:spcPct val="150000"/>
              </a:lnSpc>
              <a:spcAft>
                <a:spcPts val="1200"/>
              </a:spcAft>
              <a:buFont typeface="+mj-lt"/>
              <a:buAutoNum type="arabicPeriod"/>
            </a:pPr>
            <a:r>
              <a:rPr lang="en-IN" sz="1800" b="0" i="0" u="none" strike="noStrike" dirty="0">
                <a:solidFill>
                  <a:schemeClr val="tx1"/>
                </a:solidFill>
                <a:effectLst/>
                <a:latin typeface="+mn-lt"/>
              </a:rPr>
              <a:t>The instruction may then be stored in the cache for future use.</a:t>
            </a:r>
            <a:endParaRPr lang="en-IN" sz="22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127540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F83997-268E-A2DD-7DD4-76550F4B4929}"/>
              </a:ext>
            </a:extLst>
          </p:cNvPr>
          <p:cNvSpPr txBox="1"/>
          <p:nvPr/>
        </p:nvSpPr>
        <p:spPr>
          <a:xfrm>
            <a:off x="1189703" y="492534"/>
            <a:ext cx="6096000" cy="2432845"/>
          </a:xfrm>
          <a:prstGeom prst="rect">
            <a:avLst/>
          </a:prstGeom>
          <a:noFill/>
        </p:spPr>
        <p:txBody>
          <a:bodyPr wrap="square">
            <a:spAutoFit/>
          </a:bodyPr>
          <a:lstStyle/>
          <a:p>
            <a:pPr rtl="0">
              <a:lnSpc>
                <a:spcPct val="150000"/>
              </a:lnSpc>
              <a:spcBef>
                <a:spcPts val="1200"/>
              </a:spcBef>
              <a:spcAft>
                <a:spcPts val="1200"/>
              </a:spcAft>
              <a:buNone/>
            </a:pPr>
            <a:r>
              <a:rPr lang="en-IN" sz="1800" b="1" i="0" u="none" strike="noStrike" dirty="0">
                <a:solidFill>
                  <a:schemeClr val="tx1"/>
                </a:solidFill>
                <a:effectLst/>
                <a:latin typeface="+mn-lt"/>
              </a:rPr>
              <a:t>Advantages</a:t>
            </a:r>
            <a:endParaRPr lang="en-IN" dirty="0">
              <a:effectLst/>
            </a:endParaRPr>
          </a:p>
          <a:p>
            <a:pPr marL="342900" lvl="0" indent="-342900" rtl="0" fontAlgn="base">
              <a:lnSpc>
                <a:spcPct val="150000"/>
              </a:lnSpc>
              <a:spcBef>
                <a:spcPts val="1200"/>
              </a:spcBef>
              <a:buFont typeface="Arial" panose="020B0604020202020204" pitchFamily="34" charset="0"/>
              <a:buChar char="•"/>
            </a:pPr>
            <a:r>
              <a:rPr lang="en-IN" sz="1800" b="0" i="0" u="none" strike="noStrike" dirty="0">
                <a:solidFill>
                  <a:schemeClr val="tx1"/>
                </a:solidFill>
                <a:effectLst/>
                <a:latin typeface="+mn-lt"/>
              </a:rPr>
              <a:t>Faster instruction fetching.</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Improved instruction pipeline performance.</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Reduced demand for instruction reads from RAM.</a:t>
            </a:r>
          </a:p>
          <a:p>
            <a:pPr marL="342900" lvl="0" indent="-342900" rtl="0" fontAlgn="base">
              <a:lnSpc>
                <a:spcPct val="150000"/>
              </a:lnSpc>
              <a:spcAft>
                <a:spcPts val="1200"/>
              </a:spcAft>
              <a:buFont typeface="Arial" panose="020B0604020202020204" pitchFamily="34" charset="0"/>
              <a:buChar char="•"/>
            </a:pPr>
            <a:r>
              <a:rPr lang="en-IN" sz="1800" b="0" i="0" u="none" strike="noStrike" dirty="0">
                <a:solidFill>
                  <a:schemeClr val="tx1"/>
                </a:solidFill>
                <a:effectLst/>
                <a:latin typeface="+mn-lt"/>
              </a:rPr>
              <a:t>Better execution efficiency for frequently used code.</a:t>
            </a:r>
            <a:endParaRPr lang="en-IN" sz="17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0621223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EA9459-9719-8926-CBBC-7297B570D60E}"/>
              </a:ext>
            </a:extLst>
          </p:cNvPr>
          <p:cNvSpPr txBox="1"/>
          <p:nvPr/>
        </p:nvSpPr>
        <p:spPr>
          <a:xfrm>
            <a:off x="619431" y="432672"/>
            <a:ext cx="10972801" cy="1436291"/>
          </a:xfrm>
          <a:prstGeom prst="rect">
            <a:avLst/>
          </a:prstGeom>
          <a:noFill/>
        </p:spPr>
        <p:txBody>
          <a:bodyPr wrap="square">
            <a:spAutoFit/>
          </a:bodyPr>
          <a:lstStyle/>
          <a:p>
            <a:pPr rtl="0">
              <a:spcBef>
                <a:spcPts val="1800"/>
              </a:spcBef>
              <a:spcAft>
                <a:spcPts val="400"/>
              </a:spcAft>
              <a:buNone/>
            </a:pPr>
            <a:r>
              <a:rPr lang="en-IN" sz="1800" b="1" i="0" u="none" strike="noStrike" dirty="0">
                <a:solidFill>
                  <a:schemeClr val="tx1"/>
                </a:solidFill>
                <a:effectLst/>
                <a:latin typeface="+mn-lt"/>
              </a:rPr>
              <a:t>Data Cache</a:t>
            </a:r>
            <a:endParaRPr lang="en-IN" dirty="0">
              <a:effectLst/>
            </a:endParaRPr>
          </a:p>
          <a:p>
            <a:pPr rtl="0">
              <a:spcBef>
                <a:spcPts val="1200"/>
              </a:spcBef>
              <a:spcAft>
                <a:spcPts val="1200"/>
              </a:spcAft>
              <a:buNone/>
            </a:pPr>
            <a:r>
              <a:rPr lang="en-IN" sz="1800" b="0" i="0" u="none" strike="noStrike" dirty="0">
                <a:solidFill>
                  <a:schemeClr val="tx1"/>
                </a:solidFill>
                <a:effectLst/>
                <a:latin typeface="+mn-lt"/>
              </a:rPr>
              <a:t>A data cache (D-cache) stores copies of data values that the CPU reads or writes during program execution.</a:t>
            </a:r>
            <a:endParaRPr lang="en-IN" dirty="0">
              <a:effectLst/>
            </a:endParaRPr>
          </a:p>
          <a:p>
            <a:pPr rtl="0">
              <a:spcBef>
                <a:spcPts val="1200"/>
              </a:spcBef>
              <a:spcAft>
                <a:spcPts val="1200"/>
              </a:spcAft>
              <a:buNone/>
            </a:pPr>
            <a:r>
              <a:rPr lang="en-IN" sz="1800" b="0" i="0" u="none" strike="noStrike" dirty="0">
                <a:solidFill>
                  <a:schemeClr val="tx1"/>
                </a:solidFill>
                <a:effectLst/>
                <a:latin typeface="+mn-lt"/>
              </a:rPr>
              <a:t>It helps the processor access variables, arrays, and other frequently used data quickly.</a:t>
            </a:r>
            <a:endParaRPr lang="en-IN" dirty="0">
              <a:effectLst/>
            </a:endParaRPr>
          </a:p>
        </p:txBody>
      </p:sp>
      <p:pic>
        <p:nvPicPr>
          <p:cNvPr id="4" name="Picture 3">
            <a:extLst>
              <a:ext uri="{FF2B5EF4-FFF2-40B4-BE49-F238E27FC236}">
                <a16:creationId xmlns:a16="http://schemas.microsoft.com/office/drawing/2014/main" id="{7EB58BBC-8AC6-0CE9-0200-B7EA9831DB2B}"/>
              </a:ext>
            </a:extLst>
          </p:cNvPr>
          <p:cNvPicPr>
            <a:picLocks noChangeAspect="1"/>
          </p:cNvPicPr>
          <p:nvPr/>
        </p:nvPicPr>
        <p:blipFill>
          <a:blip r:embed="rId2"/>
          <a:stretch>
            <a:fillRect/>
          </a:stretch>
        </p:blipFill>
        <p:spPr>
          <a:xfrm>
            <a:off x="2672531" y="2191105"/>
            <a:ext cx="6550127" cy="3802269"/>
          </a:xfrm>
          <a:prstGeom prst="rect">
            <a:avLst/>
          </a:prstGeom>
        </p:spPr>
      </p:pic>
    </p:spTree>
    <p:extLst>
      <p:ext uri="{BB962C8B-B14F-4D97-AF65-F5344CB8AC3E}">
        <p14:creationId xmlns:p14="http://schemas.microsoft.com/office/powerpoint/2010/main" val="40146299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C64C35-CC84-F469-9843-EAD4AECF3492}"/>
              </a:ext>
            </a:extLst>
          </p:cNvPr>
          <p:cNvSpPr txBox="1"/>
          <p:nvPr/>
        </p:nvSpPr>
        <p:spPr>
          <a:xfrm>
            <a:off x="560439" y="607715"/>
            <a:ext cx="10461522" cy="3886320"/>
          </a:xfrm>
          <a:prstGeom prst="rect">
            <a:avLst/>
          </a:prstGeom>
          <a:noFill/>
        </p:spPr>
        <p:txBody>
          <a:bodyPr wrap="square">
            <a:spAutoFit/>
          </a:bodyPr>
          <a:lstStyle/>
          <a:p>
            <a:pPr algn="just" rtl="0">
              <a:lnSpc>
                <a:spcPct val="150000"/>
              </a:lnSpc>
              <a:spcBef>
                <a:spcPts val="1400"/>
              </a:spcBef>
              <a:spcAft>
                <a:spcPts val="400"/>
              </a:spcAft>
              <a:buNone/>
            </a:pPr>
            <a:r>
              <a:rPr lang="en-IN" sz="1800" b="1" i="0" u="none" strike="noStrike" dirty="0">
                <a:solidFill>
                  <a:schemeClr val="tx1"/>
                </a:solidFill>
                <a:effectLst/>
                <a:latin typeface="+mn-lt"/>
              </a:rPr>
              <a:t>Working of Data Cache</a:t>
            </a:r>
            <a:endParaRPr lang="en-IN" dirty="0">
              <a:effectLst/>
            </a:endParaRPr>
          </a:p>
          <a:p>
            <a:pPr marL="342900" lvl="0" indent="-342900" algn="just" rtl="0" fontAlgn="base">
              <a:lnSpc>
                <a:spcPct val="150000"/>
              </a:lnSpc>
              <a:spcBef>
                <a:spcPts val="1200"/>
              </a:spcBef>
              <a:buFont typeface="+mj-lt"/>
              <a:buAutoNum type="arabicPeriod"/>
            </a:pPr>
            <a:r>
              <a:rPr lang="en-IN" sz="1800" b="0" i="0" u="none" strike="noStrike" dirty="0">
                <a:solidFill>
                  <a:schemeClr val="tx1"/>
                </a:solidFill>
                <a:effectLst/>
                <a:latin typeface="+mn-lt"/>
              </a:rPr>
              <a:t>The CPU requests a data value from memory.</a:t>
            </a:r>
          </a:p>
          <a:p>
            <a:pPr marL="342900" lvl="0" indent="-342900" algn="just" rtl="0" fontAlgn="base">
              <a:lnSpc>
                <a:spcPct val="150000"/>
              </a:lnSpc>
              <a:buFont typeface="+mj-lt"/>
              <a:buAutoNum type="arabicPeriod"/>
            </a:pPr>
            <a:r>
              <a:rPr lang="en-IN" sz="1800" b="0" i="0" u="none" strike="noStrike" dirty="0">
                <a:solidFill>
                  <a:schemeClr val="tx1"/>
                </a:solidFill>
                <a:effectLst/>
                <a:latin typeface="+mn-lt"/>
              </a:rPr>
              <a:t>The data cache checks whether the value is available.</a:t>
            </a:r>
          </a:p>
          <a:p>
            <a:pPr marL="342900" lvl="0" indent="-342900" algn="just" rtl="0" fontAlgn="base">
              <a:lnSpc>
                <a:spcPct val="150000"/>
              </a:lnSpc>
              <a:buFont typeface="+mj-lt"/>
              <a:buAutoNum type="arabicPeriod"/>
            </a:pPr>
            <a:r>
              <a:rPr lang="en-IN" sz="1800" b="0" i="0" u="none" strike="noStrike" dirty="0">
                <a:solidFill>
                  <a:schemeClr val="tx1"/>
                </a:solidFill>
                <a:effectLst/>
                <a:latin typeface="+mn-lt"/>
              </a:rPr>
              <a:t>If found, the value is supplied to the CPU.</a:t>
            </a:r>
          </a:p>
          <a:p>
            <a:pPr marL="342900" lvl="0" indent="-342900" algn="just" rtl="0" fontAlgn="base">
              <a:lnSpc>
                <a:spcPct val="150000"/>
              </a:lnSpc>
              <a:buFont typeface="+mj-lt"/>
              <a:buAutoNum type="arabicPeriod"/>
            </a:pPr>
            <a:r>
              <a:rPr lang="en-IN" sz="1800" b="0" i="0" u="none" strike="noStrike" dirty="0">
                <a:solidFill>
                  <a:schemeClr val="tx1"/>
                </a:solidFill>
                <a:effectLst/>
                <a:latin typeface="+mn-lt"/>
              </a:rPr>
              <a:t>If absent, the data is fetched from a lower memory level.</a:t>
            </a:r>
          </a:p>
          <a:p>
            <a:pPr marL="342900" lvl="0" indent="-342900" algn="just" rtl="0" fontAlgn="base">
              <a:lnSpc>
                <a:spcPct val="150000"/>
              </a:lnSpc>
              <a:spcAft>
                <a:spcPts val="1200"/>
              </a:spcAft>
              <a:buFont typeface="+mj-lt"/>
              <a:buAutoNum type="arabicPeriod"/>
            </a:pPr>
            <a:r>
              <a:rPr lang="en-IN" sz="1800" b="0" i="0" u="none" strike="noStrike" dirty="0">
                <a:solidFill>
                  <a:schemeClr val="tx1"/>
                </a:solidFill>
                <a:effectLst/>
                <a:latin typeface="+mn-lt"/>
              </a:rPr>
              <a:t>Depending on the cache write policy, updates may be written to the cache and/or main memory.</a:t>
            </a:r>
          </a:p>
          <a:p>
            <a:pPr algn="just" rtl="0">
              <a:lnSpc>
                <a:spcPct val="150000"/>
              </a:lnSpc>
              <a:spcBef>
                <a:spcPts val="1200"/>
              </a:spcBef>
              <a:spcAft>
                <a:spcPts val="1200"/>
              </a:spcAft>
              <a:buNone/>
            </a:pPr>
            <a:r>
              <a:rPr lang="en-IN" sz="1800" b="0" i="0" u="none" strike="noStrike" dirty="0">
                <a:solidFill>
                  <a:schemeClr val="tx1"/>
                </a:solidFill>
                <a:effectLst/>
                <a:latin typeface="+mn-lt"/>
              </a:rPr>
              <a:t>Example: Consider a program that repeatedly calculates the sum of elements in an array. The data cache can retain recently accessed array elements, helping subsequent accesses complete faster.</a:t>
            </a:r>
            <a:endParaRPr lang="en-IN" dirty="0">
              <a:effectLst/>
            </a:endParaRPr>
          </a:p>
        </p:txBody>
      </p:sp>
    </p:spTree>
    <p:extLst>
      <p:ext uri="{BB962C8B-B14F-4D97-AF65-F5344CB8AC3E}">
        <p14:creationId xmlns:p14="http://schemas.microsoft.com/office/powerpoint/2010/main" val="2686828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37DCA4-A936-A831-FE95-505BFCE41E93}"/>
              </a:ext>
            </a:extLst>
          </p:cNvPr>
          <p:cNvSpPr txBox="1"/>
          <p:nvPr/>
        </p:nvSpPr>
        <p:spPr>
          <a:xfrm>
            <a:off x="766916" y="327948"/>
            <a:ext cx="6096000" cy="2431435"/>
          </a:xfrm>
          <a:prstGeom prst="rect">
            <a:avLst/>
          </a:prstGeom>
          <a:noFill/>
        </p:spPr>
        <p:txBody>
          <a:bodyPr wrap="square">
            <a:spAutoFit/>
          </a:bodyPr>
          <a:lstStyle/>
          <a:p>
            <a:pPr rtl="0">
              <a:lnSpc>
                <a:spcPct val="150000"/>
              </a:lnSpc>
              <a:spcBef>
                <a:spcPts val="1200"/>
              </a:spcBef>
              <a:spcAft>
                <a:spcPts val="1200"/>
              </a:spcAft>
              <a:buNone/>
            </a:pPr>
            <a:r>
              <a:rPr lang="en-IN" sz="1800" b="1" i="0" u="none" strike="noStrike" dirty="0">
                <a:solidFill>
                  <a:schemeClr val="tx1"/>
                </a:solidFill>
                <a:effectLst/>
                <a:latin typeface="+mn-lt"/>
              </a:rPr>
              <a:t>Advantages</a:t>
            </a:r>
            <a:endParaRPr lang="en-IN" dirty="0">
              <a:effectLst/>
            </a:endParaRPr>
          </a:p>
          <a:p>
            <a:pPr marL="342900" lvl="0" indent="-342900" rtl="0" fontAlgn="base">
              <a:lnSpc>
                <a:spcPct val="150000"/>
              </a:lnSpc>
              <a:spcBef>
                <a:spcPts val="1200"/>
              </a:spcBef>
              <a:buFont typeface="Arial" panose="020B0604020202020204" pitchFamily="34" charset="0"/>
              <a:buChar char="•"/>
            </a:pPr>
            <a:r>
              <a:rPr lang="en-IN" sz="1800" b="0" i="0" u="none" strike="noStrike" dirty="0">
                <a:solidFill>
                  <a:schemeClr val="tx1"/>
                </a:solidFill>
                <a:effectLst/>
                <a:latin typeface="+mn-lt"/>
              </a:rPr>
              <a:t>Faster access to frequently used data.</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Reduced average memory access time.</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Improved performance of loops and calculations.</a:t>
            </a:r>
          </a:p>
          <a:p>
            <a:pPr marL="342900" lvl="0" indent="-342900" rtl="0" fontAlgn="base">
              <a:lnSpc>
                <a:spcPct val="150000"/>
              </a:lnSpc>
              <a:spcAft>
                <a:spcPts val="1200"/>
              </a:spcAft>
              <a:buFont typeface="Arial" panose="020B0604020202020204" pitchFamily="34" charset="0"/>
              <a:buChar char="•"/>
            </a:pPr>
            <a:r>
              <a:rPr lang="en-IN" sz="1800" b="0" i="0" u="none" strike="noStrike" dirty="0">
                <a:solidFill>
                  <a:schemeClr val="tx1"/>
                </a:solidFill>
                <a:effectLst/>
                <a:latin typeface="+mn-lt"/>
              </a:rPr>
              <a:t>Efficient handling of repeated data accesses.</a:t>
            </a:r>
            <a:endParaRPr lang="en-IN" sz="19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136730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D33A83-C988-0AA4-6C75-AB2C758B2B77}"/>
              </a:ext>
            </a:extLst>
          </p:cNvPr>
          <p:cNvSpPr txBox="1"/>
          <p:nvPr/>
        </p:nvSpPr>
        <p:spPr>
          <a:xfrm>
            <a:off x="1150375" y="396295"/>
            <a:ext cx="6096000" cy="446276"/>
          </a:xfrm>
          <a:prstGeom prst="rect">
            <a:avLst/>
          </a:prstGeom>
          <a:noFill/>
        </p:spPr>
        <p:txBody>
          <a:bodyPr wrap="square">
            <a:spAutoFit/>
          </a:bodyPr>
          <a:lstStyle/>
          <a:p>
            <a:pPr rtl="0">
              <a:buNone/>
            </a:pPr>
            <a:r>
              <a:rPr lang="en-IN" sz="1800" b="1" i="0" u="none" strike="noStrike" dirty="0">
                <a:solidFill>
                  <a:schemeClr val="tx1"/>
                </a:solidFill>
                <a:effectLst/>
                <a:latin typeface="+mn-lt"/>
              </a:rPr>
              <a:t>Unified Cache </a:t>
            </a:r>
            <a:endParaRPr lang="en-IN" dirty="0">
              <a:effectLst/>
            </a:endParaRPr>
          </a:p>
        </p:txBody>
      </p:sp>
      <p:sp>
        <p:nvSpPr>
          <p:cNvPr id="5" name="TextBox 4">
            <a:extLst>
              <a:ext uri="{FF2B5EF4-FFF2-40B4-BE49-F238E27FC236}">
                <a16:creationId xmlns:a16="http://schemas.microsoft.com/office/drawing/2014/main" id="{53122BB8-64BF-59E8-507A-A2EA75042840}"/>
              </a:ext>
            </a:extLst>
          </p:cNvPr>
          <p:cNvSpPr txBox="1"/>
          <p:nvPr/>
        </p:nvSpPr>
        <p:spPr>
          <a:xfrm>
            <a:off x="412956" y="1106843"/>
            <a:ext cx="4395018" cy="3265638"/>
          </a:xfrm>
          <a:prstGeom prst="rect">
            <a:avLst/>
          </a:prstGeom>
          <a:noFill/>
        </p:spPr>
        <p:txBody>
          <a:bodyPr wrap="square">
            <a:spAutoFit/>
          </a:bodyPr>
          <a:lstStyle/>
          <a:p>
            <a:pPr marL="285750" indent="-285750" algn="just" rtl="0">
              <a:lnSpc>
                <a:spcPct val="150000"/>
              </a:lnSpc>
              <a:spcBef>
                <a:spcPts val="1200"/>
              </a:spcBef>
              <a:spcAft>
                <a:spcPts val="1200"/>
              </a:spcAft>
              <a:buFont typeface="Arial" panose="020B0604020202020204" pitchFamily="34" charset="0"/>
              <a:buChar char="•"/>
            </a:pPr>
            <a:r>
              <a:rPr lang="en-IN" sz="1800" b="0" i="0" u="none" strike="noStrike" dirty="0">
                <a:solidFill>
                  <a:schemeClr val="tx1"/>
                </a:solidFill>
                <a:effectLst/>
                <a:latin typeface="+mn-lt"/>
              </a:rPr>
              <a:t>A unified cache stores both program instructions and data in the same cache structure.</a:t>
            </a:r>
            <a:endParaRPr lang="en-IN" dirty="0">
              <a:effectLst/>
            </a:endParaRPr>
          </a:p>
          <a:p>
            <a:pPr marL="285750" indent="-285750" algn="just" rtl="0">
              <a:lnSpc>
                <a:spcPct val="150000"/>
              </a:lnSpc>
              <a:spcBef>
                <a:spcPts val="1200"/>
              </a:spcBef>
              <a:spcAft>
                <a:spcPts val="1200"/>
              </a:spcAft>
              <a:buFont typeface="Arial" panose="020B0604020202020204" pitchFamily="34" charset="0"/>
              <a:buChar char="•"/>
            </a:pPr>
            <a:r>
              <a:rPr lang="en-IN" sz="1800" b="0" i="0" u="none" strike="noStrike" dirty="0">
                <a:solidFill>
                  <a:schemeClr val="tx1"/>
                </a:solidFill>
                <a:effectLst/>
                <a:latin typeface="+mn-lt"/>
              </a:rPr>
              <a:t>Unlike separate instruction and data caches, a unified cache does not dedicate its entire capacity exclusively to instructions or exclusively to data.</a:t>
            </a:r>
            <a:endParaRPr lang="en-IN" dirty="0">
              <a:effectLst/>
            </a:endParaRPr>
          </a:p>
        </p:txBody>
      </p:sp>
      <p:pic>
        <p:nvPicPr>
          <p:cNvPr id="6" name="Picture 5">
            <a:extLst>
              <a:ext uri="{FF2B5EF4-FFF2-40B4-BE49-F238E27FC236}">
                <a16:creationId xmlns:a16="http://schemas.microsoft.com/office/drawing/2014/main" id="{83CB37BC-14F7-9774-2E00-EAD25F9BA0ED}"/>
              </a:ext>
            </a:extLst>
          </p:cNvPr>
          <p:cNvPicPr>
            <a:picLocks noChangeAspect="1"/>
          </p:cNvPicPr>
          <p:nvPr/>
        </p:nvPicPr>
        <p:blipFill>
          <a:blip r:embed="rId2"/>
          <a:stretch>
            <a:fillRect/>
          </a:stretch>
        </p:blipFill>
        <p:spPr>
          <a:xfrm>
            <a:off x="5043947" y="983225"/>
            <a:ext cx="6862917" cy="5147188"/>
          </a:xfrm>
          <a:prstGeom prst="rect">
            <a:avLst/>
          </a:prstGeom>
        </p:spPr>
      </p:pic>
    </p:spTree>
    <p:extLst>
      <p:ext uri="{BB962C8B-B14F-4D97-AF65-F5344CB8AC3E}">
        <p14:creationId xmlns:p14="http://schemas.microsoft.com/office/powerpoint/2010/main" val="627085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25CE17-7861-C150-C11E-97975D7F6162}"/>
              </a:ext>
            </a:extLst>
          </p:cNvPr>
          <p:cNvSpPr txBox="1"/>
          <p:nvPr/>
        </p:nvSpPr>
        <p:spPr>
          <a:xfrm>
            <a:off x="845573" y="719972"/>
            <a:ext cx="9615949" cy="3732432"/>
          </a:xfrm>
          <a:prstGeom prst="rect">
            <a:avLst/>
          </a:prstGeom>
          <a:noFill/>
        </p:spPr>
        <p:txBody>
          <a:bodyPr wrap="square">
            <a:spAutoFit/>
          </a:bodyPr>
          <a:lstStyle/>
          <a:p>
            <a:pPr rtl="0">
              <a:lnSpc>
                <a:spcPct val="150000"/>
              </a:lnSpc>
              <a:spcBef>
                <a:spcPts val="1400"/>
              </a:spcBef>
              <a:spcAft>
                <a:spcPts val="400"/>
              </a:spcAft>
              <a:buNone/>
            </a:pPr>
            <a:r>
              <a:rPr lang="en-IN" sz="1800" b="1" i="0" u="none" strike="noStrike" dirty="0">
                <a:solidFill>
                  <a:schemeClr val="tx1"/>
                </a:solidFill>
                <a:effectLst/>
                <a:latin typeface="+mn-lt"/>
              </a:rPr>
              <a:t>Working of Unified Cache</a:t>
            </a:r>
            <a:endParaRPr lang="en-IN" dirty="0">
              <a:effectLst/>
            </a:endParaRPr>
          </a:p>
          <a:p>
            <a:pPr marL="342900" lvl="0" indent="-342900" rtl="0" fontAlgn="base">
              <a:lnSpc>
                <a:spcPct val="150000"/>
              </a:lnSpc>
              <a:spcBef>
                <a:spcPts val="1200"/>
              </a:spcBef>
              <a:buFont typeface="+mj-lt"/>
              <a:buAutoNum type="arabicPeriod"/>
            </a:pPr>
            <a:r>
              <a:rPr lang="en-IN" sz="1800" b="0" i="0" u="none" strike="noStrike" dirty="0">
                <a:solidFill>
                  <a:schemeClr val="tx1"/>
                </a:solidFill>
                <a:effectLst/>
                <a:latin typeface="+mn-lt"/>
              </a:rPr>
              <a:t>The CPU requests instructions or data.</a:t>
            </a:r>
          </a:p>
          <a:p>
            <a:pPr marL="342900" lvl="0" indent="-342900" rtl="0" fontAlgn="base">
              <a:lnSpc>
                <a:spcPct val="150000"/>
              </a:lnSpc>
              <a:buFont typeface="+mj-lt"/>
              <a:buAutoNum type="arabicPeriod"/>
            </a:pPr>
            <a:r>
              <a:rPr lang="en-IN" sz="1800" b="0" i="0" u="none" strike="noStrike" dirty="0">
                <a:solidFill>
                  <a:schemeClr val="tx1"/>
                </a:solidFill>
                <a:effectLst/>
                <a:latin typeface="+mn-lt"/>
              </a:rPr>
              <a:t>Both types of requests use the same cache.</a:t>
            </a:r>
          </a:p>
          <a:p>
            <a:pPr marL="342900" lvl="0" indent="-342900" rtl="0" fontAlgn="base">
              <a:lnSpc>
                <a:spcPct val="150000"/>
              </a:lnSpc>
              <a:buFont typeface="+mj-lt"/>
              <a:buAutoNum type="arabicPeriod"/>
            </a:pPr>
            <a:r>
              <a:rPr lang="en-IN" sz="1800" b="0" i="0" u="none" strike="noStrike" dirty="0">
                <a:solidFill>
                  <a:schemeClr val="tx1"/>
                </a:solidFill>
                <a:effectLst/>
                <a:latin typeface="+mn-lt"/>
              </a:rPr>
              <a:t>The cache checks for the requested information.</a:t>
            </a:r>
          </a:p>
          <a:p>
            <a:pPr marL="342900" lvl="0" indent="-342900" rtl="0" fontAlgn="base">
              <a:lnSpc>
                <a:spcPct val="150000"/>
              </a:lnSpc>
              <a:buFont typeface="+mj-lt"/>
              <a:buAutoNum type="arabicPeriod"/>
            </a:pPr>
            <a:r>
              <a:rPr lang="en-IN" sz="1800" b="0" i="0" u="none" strike="noStrike" dirty="0">
                <a:solidFill>
                  <a:schemeClr val="tx1"/>
                </a:solidFill>
                <a:effectLst/>
                <a:latin typeface="+mn-lt"/>
              </a:rPr>
              <a:t>On a hit, it supplies the information to the CPU.</a:t>
            </a:r>
          </a:p>
          <a:p>
            <a:pPr marL="342900" lvl="0" indent="-342900" rtl="0" fontAlgn="base">
              <a:lnSpc>
                <a:spcPct val="150000"/>
              </a:lnSpc>
              <a:spcAft>
                <a:spcPts val="1200"/>
              </a:spcAft>
              <a:buFont typeface="+mj-lt"/>
              <a:buAutoNum type="arabicPeriod"/>
            </a:pPr>
            <a:r>
              <a:rPr lang="en-IN" sz="1800" b="0" i="0" u="none" strike="noStrike" dirty="0">
                <a:solidFill>
                  <a:schemeClr val="tx1"/>
                </a:solidFill>
                <a:effectLst/>
                <a:latin typeface="+mn-lt"/>
              </a:rPr>
              <a:t>On a miss, it fetches the information from a lower memory level.</a:t>
            </a:r>
          </a:p>
          <a:p>
            <a:pPr>
              <a:lnSpc>
                <a:spcPct val="150000"/>
              </a:lnSpc>
              <a:buNone/>
            </a:pPr>
            <a:br>
              <a:rPr lang="en-IN" dirty="0"/>
            </a:br>
            <a:endParaRPr lang="en-IN" dirty="0"/>
          </a:p>
        </p:txBody>
      </p:sp>
    </p:spTree>
    <p:extLst>
      <p:ext uri="{BB962C8B-B14F-4D97-AF65-F5344CB8AC3E}">
        <p14:creationId xmlns:p14="http://schemas.microsoft.com/office/powerpoint/2010/main" val="1849200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BF081D-BF4D-ABD1-605F-97034E309D0F}"/>
              </a:ext>
            </a:extLst>
          </p:cNvPr>
          <p:cNvSpPr txBox="1"/>
          <p:nvPr/>
        </p:nvSpPr>
        <p:spPr>
          <a:xfrm>
            <a:off x="1248697" y="782015"/>
            <a:ext cx="10196051" cy="4115357"/>
          </a:xfrm>
          <a:prstGeom prst="rect">
            <a:avLst/>
          </a:prstGeom>
          <a:noFill/>
        </p:spPr>
        <p:txBody>
          <a:bodyPr wrap="square">
            <a:spAutoFit/>
          </a:bodyPr>
          <a:lstStyle/>
          <a:p>
            <a:pPr rtl="0">
              <a:lnSpc>
                <a:spcPct val="150000"/>
              </a:lnSpc>
              <a:spcBef>
                <a:spcPts val="1400"/>
              </a:spcBef>
              <a:spcAft>
                <a:spcPts val="400"/>
              </a:spcAft>
              <a:buNone/>
            </a:pPr>
            <a:r>
              <a:rPr lang="en-IN" sz="1800" b="1" i="0" u="none" strike="noStrike" dirty="0">
                <a:solidFill>
                  <a:schemeClr val="tx1"/>
                </a:solidFill>
                <a:effectLst/>
                <a:latin typeface="+mn-lt"/>
              </a:rPr>
              <a:t>Advantages</a:t>
            </a:r>
            <a:endParaRPr lang="en-IN" dirty="0">
              <a:effectLst/>
            </a:endParaRPr>
          </a:p>
          <a:p>
            <a:pPr marL="342900" lvl="0" indent="-342900" rtl="0" fontAlgn="base">
              <a:lnSpc>
                <a:spcPct val="150000"/>
              </a:lnSpc>
              <a:spcBef>
                <a:spcPts val="1200"/>
              </a:spcBef>
              <a:buFont typeface="Arial" panose="020B0604020202020204" pitchFamily="34" charset="0"/>
              <a:buChar char="•"/>
            </a:pPr>
            <a:r>
              <a:rPr lang="en-IN" sz="1800" b="0" i="0" u="none" strike="noStrike" dirty="0">
                <a:solidFill>
                  <a:schemeClr val="tx1"/>
                </a:solidFill>
                <a:effectLst/>
                <a:latin typeface="+mn-lt"/>
              </a:rPr>
              <a:t>Cache capacity can be shared flexibly between instructions and data.</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May reduce wasted space when one type of information needs more capacity.</a:t>
            </a:r>
          </a:p>
          <a:p>
            <a:pPr marL="342900" lvl="0" indent="-342900" rtl="0" fontAlgn="base">
              <a:lnSpc>
                <a:spcPct val="150000"/>
              </a:lnSpc>
              <a:spcAft>
                <a:spcPts val="1200"/>
              </a:spcAft>
              <a:buFont typeface="Arial" panose="020B0604020202020204" pitchFamily="34" charset="0"/>
              <a:buChar char="•"/>
            </a:pPr>
            <a:r>
              <a:rPr lang="en-IN" sz="1800" b="0" i="0" u="none" strike="noStrike" dirty="0">
                <a:solidFill>
                  <a:schemeClr val="tx1"/>
                </a:solidFill>
                <a:effectLst/>
                <a:latin typeface="+mn-lt"/>
              </a:rPr>
              <a:t>Can simplify cache organization.</a:t>
            </a:r>
          </a:p>
          <a:p>
            <a:pPr rtl="0">
              <a:lnSpc>
                <a:spcPct val="150000"/>
              </a:lnSpc>
              <a:spcBef>
                <a:spcPts val="1400"/>
              </a:spcBef>
              <a:spcAft>
                <a:spcPts val="400"/>
              </a:spcAft>
              <a:buNone/>
            </a:pPr>
            <a:r>
              <a:rPr lang="en-IN" sz="1800" b="1" i="0" u="none" strike="noStrike" dirty="0">
                <a:solidFill>
                  <a:schemeClr val="tx1"/>
                </a:solidFill>
                <a:effectLst/>
                <a:latin typeface="+mn-lt"/>
              </a:rPr>
              <a:t>Disadvantages</a:t>
            </a:r>
            <a:endParaRPr lang="en-IN" dirty="0">
              <a:effectLst/>
            </a:endParaRPr>
          </a:p>
          <a:p>
            <a:pPr marL="342900" lvl="0" indent="-342900" rtl="0" fontAlgn="base">
              <a:lnSpc>
                <a:spcPct val="150000"/>
              </a:lnSpc>
              <a:spcBef>
                <a:spcPts val="1200"/>
              </a:spcBef>
              <a:buFont typeface="Arial" panose="020B0604020202020204" pitchFamily="34" charset="0"/>
              <a:buChar char="•"/>
            </a:pPr>
            <a:r>
              <a:rPr lang="en-IN" sz="1800" b="0" i="0" u="none" strike="noStrike" dirty="0">
                <a:solidFill>
                  <a:schemeClr val="tx1"/>
                </a:solidFill>
                <a:effectLst/>
                <a:latin typeface="+mn-lt"/>
              </a:rPr>
              <a:t>Instruction and data requests may compete for cache capacity.</a:t>
            </a:r>
          </a:p>
          <a:p>
            <a:pPr marL="342900" lvl="0" indent="-342900" rtl="0" fontAlgn="base">
              <a:lnSpc>
                <a:spcPct val="150000"/>
              </a:lnSpc>
              <a:buFont typeface="Arial" panose="020B0604020202020204" pitchFamily="34" charset="0"/>
              <a:buChar char="•"/>
            </a:pPr>
            <a:r>
              <a:rPr lang="en-IN" sz="1800" b="0" i="0" u="none" strike="noStrike" dirty="0">
                <a:solidFill>
                  <a:schemeClr val="tx1"/>
                </a:solidFill>
                <a:effectLst/>
                <a:latin typeface="+mn-lt"/>
              </a:rPr>
              <a:t>Accesses may contend for shared cache resources.</a:t>
            </a:r>
          </a:p>
          <a:p>
            <a:pPr marL="342900" lvl="0" indent="-342900" rtl="0" fontAlgn="base">
              <a:lnSpc>
                <a:spcPct val="150000"/>
              </a:lnSpc>
              <a:spcAft>
                <a:spcPts val="1200"/>
              </a:spcAft>
              <a:buFont typeface="Arial" panose="020B0604020202020204" pitchFamily="34" charset="0"/>
              <a:buChar char="•"/>
            </a:pPr>
            <a:r>
              <a:rPr lang="en-IN" sz="1800" b="0" i="0" u="none" strike="noStrike" dirty="0">
                <a:solidFill>
                  <a:schemeClr val="tx1"/>
                </a:solidFill>
                <a:effectLst/>
                <a:latin typeface="+mn-lt"/>
              </a:rPr>
              <a:t>Performance depends on workload and cache design.</a:t>
            </a:r>
            <a:endParaRPr lang="en-IN" sz="22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898785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7F19AE-781A-54E5-37E8-472EEE8F8DE6}"/>
              </a:ext>
            </a:extLst>
          </p:cNvPr>
          <p:cNvSpPr txBox="1"/>
          <p:nvPr/>
        </p:nvSpPr>
        <p:spPr>
          <a:xfrm>
            <a:off x="894735" y="188959"/>
            <a:ext cx="8672051" cy="400110"/>
          </a:xfrm>
          <a:prstGeom prst="rect">
            <a:avLst/>
          </a:prstGeom>
          <a:noFill/>
        </p:spPr>
        <p:txBody>
          <a:bodyPr wrap="square">
            <a:spAutoFit/>
          </a:bodyPr>
          <a:lstStyle/>
          <a:p>
            <a:pPr rtl="0">
              <a:buNone/>
            </a:pPr>
            <a:r>
              <a:rPr lang="en-IN" sz="2000" b="1" i="0" u="none" strike="noStrike" dirty="0">
                <a:solidFill>
                  <a:schemeClr val="tx1"/>
                </a:solidFill>
                <a:effectLst/>
                <a:latin typeface="+mn-lt"/>
              </a:rPr>
              <a:t>Cache Mapping and Operations: Cache mapping techniques</a:t>
            </a:r>
            <a:endParaRPr lang="en-IN" sz="2000" dirty="0">
              <a:effectLst/>
            </a:endParaRPr>
          </a:p>
        </p:txBody>
      </p:sp>
      <p:sp>
        <p:nvSpPr>
          <p:cNvPr id="5" name="TextBox 4">
            <a:extLst>
              <a:ext uri="{FF2B5EF4-FFF2-40B4-BE49-F238E27FC236}">
                <a16:creationId xmlns:a16="http://schemas.microsoft.com/office/drawing/2014/main" id="{983A42FC-F584-61CB-49FE-7A3965F07D8C}"/>
              </a:ext>
            </a:extLst>
          </p:cNvPr>
          <p:cNvSpPr txBox="1"/>
          <p:nvPr/>
        </p:nvSpPr>
        <p:spPr>
          <a:xfrm>
            <a:off x="309716" y="760200"/>
            <a:ext cx="11572568" cy="4353115"/>
          </a:xfrm>
          <a:prstGeom prst="rect">
            <a:avLst/>
          </a:prstGeom>
          <a:noFill/>
        </p:spPr>
        <p:txBody>
          <a:bodyPr wrap="square">
            <a:spAutoFit/>
          </a:bodyPr>
          <a:lstStyle/>
          <a:p>
            <a:pPr marL="0" marR="0" indent="0" algn="just" rtl="0" fontAlgn="base">
              <a:lnSpc>
                <a:spcPct val="150000"/>
              </a:lnSpc>
              <a:spcAft>
                <a:spcPts val="750"/>
              </a:spcAft>
              <a:buNone/>
            </a:pPr>
            <a:r>
              <a:rPr lang="en-IN" sz="1800" b="0" i="0" spc="12" dirty="0">
                <a:solidFill>
                  <a:schemeClr val="tx1"/>
                </a:solidFill>
                <a:effectLst/>
                <a:latin typeface="+mn-lt"/>
              </a:rPr>
              <a:t>In modern computer systems, the speed difference between the processor and main memory (RAM) can significantly affect system performance. To bridge this gap, computers use a small, high-speed memory known as cache memory. But since cache is limited in size, the system needs a smart way to decide where to place data from main memory — and that’s where cache mapping comes in.</a:t>
            </a:r>
            <a:endParaRPr lang="en-IN" sz="1800" b="0" i="0" spc="10" dirty="0">
              <a:solidFill>
                <a:schemeClr val="tx1"/>
              </a:solidFill>
              <a:effectLst/>
              <a:latin typeface="+mn-lt"/>
            </a:endParaRPr>
          </a:p>
          <a:p>
            <a:pPr marL="342900" marR="0" lvl="0" indent="-342900" algn="just" fontAlgn="base">
              <a:lnSpc>
                <a:spcPct val="150000"/>
              </a:lnSpc>
              <a:spcAft>
                <a:spcPts val="1800"/>
              </a:spcAft>
              <a:buFont typeface="Arial" panose="020B0604020202020204" pitchFamily="34" charset="0"/>
              <a:buChar char="•"/>
            </a:pPr>
            <a:r>
              <a:rPr lang="en-IN" sz="1800" b="0" i="0" spc="12" dirty="0">
                <a:solidFill>
                  <a:schemeClr val="tx1"/>
                </a:solidFill>
                <a:effectLst/>
                <a:latin typeface="+mn-lt"/>
              </a:rPr>
              <a:t>Cache mapping is a technique used to determine where a particular block of main memory will be stored in the cache.</a:t>
            </a:r>
            <a:endParaRPr lang="en-IN" sz="1800" b="0" i="0" spc="10" dirty="0">
              <a:solidFill>
                <a:schemeClr val="tx1"/>
              </a:solidFill>
              <a:effectLst/>
              <a:latin typeface="+mn-lt"/>
            </a:endParaRPr>
          </a:p>
          <a:p>
            <a:pPr marL="342900" marR="0" lvl="0" indent="-342900" algn="just" fontAlgn="base">
              <a:lnSpc>
                <a:spcPct val="150000"/>
              </a:lnSpc>
              <a:spcAft>
                <a:spcPts val="1800"/>
              </a:spcAft>
              <a:buFont typeface="Arial" panose="020B0604020202020204" pitchFamily="34" charset="0"/>
              <a:buChar char="•"/>
            </a:pPr>
            <a:r>
              <a:rPr lang="en-IN" sz="1800" b="0" i="0" spc="12" dirty="0">
                <a:solidFill>
                  <a:schemeClr val="tx1"/>
                </a:solidFill>
                <a:effectLst/>
                <a:latin typeface="+mn-lt"/>
              </a:rPr>
              <a:t>It defines how and where that new data block from main memory will be placed inside the cache.</a:t>
            </a:r>
            <a:endParaRPr lang="en-IN" sz="1800" b="0" i="0" spc="10" dirty="0">
              <a:solidFill>
                <a:schemeClr val="tx1"/>
              </a:solidFill>
              <a:effectLst/>
              <a:latin typeface="+mn-lt"/>
            </a:endParaRPr>
          </a:p>
          <a:p>
            <a:pPr algn="just">
              <a:lnSpc>
                <a:spcPct val="150000"/>
              </a:lnSpc>
              <a:buNone/>
            </a:pPr>
            <a:br>
              <a:rPr lang="en-IN" dirty="0"/>
            </a:br>
            <a:endParaRPr lang="en-IN" dirty="0"/>
          </a:p>
        </p:txBody>
      </p:sp>
      <p:pic>
        <p:nvPicPr>
          <p:cNvPr id="6" name="Picture 5" descr="cpu">
            <a:extLst>
              <a:ext uri="{FF2B5EF4-FFF2-40B4-BE49-F238E27FC236}">
                <a16:creationId xmlns:a16="http://schemas.microsoft.com/office/drawing/2014/main" id="{88F8E4AB-F71B-6759-3A54-1243C2D03645}"/>
              </a:ext>
            </a:extLst>
          </p:cNvPr>
          <p:cNvPicPr>
            <a:picLocks noChangeAspect="1"/>
          </p:cNvPicPr>
          <p:nvPr/>
        </p:nvPicPr>
        <p:blipFill>
          <a:blip r:embed="rId2"/>
          <a:stretch>
            <a:fillRect/>
          </a:stretch>
        </p:blipFill>
        <p:spPr>
          <a:xfrm>
            <a:off x="2241753" y="4097258"/>
            <a:ext cx="8048727" cy="2374375"/>
          </a:xfrm>
          <a:prstGeom prst="rect">
            <a:avLst/>
          </a:prstGeom>
        </p:spPr>
      </p:pic>
      <p:sp>
        <p:nvSpPr>
          <p:cNvPr id="8" name="TextBox 7">
            <a:extLst>
              <a:ext uri="{FF2B5EF4-FFF2-40B4-BE49-F238E27FC236}">
                <a16:creationId xmlns:a16="http://schemas.microsoft.com/office/drawing/2014/main" id="{1D28AC92-7CE8-3915-DD48-0AD7887B4053}"/>
              </a:ext>
            </a:extLst>
          </p:cNvPr>
          <p:cNvSpPr txBox="1"/>
          <p:nvPr/>
        </p:nvSpPr>
        <p:spPr>
          <a:xfrm>
            <a:off x="5230760" y="6438209"/>
            <a:ext cx="6096000" cy="230832"/>
          </a:xfrm>
          <a:prstGeom prst="rect">
            <a:avLst/>
          </a:prstGeom>
          <a:noFill/>
        </p:spPr>
        <p:txBody>
          <a:bodyPr wrap="square">
            <a:spAutoFit/>
          </a:bodyPr>
          <a:lstStyle/>
          <a:p>
            <a:r>
              <a:rPr lang="en-IN" sz="1800" b="0" i="1" spc="10" dirty="0">
                <a:solidFill>
                  <a:schemeClr val="tx1"/>
                </a:solidFill>
                <a:effectLst/>
                <a:latin typeface="+mn-lt"/>
              </a:rPr>
              <a:t>Cache-RAM Mapping</a:t>
            </a:r>
            <a:endParaRPr lang="en-IN" dirty="0"/>
          </a:p>
        </p:txBody>
      </p:sp>
    </p:spTree>
    <p:extLst>
      <p:ext uri="{BB962C8B-B14F-4D97-AF65-F5344CB8AC3E}">
        <p14:creationId xmlns:p14="http://schemas.microsoft.com/office/powerpoint/2010/main" val="16062426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E58CFF-7B76-EC83-311D-3EEC083764A1}"/>
              </a:ext>
            </a:extLst>
          </p:cNvPr>
          <p:cNvSpPr txBox="1"/>
          <p:nvPr/>
        </p:nvSpPr>
        <p:spPr>
          <a:xfrm>
            <a:off x="432619" y="435173"/>
            <a:ext cx="11385755" cy="3611245"/>
          </a:xfrm>
          <a:prstGeom prst="rect">
            <a:avLst/>
          </a:prstGeom>
          <a:noFill/>
        </p:spPr>
        <p:txBody>
          <a:bodyPr wrap="square">
            <a:spAutoFit/>
          </a:bodyPr>
          <a:lstStyle/>
          <a:p>
            <a:pPr marL="0" marR="0" indent="0" algn="l" fontAlgn="base">
              <a:lnSpc>
                <a:spcPct val="150000"/>
              </a:lnSpc>
              <a:buNone/>
            </a:pPr>
            <a:r>
              <a:rPr lang="en-IN" sz="1800" b="1" i="0" spc="12" dirty="0">
                <a:solidFill>
                  <a:schemeClr val="tx1"/>
                </a:solidFill>
                <a:effectLst/>
                <a:latin typeface="+mn-lt"/>
              </a:rPr>
              <a:t>Key Terminologies in Cache Mapping</a:t>
            </a:r>
            <a:endParaRPr lang="en-IN" sz="1800" b="1" i="0" spc="0" dirty="0">
              <a:solidFill>
                <a:schemeClr val="tx1"/>
              </a:solidFill>
              <a:effectLst/>
              <a:latin typeface="+mn-lt"/>
            </a:endParaRPr>
          </a:p>
          <a:p>
            <a:pPr marL="0" marR="0" indent="0" algn="l" rtl="0" fontAlgn="base">
              <a:lnSpc>
                <a:spcPct val="150000"/>
              </a:lnSpc>
              <a:spcAft>
                <a:spcPts val="750"/>
              </a:spcAft>
              <a:buNone/>
            </a:pPr>
            <a:r>
              <a:rPr lang="en-IN" sz="1800" b="0" i="0" spc="12" dirty="0">
                <a:solidFill>
                  <a:schemeClr val="tx1"/>
                </a:solidFill>
                <a:effectLst/>
                <a:latin typeface="+mn-lt"/>
              </a:rPr>
              <a:t>Before diving into mapping techniques, let’s understand some important terms:</a:t>
            </a:r>
            <a:endParaRPr lang="en-IN" sz="1800" b="0" i="0" spc="10" dirty="0">
              <a:solidFill>
                <a:schemeClr val="tx1"/>
              </a:solidFill>
              <a:effectLst/>
              <a:latin typeface="+mn-lt"/>
            </a:endParaRPr>
          </a:p>
          <a:p>
            <a:pPr marL="342900" marR="0" lvl="0" indent="-342900" algn="l" fontAlgn="base">
              <a:spcAft>
                <a:spcPts val="1800"/>
              </a:spcAft>
              <a:buFont typeface="+mj-lt"/>
              <a:buAutoNum type="arabicPeriod"/>
            </a:pPr>
            <a:r>
              <a:rPr lang="en-IN" sz="1800" b="1" i="0" spc="10" dirty="0">
                <a:solidFill>
                  <a:schemeClr val="tx1"/>
                </a:solidFill>
                <a:effectLst/>
                <a:latin typeface="+mn-lt"/>
              </a:rPr>
              <a:t>Main Memory Blocks:</a:t>
            </a:r>
            <a:r>
              <a:rPr lang="en-IN" sz="1800" b="0" i="0" spc="12" dirty="0">
                <a:solidFill>
                  <a:schemeClr val="tx1"/>
                </a:solidFill>
                <a:effectLst/>
                <a:latin typeface="+mn-lt"/>
              </a:rPr>
              <a:t> The main memory is divided into equal-sized sections called blocks.</a:t>
            </a:r>
            <a:endParaRPr lang="en-IN" sz="1800" b="0" i="0" spc="10" dirty="0">
              <a:solidFill>
                <a:schemeClr val="tx1"/>
              </a:solidFill>
              <a:effectLst/>
              <a:latin typeface="+mn-lt"/>
            </a:endParaRPr>
          </a:p>
          <a:p>
            <a:pPr marL="342900" marR="0" lvl="0" indent="-342900" algn="l" fontAlgn="base">
              <a:spcAft>
                <a:spcPts val="1800"/>
              </a:spcAft>
              <a:buFont typeface="+mj-lt"/>
              <a:buAutoNum type="arabicPeriod" startAt="2"/>
            </a:pPr>
            <a:r>
              <a:rPr lang="en-IN" sz="1800" b="1" i="0" spc="10" dirty="0">
                <a:solidFill>
                  <a:schemeClr val="tx1"/>
                </a:solidFill>
                <a:effectLst/>
                <a:latin typeface="+mn-lt"/>
              </a:rPr>
              <a:t>Cache Lines (or Cache Blocks):</a:t>
            </a:r>
            <a:r>
              <a:rPr lang="en-IN" sz="1800" b="0" i="0" spc="12" dirty="0">
                <a:solidFill>
                  <a:schemeClr val="tx1"/>
                </a:solidFill>
                <a:effectLst/>
                <a:latin typeface="+mn-lt"/>
              </a:rPr>
              <a:t> The cache memory is also divided into equal partitions called cache lines.</a:t>
            </a:r>
            <a:endParaRPr lang="en-IN" sz="1800" b="0" i="0" spc="10" dirty="0">
              <a:solidFill>
                <a:schemeClr val="tx1"/>
              </a:solidFill>
              <a:effectLst/>
              <a:latin typeface="+mn-lt"/>
            </a:endParaRPr>
          </a:p>
          <a:p>
            <a:pPr marL="342900" marR="0" lvl="0" indent="-342900" algn="l" fontAlgn="base">
              <a:spcAft>
                <a:spcPts val="1800"/>
              </a:spcAft>
              <a:buFont typeface="+mj-lt"/>
              <a:buAutoNum type="arabicPeriod" startAt="3"/>
            </a:pPr>
            <a:r>
              <a:rPr lang="en-IN" sz="1800" b="1" i="0" spc="10" dirty="0">
                <a:solidFill>
                  <a:schemeClr val="tx1"/>
                </a:solidFill>
                <a:effectLst/>
                <a:latin typeface="+mn-lt"/>
              </a:rPr>
              <a:t>Block Size:</a:t>
            </a:r>
            <a:r>
              <a:rPr lang="en-IN" sz="1800" b="0" i="0" spc="12" dirty="0">
                <a:solidFill>
                  <a:schemeClr val="tx1"/>
                </a:solidFill>
                <a:effectLst/>
                <a:latin typeface="+mn-lt"/>
              </a:rPr>
              <a:t> The number of bytes or words stored in one block or line.</a:t>
            </a:r>
            <a:endParaRPr lang="en-IN" sz="1800" b="0" i="0" spc="10" dirty="0">
              <a:solidFill>
                <a:schemeClr val="tx1"/>
              </a:solidFill>
              <a:effectLst/>
              <a:latin typeface="+mn-lt"/>
            </a:endParaRPr>
          </a:p>
          <a:p>
            <a:pPr marL="342900" marR="0" lvl="0" indent="-342900" algn="l" fontAlgn="base">
              <a:spcAft>
                <a:spcPts val="1800"/>
              </a:spcAft>
              <a:buFont typeface="+mj-lt"/>
              <a:buAutoNum type="arabicPeriod" startAt="4"/>
            </a:pPr>
            <a:r>
              <a:rPr lang="en-IN" sz="1800" b="1" i="0" spc="10" dirty="0">
                <a:solidFill>
                  <a:schemeClr val="tx1"/>
                </a:solidFill>
                <a:effectLst/>
                <a:latin typeface="+mn-lt"/>
              </a:rPr>
              <a:t>Tag Bits:</a:t>
            </a:r>
            <a:r>
              <a:rPr lang="en-IN" sz="1800" b="0" i="0" spc="12" dirty="0">
                <a:solidFill>
                  <a:schemeClr val="tx1"/>
                </a:solidFill>
                <a:effectLst/>
                <a:latin typeface="+mn-lt"/>
              </a:rPr>
              <a:t> A small portion of the address used to identify which block of main memory is stored in a particular cache line.</a:t>
            </a:r>
            <a:endParaRPr lang="en-IN" sz="1800" b="0" i="0" spc="10" dirty="0">
              <a:solidFill>
                <a:schemeClr val="tx1"/>
              </a:solidFill>
              <a:effectLst/>
              <a:latin typeface="+mn-lt"/>
            </a:endParaRPr>
          </a:p>
          <a:p>
            <a:pPr marL="342900" marR="0" lvl="0" indent="-342900" algn="l" fontAlgn="base">
              <a:spcAft>
                <a:spcPts val="1800"/>
              </a:spcAft>
              <a:buFont typeface="+mj-lt"/>
              <a:buAutoNum type="arabicPeriod" startAt="5"/>
            </a:pPr>
            <a:r>
              <a:rPr lang="en-IN" sz="1800" b="1" i="0" spc="10" dirty="0">
                <a:solidFill>
                  <a:schemeClr val="tx1"/>
                </a:solidFill>
                <a:effectLst/>
                <a:latin typeface="+mn-lt"/>
              </a:rPr>
              <a:t>Number of Cache Lines:</a:t>
            </a:r>
            <a:r>
              <a:rPr lang="en-IN" sz="1800" b="0" i="0" spc="12" dirty="0">
                <a:solidFill>
                  <a:schemeClr val="tx1"/>
                </a:solidFill>
                <a:effectLst/>
                <a:latin typeface="+mn-lt"/>
              </a:rPr>
              <a:t> Determined by the ratio of Cache Size ÷ Block Size.</a:t>
            </a:r>
            <a:endParaRPr lang="en-IN" sz="1350" b="0" i="0" spc="10" dirty="0">
              <a:solidFill>
                <a:srgbClr val="273239"/>
              </a:solidFill>
              <a:effectLst/>
              <a:latin typeface="Nunito" pitchFamily="2" charset="0"/>
            </a:endParaRPr>
          </a:p>
        </p:txBody>
      </p:sp>
      <p:pic>
        <p:nvPicPr>
          <p:cNvPr id="4" name="Picture 3" descr="cpu">
            <a:extLst>
              <a:ext uri="{FF2B5EF4-FFF2-40B4-BE49-F238E27FC236}">
                <a16:creationId xmlns:a16="http://schemas.microsoft.com/office/drawing/2014/main" id="{932F1E50-C802-1EAC-AF54-023259B1569A}"/>
              </a:ext>
            </a:extLst>
          </p:cNvPr>
          <p:cNvPicPr>
            <a:picLocks noChangeAspect="1"/>
          </p:cNvPicPr>
          <p:nvPr/>
        </p:nvPicPr>
        <p:blipFill>
          <a:blip r:embed="rId2"/>
          <a:stretch>
            <a:fillRect/>
          </a:stretch>
        </p:blipFill>
        <p:spPr>
          <a:xfrm>
            <a:off x="2241753" y="4097258"/>
            <a:ext cx="8048727" cy="2374375"/>
          </a:xfrm>
          <a:prstGeom prst="rect">
            <a:avLst/>
          </a:prstGeom>
        </p:spPr>
      </p:pic>
    </p:spTree>
    <p:extLst>
      <p:ext uri="{BB962C8B-B14F-4D97-AF65-F5344CB8AC3E}">
        <p14:creationId xmlns:p14="http://schemas.microsoft.com/office/powerpoint/2010/main" val="9571762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E2AA3D-D889-7B57-1D45-024DF206803A}"/>
              </a:ext>
            </a:extLst>
          </p:cNvPr>
          <p:cNvSpPr txBox="1"/>
          <p:nvPr/>
        </p:nvSpPr>
        <p:spPr>
          <a:xfrm>
            <a:off x="1071716" y="305563"/>
            <a:ext cx="10264877" cy="3050515"/>
          </a:xfrm>
          <a:prstGeom prst="rect">
            <a:avLst/>
          </a:prstGeom>
          <a:noFill/>
        </p:spPr>
        <p:txBody>
          <a:bodyPr wrap="square">
            <a:spAutoFit/>
          </a:bodyPr>
          <a:lstStyle/>
          <a:p>
            <a:pPr marL="0" marR="0" indent="0" algn="l" fontAlgn="base">
              <a:lnSpc>
                <a:spcPct val="150000"/>
              </a:lnSpc>
              <a:buNone/>
            </a:pPr>
            <a:r>
              <a:rPr lang="en-IN" sz="1800" b="1" i="0" spc="12" dirty="0">
                <a:solidFill>
                  <a:schemeClr val="tx1"/>
                </a:solidFill>
                <a:effectLst/>
                <a:latin typeface="+mn-lt"/>
              </a:rPr>
              <a:t>Types of Cache Mapping</a:t>
            </a:r>
          </a:p>
          <a:p>
            <a:pPr marL="0" marR="0" indent="0" algn="l" fontAlgn="base">
              <a:lnSpc>
                <a:spcPct val="150000"/>
              </a:lnSpc>
              <a:buNone/>
            </a:pPr>
            <a:endParaRPr lang="en-IN" sz="1800" b="1" i="0" spc="0" dirty="0">
              <a:solidFill>
                <a:schemeClr val="tx1"/>
              </a:solidFill>
              <a:effectLst/>
              <a:latin typeface="+mn-lt"/>
            </a:endParaRPr>
          </a:p>
          <a:p>
            <a:pPr marL="0" marR="0" indent="0" algn="l" rtl="0" fontAlgn="base">
              <a:lnSpc>
                <a:spcPct val="150000"/>
              </a:lnSpc>
              <a:spcAft>
                <a:spcPts val="750"/>
              </a:spcAft>
              <a:buNone/>
            </a:pPr>
            <a:r>
              <a:rPr lang="en-IN" sz="1800" b="0" i="0" spc="12" dirty="0">
                <a:solidFill>
                  <a:schemeClr val="tx1"/>
                </a:solidFill>
                <a:effectLst/>
                <a:latin typeface="+mn-lt"/>
              </a:rPr>
              <a:t>There are three main cache mapping techniques used in computer systems:</a:t>
            </a:r>
            <a:endParaRPr lang="en-IN" spc="12" dirty="0"/>
          </a:p>
          <a:p>
            <a:pPr marL="342900" indent="-342900" algn="just" fontAlgn="base">
              <a:lnSpc>
                <a:spcPct val="150000"/>
              </a:lnSpc>
              <a:spcBef>
                <a:spcPts val="600"/>
              </a:spcBef>
              <a:buFont typeface="+mj-lt"/>
              <a:buAutoNum type="arabicPeriod"/>
            </a:pPr>
            <a:r>
              <a:rPr lang="en-IN" dirty="0"/>
              <a:t>Direct mapping</a:t>
            </a:r>
          </a:p>
          <a:p>
            <a:pPr marL="342900" indent="-342900" algn="just" fontAlgn="base">
              <a:lnSpc>
                <a:spcPct val="150000"/>
              </a:lnSpc>
              <a:buFont typeface="+mj-lt"/>
              <a:buAutoNum type="arabicPeriod"/>
            </a:pPr>
            <a:r>
              <a:rPr lang="en-IN" dirty="0"/>
              <a:t>Fully associative mapping</a:t>
            </a:r>
          </a:p>
          <a:p>
            <a:pPr marL="342900" indent="-342900" algn="just" fontAlgn="base">
              <a:lnSpc>
                <a:spcPct val="150000"/>
              </a:lnSpc>
              <a:buFont typeface="+mj-lt"/>
              <a:buAutoNum type="arabicPeriod"/>
            </a:pPr>
            <a:r>
              <a:rPr lang="en-IN" dirty="0"/>
              <a:t>Set-associative mapping</a:t>
            </a:r>
            <a:endParaRPr lang="en-IN" sz="2400" dirty="0">
              <a:solidFill>
                <a:srgbClr val="0D0D0D"/>
              </a:solidFill>
              <a:latin typeface="Arial" panose="020B0604020202020204" pitchFamily="34" charset="0"/>
            </a:endParaRPr>
          </a:p>
          <a:p>
            <a:pPr marL="0" marR="0" indent="0" algn="l" rtl="0" fontAlgn="base">
              <a:lnSpc>
                <a:spcPct val="150000"/>
              </a:lnSpc>
              <a:spcAft>
                <a:spcPts val="750"/>
              </a:spcAft>
              <a:buNone/>
            </a:pPr>
            <a:endParaRPr lang="en-IN" sz="1350" b="0" i="0" spc="10" dirty="0">
              <a:solidFill>
                <a:srgbClr val="273239"/>
              </a:solidFill>
              <a:effectLst/>
              <a:latin typeface="Nunito" pitchFamily="2" charset="0"/>
            </a:endParaRPr>
          </a:p>
        </p:txBody>
      </p:sp>
    </p:spTree>
    <p:extLst>
      <p:ext uri="{BB962C8B-B14F-4D97-AF65-F5344CB8AC3E}">
        <p14:creationId xmlns:p14="http://schemas.microsoft.com/office/powerpoint/2010/main" val="3074751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07C898-3B80-334D-7392-406726CAFD25}"/>
              </a:ext>
            </a:extLst>
          </p:cNvPr>
          <p:cNvSpPr txBox="1"/>
          <p:nvPr/>
        </p:nvSpPr>
        <p:spPr>
          <a:xfrm>
            <a:off x="816076" y="239066"/>
            <a:ext cx="10825317" cy="877163"/>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IN" sz="1800" b="1" i="0" spc="12" dirty="0">
                <a:solidFill>
                  <a:schemeClr val="tx1"/>
                </a:solidFill>
                <a:effectLst/>
                <a:latin typeface="+mn-lt"/>
              </a:rPr>
              <a:t>1. Direct Mapping</a:t>
            </a:r>
            <a:endParaRPr lang="en-IN" sz="1800" b="1" i="0" spc="0" dirty="0">
              <a:solidFill>
                <a:schemeClr val="tx1"/>
              </a:solidFill>
              <a:effectLst/>
              <a:latin typeface="+mn-lt"/>
            </a:endParaRPr>
          </a:p>
          <a:p>
            <a:pPr marL="285750" marR="0" indent="-285750" algn="l" rtl="0" fontAlgn="base">
              <a:spcAft>
                <a:spcPts val="750"/>
              </a:spcAft>
              <a:buFont typeface="Arial" panose="020B0604020202020204" pitchFamily="34" charset="0"/>
              <a:buChar char="•"/>
            </a:pPr>
            <a:r>
              <a:rPr lang="en-IN" sz="1800" b="0" i="0" spc="12" dirty="0">
                <a:solidFill>
                  <a:schemeClr val="tx1"/>
                </a:solidFill>
                <a:effectLst/>
                <a:latin typeface="+mn-lt"/>
              </a:rPr>
              <a:t>In Direct mapping, each block of main memory maps to exactly one specific cache line. </a:t>
            </a:r>
            <a:endParaRPr lang="en-IN" sz="1800" b="0" i="0" spc="10" dirty="0">
              <a:solidFill>
                <a:schemeClr val="tx1"/>
              </a:solidFill>
              <a:effectLst/>
              <a:latin typeface="+mn-lt"/>
            </a:endParaRPr>
          </a:p>
        </p:txBody>
      </p:sp>
      <p:pic>
        <p:nvPicPr>
          <p:cNvPr id="4" name="Picture 3" descr="2">
            <a:extLst>
              <a:ext uri="{FF2B5EF4-FFF2-40B4-BE49-F238E27FC236}">
                <a16:creationId xmlns:a16="http://schemas.microsoft.com/office/drawing/2014/main" id="{30FA63F3-BF79-A2DC-4BB5-39FCC8777564}"/>
              </a:ext>
            </a:extLst>
          </p:cNvPr>
          <p:cNvPicPr>
            <a:picLocks noChangeAspect="1"/>
          </p:cNvPicPr>
          <p:nvPr/>
        </p:nvPicPr>
        <p:blipFill>
          <a:blip r:embed="rId3"/>
          <a:stretch>
            <a:fillRect/>
          </a:stretch>
        </p:blipFill>
        <p:spPr>
          <a:xfrm>
            <a:off x="5427406" y="2998839"/>
            <a:ext cx="6479457" cy="3239729"/>
          </a:xfrm>
          <a:prstGeom prst="rect">
            <a:avLst/>
          </a:prstGeom>
        </p:spPr>
      </p:pic>
      <p:sp>
        <p:nvSpPr>
          <p:cNvPr id="6" name="TextBox 5">
            <a:extLst>
              <a:ext uri="{FF2B5EF4-FFF2-40B4-BE49-F238E27FC236}">
                <a16:creationId xmlns:a16="http://schemas.microsoft.com/office/drawing/2014/main" id="{74B89548-A7F5-CCBC-34C9-35CC7C4B59E9}"/>
              </a:ext>
            </a:extLst>
          </p:cNvPr>
          <p:cNvSpPr txBox="1"/>
          <p:nvPr/>
        </p:nvSpPr>
        <p:spPr>
          <a:xfrm>
            <a:off x="816076" y="1196142"/>
            <a:ext cx="8091950" cy="1093633"/>
          </a:xfrm>
          <a:prstGeom prst="rect">
            <a:avLst/>
          </a:prstGeom>
          <a:noFill/>
        </p:spPr>
        <p:txBody>
          <a:bodyPr wrap="square">
            <a:spAutoFit/>
          </a:bodyPr>
          <a:lstStyle/>
          <a:p>
            <a:pPr marL="285750" marR="0" indent="-285750" algn="l" rtl="0" fontAlgn="base">
              <a:lnSpc>
                <a:spcPct val="150000"/>
              </a:lnSpc>
              <a:spcAft>
                <a:spcPts val="750"/>
              </a:spcAft>
              <a:buFont typeface="Arial" panose="020B0604020202020204" pitchFamily="34" charset="0"/>
              <a:buChar char="•"/>
            </a:pPr>
            <a:r>
              <a:rPr lang="en-IN" sz="1800" b="0" i="0" spc="12" dirty="0">
                <a:solidFill>
                  <a:schemeClr val="tx1"/>
                </a:solidFill>
                <a:effectLst/>
                <a:latin typeface="+mn-lt"/>
              </a:rPr>
              <a:t>The formula for finding the cache line is:</a:t>
            </a:r>
            <a:endParaRPr lang="en-IN" sz="1800" b="0" i="0" spc="10" dirty="0">
              <a:solidFill>
                <a:schemeClr val="tx1"/>
              </a:solidFill>
              <a:effectLst/>
              <a:latin typeface="+mn-lt"/>
            </a:endParaRPr>
          </a:p>
          <a:p>
            <a:pPr marL="0" marR="0" indent="0" algn="ctr" rtl="0" fontAlgn="base">
              <a:lnSpc>
                <a:spcPct val="150000"/>
              </a:lnSpc>
              <a:spcBef>
                <a:spcPts val="750"/>
              </a:spcBef>
              <a:spcAft>
                <a:spcPts val="750"/>
              </a:spcAft>
              <a:buNone/>
            </a:pPr>
            <a:r>
              <a:rPr lang="en-IN" sz="1800" b="0" i="1" spc="12" dirty="0">
                <a:solidFill>
                  <a:schemeClr val="tx1"/>
                </a:solidFill>
                <a:effectLst/>
                <a:latin typeface="+mn-lt"/>
              </a:rPr>
              <a:t>Cache Line Number=(Block Number) MOD (Number of Cache Lines)</a:t>
            </a:r>
            <a:endParaRPr lang="en-IN" sz="1350" b="0" i="1" spc="10" dirty="0">
              <a:solidFill>
                <a:srgbClr val="273239"/>
              </a:solidFill>
              <a:effectLst/>
              <a:latin typeface="Nunito" pitchFamily="2" charset="0"/>
            </a:endParaRPr>
          </a:p>
        </p:txBody>
      </p:sp>
      <p:sp>
        <p:nvSpPr>
          <p:cNvPr id="8" name="TextBox 7">
            <a:extLst>
              <a:ext uri="{FF2B5EF4-FFF2-40B4-BE49-F238E27FC236}">
                <a16:creationId xmlns:a16="http://schemas.microsoft.com/office/drawing/2014/main" id="{790B96A8-4EEE-C781-5A0D-A52EB491AF79}"/>
              </a:ext>
            </a:extLst>
          </p:cNvPr>
          <p:cNvSpPr txBox="1"/>
          <p:nvPr/>
        </p:nvSpPr>
        <p:spPr>
          <a:xfrm>
            <a:off x="8219768" y="6300956"/>
            <a:ext cx="6096000" cy="369332"/>
          </a:xfrm>
          <a:prstGeom prst="rect">
            <a:avLst/>
          </a:prstGeom>
          <a:noFill/>
        </p:spPr>
        <p:txBody>
          <a:bodyPr wrap="square">
            <a:spAutoFit/>
          </a:bodyPr>
          <a:lstStyle/>
          <a:p>
            <a:pPr>
              <a:buNone/>
            </a:pPr>
            <a:r>
              <a:rPr lang="en-IN" sz="1800" dirty="0"/>
              <a:t>Direct Mapping</a:t>
            </a:r>
          </a:p>
        </p:txBody>
      </p:sp>
      <p:sp>
        <p:nvSpPr>
          <p:cNvPr id="10" name="TextBox 9">
            <a:extLst>
              <a:ext uri="{FF2B5EF4-FFF2-40B4-BE49-F238E27FC236}">
                <a16:creationId xmlns:a16="http://schemas.microsoft.com/office/drawing/2014/main" id="{40341126-2D90-5752-8BDC-23ABF99F58F0}"/>
              </a:ext>
            </a:extLst>
          </p:cNvPr>
          <p:cNvSpPr txBox="1"/>
          <p:nvPr/>
        </p:nvSpPr>
        <p:spPr>
          <a:xfrm>
            <a:off x="393290" y="2514551"/>
            <a:ext cx="4404852" cy="2215991"/>
          </a:xfrm>
          <a:prstGeom prst="rect">
            <a:avLst/>
          </a:prstGeom>
          <a:noFill/>
        </p:spPr>
        <p:txBody>
          <a:bodyPr wrap="square">
            <a:spAutoFit/>
          </a:bodyPr>
          <a:lstStyle/>
          <a:p>
            <a:pPr marL="285750" indent="-285750" rtl="0">
              <a:spcBef>
                <a:spcPts val="1200"/>
              </a:spcBef>
              <a:buFont typeface="Arial" panose="020B0604020202020204" pitchFamily="34" charset="0"/>
              <a:buChar char="•"/>
            </a:pPr>
            <a:r>
              <a:rPr lang="en-IN" sz="1800" b="0" i="0" u="none" strike="noStrike" dirty="0">
                <a:solidFill>
                  <a:schemeClr val="tx1"/>
                </a:solidFill>
                <a:effectLst/>
                <a:latin typeface="+mn-lt"/>
              </a:rPr>
              <a:t>Example: Suppose the cache has 8 lines and the main memory block number is 19.</a:t>
            </a:r>
            <a:endParaRPr lang="en-IN" sz="1800" dirty="0">
              <a:effectLst/>
            </a:endParaRPr>
          </a:p>
          <a:p>
            <a:pPr marL="285750" indent="-285750" algn="ctr" rtl="0">
              <a:spcBef>
                <a:spcPts val="1200"/>
              </a:spcBef>
              <a:spcAft>
                <a:spcPts val="1200"/>
              </a:spcAft>
              <a:buFont typeface="Arial" panose="020B0604020202020204" pitchFamily="34" charset="0"/>
              <a:buChar char="•"/>
            </a:pPr>
            <a:r>
              <a:rPr lang="en-IN" sz="1800" b="0" i="0" u="none" strike="noStrike" dirty="0">
                <a:solidFill>
                  <a:schemeClr val="tx1"/>
                </a:solidFill>
                <a:effectLst/>
                <a:latin typeface="+mn-lt"/>
              </a:rPr>
              <a:t>19  mod  8=3</a:t>
            </a:r>
            <a:endParaRPr lang="en-IN" sz="1800" dirty="0">
              <a:effectLst/>
            </a:endParaRPr>
          </a:p>
          <a:p>
            <a:pPr marL="285750" indent="-285750" rtl="0">
              <a:spcBef>
                <a:spcPts val="1200"/>
              </a:spcBef>
              <a:buFont typeface="Arial" panose="020B0604020202020204" pitchFamily="34" charset="0"/>
              <a:buChar char="•"/>
            </a:pPr>
            <a:r>
              <a:rPr lang="en-IN" sz="1800" b="0" i="0" u="none" strike="noStrike" dirty="0">
                <a:solidFill>
                  <a:schemeClr val="tx1"/>
                </a:solidFill>
                <a:effectLst/>
                <a:latin typeface="+mn-lt"/>
              </a:rPr>
              <a:t>Therefore, block 19 is mapped to cache line 3.</a:t>
            </a:r>
            <a:endParaRPr lang="en-IN" sz="1800" dirty="0">
              <a:effectLst/>
            </a:endParaRPr>
          </a:p>
        </p:txBody>
      </p:sp>
    </p:spTree>
    <p:extLst>
      <p:ext uri="{BB962C8B-B14F-4D97-AF65-F5344CB8AC3E}">
        <p14:creationId xmlns:p14="http://schemas.microsoft.com/office/powerpoint/2010/main" val="3410151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h4d6c84ea17be0c8e_0_85"/>
          <p:cNvSpPr txBox="1"/>
          <p:nvPr/>
        </p:nvSpPr>
        <p:spPr>
          <a:xfrm>
            <a:off x="356175" y="570500"/>
            <a:ext cx="11601000" cy="1661963"/>
          </a:xfrm>
          <a:prstGeom prst="rect">
            <a:avLst/>
          </a:prstGeom>
          <a:noFill/>
          <a:ln>
            <a:noFill/>
          </a:ln>
        </p:spPr>
        <p:txBody>
          <a:bodyPr spcFirstLastPara="1" wrap="square" lIns="91425" tIns="91425" rIns="91425" bIns="91425" anchor="t" anchorCtr="0">
            <a:spAutoFit/>
          </a:bodyPr>
          <a:lstStyle/>
          <a:p>
            <a:r>
              <a:rPr lang="en-US" sz="2400" dirty="0">
                <a:highlight>
                  <a:srgbClr val="FCFCFC"/>
                </a:highlight>
              </a:rPr>
              <a:t>Each memory block has a fixed location in the cache.</a:t>
            </a:r>
          </a:p>
          <a:p>
            <a:r>
              <a:rPr lang="en-US" sz="2400" dirty="0">
                <a:highlight>
                  <a:srgbClr val="FCFCFC"/>
                </a:highlight>
              </a:rPr>
              <a:t>It is simple and fast.</a:t>
            </a:r>
          </a:p>
          <a:p>
            <a:r>
              <a:rPr lang="en-US" sz="2400" dirty="0">
                <a:highlight>
                  <a:srgbClr val="FCFCFC"/>
                </a:highlight>
              </a:rPr>
              <a:t>Two frequently used blocks may compete for the same cache line.</a:t>
            </a:r>
          </a:p>
          <a:p>
            <a:r>
              <a:rPr lang="en-US" sz="2400" dirty="0">
                <a:highlight>
                  <a:srgbClr val="FCFCFC"/>
                </a:highlight>
              </a:rPr>
              <a:t>Example: Suppose the cache has 4 lines.</a:t>
            </a:r>
          </a:p>
        </p:txBody>
      </p:sp>
      <p:graphicFrame>
        <p:nvGraphicFramePr>
          <p:cNvPr id="2" name="Table 1">
            <a:extLst>
              <a:ext uri="{FF2B5EF4-FFF2-40B4-BE49-F238E27FC236}">
                <a16:creationId xmlns:a16="http://schemas.microsoft.com/office/drawing/2014/main" id="{32741EEA-ED7F-6A98-2D04-B882074EC1C0}"/>
              </a:ext>
            </a:extLst>
          </p:cNvPr>
          <p:cNvGraphicFramePr>
            <a:graphicFrameLocks noGrp="1"/>
          </p:cNvGraphicFramePr>
          <p:nvPr>
            <p:extLst>
              <p:ext uri="{D42A27DB-BD31-4B8C-83A1-F6EECF244321}">
                <p14:modId xmlns:p14="http://schemas.microsoft.com/office/powerpoint/2010/main" val="884036529"/>
              </p:ext>
            </p:extLst>
          </p:nvPr>
        </p:nvGraphicFramePr>
        <p:xfrm>
          <a:off x="530836" y="2652304"/>
          <a:ext cx="10542141" cy="2346960"/>
        </p:xfrm>
        <a:graphic>
          <a:graphicData uri="http://schemas.openxmlformats.org/drawingml/2006/table">
            <a:tbl>
              <a:tblPr/>
              <a:tblGrid>
                <a:gridCol w="5284341">
                  <a:extLst>
                    <a:ext uri="{9D8B030D-6E8A-4147-A177-3AD203B41FA5}">
                      <a16:colId xmlns:a16="http://schemas.microsoft.com/office/drawing/2014/main" val="1728032302"/>
                    </a:ext>
                  </a:extLst>
                </a:gridCol>
                <a:gridCol w="5257800">
                  <a:extLst>
                    <a:ext uri="{9D8B030D-6E8A-4147-A177-3AD203B41FA5}">
                      <a16:colId xmlns:a16="http://schemas.microsoft.com/office/drawing/2014/main" val="2964364234"/>
                    </a:ext>
                  </a:extLst>
                </a:gridCol>
              </a:tblGrid>
              <a:tr h="0">
                <a:tc>
                  <a:txBody>
                    <a:bodyPr/>
                    <a:lstStyle/>
                    <a:p>
                      <a:pPr>
                        <a:buNone/>
                      </a:pPr>
                      <a:r>
                        <a:rPr lang="en-IN" sz="1600" b="1" dirty="0"/>
                        <a:t>Main memory block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Cache 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9313830"/>
                  </a:ext>
                </a:extLst>
              </a:tr>
              <a:tr h="0">
                <a:tc>
                  <a:txBody>
                    <a:bodyPr/>
                    <a:lstStyle/>
                    <a:p>
                      <a:pPr>
                        <a:buNone/>
                      </a:pPr>
                      <a:r>
                        <a:rPr lang="en-IN" sz="1600" dirty="0"/>
                        <a:t>Block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Line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369522"/>
                  </a:ext>
                </a:extLst>
              </a:tr>
              <a:tr h="0">
                <a:tc>
                  <a:txBody>
                    <a:bodyPr/>
                    <a:lstStyle/>
                    <a:p>
                      <a:pPr>
                        <a:buNone/>
                      </a:pPr>
                      <a:r>
                        <a:rPr lang="en-IN" sz="1600"/>
                        <a:t>Block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007582"/>
                  </a:ext>
                </a:extLst>
              </a:tr>
              <a:tr h="0">
                <a:tc>
                  <a:txBody>
                    <a:bodyPr/>
                    <a:lstStyle/>
                    <a:p>
                      <a:pPr>
                        <a:buNone/>
                      </a:pPr>
                      <a:r>
                        <a:rPr lang="en-IN" sz="1600"/>
                        <a:t>Block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Line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0072220"/>
                  </a:ext>
                </a:extLst>
              </a:tr>
              <a:tr h="0">
                <a:tc>
                  <a:txBody>
                    <a:bodyPr/>
                    <a:lstStyle/>
                    <a:p>
                      <a:pPr>
                        <a:buNone/>
                      </a:pPr>
                      <a:r>
                        <a:rPr lang="en-IN" sz="1600"/>
                        <a:t>Block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3295976"/>
                  </a:ext>
                </a:extLst>
              </a:tr>
              <a:tr h="0">
                <a:tc>
                  <a:txBody>
                    <a:bodyPr/>
                    <a:lstStyle/>
                    <a:p>
                      <a:pPr>
                        <a:buNone/>
                      </a:pPr>
                      <a:r>
                        <a:rPr lang="en-IN" sz="1600"/>
                        <a:t>Block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Line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37543"/>
                  </a:ext>
                </a:extLst>
              </a:tr>
              <a:tr h="0">
                <a:tc>
                  <a:txBody>
                    <a:bodyPr/>
                    <a:lstStyle/>
                    <a:p>
                      <a:pPr>
                        <a:buNone/>
                      </a:pPr>
                      <a:r>
                        <a:rPr lang="en-IN" sz="1600"/>
                        <a:t>Block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Line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5572396"/>
                  </a:ext>
                </a:extLst>
              </a:tr>
            </a:tbl>
          </a:graphicData>
        </a:graphic>
      </p:graphicFrame>
      <p:sp>
        <p:nvSpPr>
          <p:cNvPr id="3" name="Rectangle 1">
            <a:extLst>
              <a:ext uri="{FF2B5EF4-FFF2-40B4-BE49-F238E27FC236}">
                <a16:creationId xmlns:a16="http://schemas.microsoft.com/office/drawing/2014/main" id="{41F5A86C-9A52-5D67-A250-2F7DA36D5164}"/>
              </a:ext>
            </a:extLst>
          </p:cNvPr>
          <p:cNvSpPr>
            <a:spLocks noChangeArrowheads="1"/>
          </p:cNvSpPr>
          <p:nvPr/>
        </p:nvSpPr>
        <p:spPr bwMode="auto">
          <a:xfrm>
            <a:off x="530836" y="596659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Here, Block 0 and Block 4 both map to Cache Line 0.</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B86AB4-E48A-3C32-F1AD-96609328BE6F}"/>
              </a:ext>
            </a:extLst>
          </p:cNvPr>
          <p:cNvSpPr txBox="1"/>
          <p:nvPr/>
        </p:nvSpPr>
        <p:spPr>
          <a:xfrm>
            <a:off x="904567" y="535900"/>
            <a:ext cx="7924800" cy="2893100"/>
          </a:xfrm>
          <a:prstGeom prst="rect">
            <a:avLst/>
          </a:prstGeom>
          <a:noFill/>
        </p:spPr>
        <p:txBody>
          <a:bodyPr wrap="square">
            <a:spAutoFit/>
          </a:bodyPr>
          <a:lstStyle/>
          <a:p>
            <a:pPr rtl="0">
              <a:spcBef>
                <a:spcPts val="1200"/>
              </a:spcBef>
              <a:buNone/>
            </a:pPr>
            <a:r>
              <a:rPr lang="en-IN" sz="1800" b="1" i="0" u="none" strike="noStrike" dirty="0">
                <a:solidFill>
                  <a:schemeClr val="tx1"/>
                </a:solidFill>
                <a:effectLst/>
                <a:latin typeface="+mn-lt"/>
              </a:rPr>
              <a:t>Advantages</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Simple to implement.</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Fast and inexpensive.</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Requires little hardware.</a:t>
            </a:r>
          </a:p>
          <a:p>
            <a:pPr>
              <a:buNone/>
            </a:pPr>
            <a:br>
              <a:rPr lang="en-IN" dirty="0"/>
            </a:br>
            <a:endParaRPr lang="en-IN" dirty="0"/>
          </a:p>
          <a:p>
            <a:pPr rtl="0">
              <a:spcBef>
                <a:spcPts val="1200"/>
              </a:spcBef>
              <a:buNone/>
            </a:pPr>
            <a:r>
              <a:rPr lang="en-IN" sz="1800" b="1" i="0" u="none" strike="noStrike" dirty="0">
                <a:solidFill>
                  <a:schemeClr val="tx1"/>
                </a:solidFill>
                <a:effectLst/>
                <a:latin typeface="+mn-lt"/>
              </a:rPr>
              <a:t>Disadvantages</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Different blocks may compete for the same cache line.</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Can cause frequent conflict misses.</a:t>
            </a:r>
            <a:endParaRPr lang="en-IN" sz="23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24884707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B1DF5C-C75D-4B7F-6E9A-7B316B8B5FE9}"/>
              </a:ext>
            </a:extLst>
          </p:cNvPr>
          <p:cNvSpPr txBox="1"/>
          <p:nvPr/>
        </p:nvSpPr>
        <p:spPr>
          <a:xfrm>
            <a:off x="599768" y="350202"/>
            <a:ext cx="10903974" cy="1636345"/>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IN" sz="1800" b="1" i="0" spc="12" dirty="0">
                <a:solidFill>
                  <a:schemeClr val="tx1"/>
                </a:solidFill>
                <a:effectLst/>
                <a:latin typeface="+mn-lt"/>
              </a:rPr>
              <a:t>2. Fully Associative Mapping</a:t>
            </a:r>
            <a:endParaRPr lang="en-IN" sz="1800" b="1" i="0" spc="0" dirty="0">
              <a:solidFill>
                <a:schemeClr val="tx1"/>
              </a:solidFill>
              <a:effectLst/>
              <a:latin typeface="+mn-lt"/>
            </a:endParaRPr>
          </a:p>
          <a:p>
            <a:pPr marL="0" marR="0" indent="0" algn="l" rtl="0" fontAlgn="base">
              <a:spcAft>
                <a:spcPts val="750"/>
              </a:spcAft>
              <a:buNone/>
            </a:pPr>
            <a:r>
              <a:rPr lang="en-IN" sz="1800" b="0" i="0" spc="12" dirty="0">
                <a:solidFill>
                  <a:schemeClr val="tx1"/>
                </a:solidFill>
                <a:effectLst/>
                <a:latin typeface="+mn-lt"/>
              </a:rPr>
              <a:t>In fully associative mapping, a memory block can be stored in any line of the cache. </a:t>
            </a:r>
          </a:p>
          <a:p>
            <a:pPr marL="0" marR="0" indent="0" algn="l" rtl="0" fontAlgn="base">
              <a:spcAft>
                <a:spcPts val="750"/>
              </a:spcAft>
              <a:buNone/>
            </a:pPr>
            <a:r>
              <a:rPr lang="en-US" sz="1800" b="0" i="0" spc="12" dirty="0">
                <a:solidFill>
                  <a:schemeClr val="tx1"/>
                </a:solidFill>
                <a:effectLst/>
                <a:latin typeface="+mn-lt"/>
              </a:rPr>
              <a:t>Unlike direct mapping, there is no fixed cache line assigned to each memory block.</a:t>
            </a:r>
          </a:p>
          <a:p>
            <a:pPr marL="0" marR="0" indent="0" algn="l" rtl="0" fontAlgn="base">
              <a:spcAft>
                <a:spcPts val="750"/>
              </a:spcAft>
              <a:buNone/>
            </a:pPr>
            <a:r>
              <a:rPr lang="en-US" sz="1800" b="0" i="0" spc="12" dirty="0">
                <a:solidFill>
                  <a:schemeClr val="tx1"/>
                </a:solidFill>
                <a:effectLst/>
                <a:latin typeface="+mn-lt"/>
              </a:rPr>
              <a:t>In fully associative mapping, a memory block can be stored in any line of the cache. </a:t>
            </a:r>
            <a:endParaRPr lang="en-IN" sz="1800" b="0" i="0" spc="12" dirty="0">
              <a:solidFill>
                <a:schemeClr val="tx1"/>
              </a:solidFill>
              <a:effectLst/>
              <a:latin typeface="+mn-lt"/>
            </a:endParaRPr>
          </a:p>
        </p:txBody>
      </p:sp>
      <p:pic>
        <p:nvPicPr>
          <p:cNvPr id="4" name="Picture 3" descr="3">
            <a:extLst>
              <a:ext uri="{FF2B5EF4-FFF2-40B4-BE49-F238E27FC236}">
                <a16:creationId xmlns:a16="http://schemas.microsoft.com/office/drawing/2014/main" id="{8549B925-2362-9492-AA53-741B83651949}"/>
              </a:ext>
            </a:extLst>
          </p:cNvPr>
          <p:cNvPicPr>
            <a:picLocks noChangeAspect="1"/>
          </p:cNvPicPr>
          <p:nvPr/>
        </p:nvPicPr>
        <p:blipFill>
          <a:blip r:embed="rId2"/>
          <a:stretch>
            <a:fillRect/>
          </a:stretch>
        </p:blipFill>
        <p:spPr>
          <a:xfrm>
            <a:off x="4375355" y="2107863"/>
            <a:ext cx="7344697" cy="3672349"/>
          </a:xfrm>
          <a:prstGeom prst="rect">
            <a:avLst/>
          </a:prstGeom>
        </p:spPr>
      </p:pic>
      <p:sp>
        <p:nvSpPr>
          <p:cNvPr id="6" name="TextBox 5">
            <a:extLst>
              <a:ext uri="{FF2B5EF4-FFF2-40B4-BE49-F238E27FC236}">
                <a16:creationId xmlns:a16="http://schemas.microsoft.com/office/drawing/2014/main" id="{FBCF7AF0-BF66-E70B-7633-2203E72B2634}"/>
              </a:ext>
            </a:extLst>
          </p:cNvPr>
          <p:cNvSpPr txBox="1"/>
          <p:nvPr/>
        </p:nvSpPr>
        <p:spPr>
          <a:xfrm>
            <a:off x="196645" y="2574792"/>
            <a:ext cx="3382297" cy="1200329"/>
          </a:xfrm>
          <a:prstGeom prst="rect">
            <a:avLst/>
          </a:prstGeom>
          <a:noFill/>
        </p:spPr>
        <p:txBody>
          <a:bodyPr wrap="square">
            <a:spAutoFit/>
          </a:bodyPr>
          <a:lstStyle/>
          <a:p>
            <a:pPr marL="0" marR="0" indent="0" algn="l" rtl="0" fontAlgn="base">
              <a:spcBef>
                <a:spcPts val="750"/>
              </a:spcBef>
              <a:spcAft>
                <a:spcPts val="750"/>
              </a:spcAft>
              <a:buNone/>
            </a:pPr>
            <a:r>
              <a:rPr lang="en-IN" sz="1800" b="0" i="1" spc="12" dirty="0">
                <a:solidFill>
                  <a:schemeClr val="tx1"/>
                </a:solidFill>
                <a:effectLst/>
                <a:latin typeface="+mn-lt"/>
              </a:rPr>
              <a:t>There is no line number here because placement is flexible — any block can go into any cache line.</a:t>
            </a:r>
            <a:endParaRPr lang="en-IN" sz="1350" b="0" i="1" spc="10" dirty="0">
              <a:solidFill>
                <a:srgbClr val="273239"/>
              </a:solidFill>
              <a:effectLst/>
              <a:latin typeface="Nunito" pitchFamily="2" charset="0"/>
            </a:endParaRPr>
          </a:p>
        </p:txBody>
      </p:sp>
      <p:sp>
        <p:nvSpPr>
          <p:cNvPr id="8" name="TextBox 7">
            <a:extLst>
              <a:ext uri="{FF2B5EF4-FFF2-40B4-BE49-F238E27FC236}">
                <a16:creationId xmlns:a16="http://schemas.microsoft.com/office/drawing/2014/main" id="{23C06A7F-9768-22D1-F7F3-92DC545F0431}"/>
              </a:ext>
            </a:extLst>
          </p:cNvPr>
          <p:cNvSpPr txBox="1"/>
          <p:nvPr/>
        </p:nvSpPr>
        <p:spPr>
          <a:xfrm>
            <a:off x="7334864" y="5815684"/>
            <a:ext cx="6096000" cy="369332"/>
          </a:xfrm>
          <a:prstGeom prst="rect">
            <a:avLst/>
          </a:prstGeom>
          <a:noFill/>
        </p:spPr>
        <p:txBody>
          <a:bodyPr wrap="square">
            <a:spAutoFit/>
          </a:bodyPr>
          <a:lstStyle/>
          <a:p>
            <a:pPr>
              <a:buNone/>
            </a:pPr>
            <a:r>
              <a:rPr lang="en-IN" sz="1800" dirty="0"/>
              <a:t>Fully Associative Mapping</a:t>
            </a:r>
          </a:p>
        </p:txBody>
      </p:sp>
      <p:sp>
        <p:nvSpPr>
          <p:cNvPr id="5" name="TextBox 4">
            <a:extLst>
              <a:ext uri="{FF2B5EF4-FFF2-40B4-BE49-F238E27FC236}">
                <a16:creationId xmlns:a16="http://schemas.microsoft.com/office/drawing/2014/main" id="{29104048-F73A-1E14-B155-162381062B40}"/>
              </a:ext>
            </a:extLst>
          </p:cNvPr>
          <p:cNvSpPr txBox="1"/>
          <p:nvPr/>
        </p:nvSpPr>
        <p:spPr>
          <a:xfrm>
            <a:off x="196645" y="4166334"/>
            <a:ext cx="3470787" cy="923330"/>
          </a:xfrm>
          <a:prstGeom prst="rect">
            <a:avLst/>
          </a:prstGeom>
          <a:noFill/>
        </p:spPr>
        <p:txBody>
          <a:bodyPr wrap="square">
            <a:spAutoFit/>
          </a:bodyPr>
          <a:lstStyle/>
          <a:p>
            <a:r>
              <a:rPr lang="en-US" dirty="0">
                <a:highlight>
                  <a:srgbClr val="FCFCFC"/>
                </a:highlight>
              </a:rPr>
              <a:t>Example: If the cache has 4 lines, Block 0 can be stored in Line 0, Line 1, Line 2, or Line 3.</a:t>
            </a:r>
          </a:p>
        </p:txBody>
      </p:sp>
    </p:spTree>
    <p:extLst>
      <p:ext uri="{BB962C8B-B14F-4D97-AF65-F5344CB8AC3E}">
        <p14:creationId xmlns:p14="http://schemas.microsoft.com/office/powerpoint/2010/main" val="9046139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5E9160-47B1-2883-0A29-008FE38B81DC}"/>
              </a:ext>
            </a:extLst>
          </p:cNvPr>
          <p:cNvSpPr txBox="1"/>
          <p:nvPr/>
        </p:nvSpPr>
        <p:spPr>
          <a:xfrm>
            <a:off x="1081548" y="515635"/>
            <a:ext cx="8219768" cy="2616101"/>
          </a:xfrm>
          <a:prstGeom prst="rect">
            <a:avLst/>
          </a:prstGeom>
          <a:noFill/>
        </p:spPr>
        <p:txBody>
          <a:bodyPr wrap="square">
            <a:spAutoFit/>
          </a:bodyPr>
          <a:lstStyle/>
          <a:p>
            <a:pPr rtl="0">
              <a:spcBef>
                <a:spcPts val="1200"/>
              </a:spcBef>
              <a:buNone/>
            </a:pPr>
            <a:r>
              <a:rPr lang="en-IN" sz="1800" b="1" i="0" u="none" strike="noStrike" dirty="0">
                <a:solidFill>
                  <a:schemeClr val="tx1"/>
                </a:solidFill>
                <a:effectLst/>
                <a:latin typeface="+mn-lt"/>
              </a:rPr>
              <a:t>Advantages</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Flexible placement.</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Fewer conflict misses than direct mapping.</a:t>
            </a:r>
          </a:p>
          <a:p>
            <a:pPr>
              <a:buNone/>
            </a:pPr>
            <a:br>
              <a:rPr lang="en-IN" dirty="0"/>
            </a:br>
            <a:endParaRPr lang="en-IN" dirty="0"/>
          </a:p>
          <a:p>
            <a:pPr rtl="0">
              <a:spcBef>
                <a:spcPts val="1200"/>
              </a:spcBef>
              <a:buNone/>
            </a:pPr>
            <a:r>
              <a:rPr lang="en-IN" sz="1800" b="1" i="0" u="none" strike="noStrike" dirty="0">
                <a:solidFill>
                  <a:schemeClr val="tx1"/>
                </a:solidFill>
                <a:effectLst/>
                <a:latin typeface="+mn-lt"/>
              </a:rPr>
              <a:t>Disadvantages</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Requires more complex and costly hardware.</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Searching for a matching tag can require parallel comparisons across many lines.</a:t>
            </a:r>
            <a:endParaRPr lang="en-IN" sz="21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31699448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0FF918-7E76-9DBF-CE2C-507D0544D639}"/>
              </a:ext>
            </a:extLst>
          </p:cNvPr>
          <p:cNvSpPr txBox="1"/>
          <p:nvPr/>
        </p:nvSpPr>
        <p:spPr>
          <a:xfrm>
            <a:off x="904569" y="201446"/>
            <a:ext cx="10726992" cy="1764586"/>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IN" sz="1800" b="1" i="0" spc="12" dirty="0">
                <a:solidFill>
                  <a:schemeClr val="tx1"/>
                </a:solidFill>
                <a:effectLst/>
                <a:latin typeface="+mn-lt"/>
              </a:rPr>
              <a:t>3. Set-Associative Mapping</a:t>
            </a:r>
            <a:endParaRPr lang="en-IN" sz="1800" b="1" i="0" spc="0" dirty="0">
              <a:solidFill>
                <a:schemeClr val="tx1"/>
              </a:solidFill>
              <a:effectLst/>
              <a:latin typeface="+mn-lt"/>
            </a:endParaRPr>
          </a:p>
          <a:p>
            <a:pPr marL="0" marR="0" indent="0" algn="l" rtl="0" fontAlgn="base">
              <a:spcAft>
                <a:spcPts val="750"/>
              </a:spcAft>
              <a:buNone/>
            </a:pPr>
            <a:r>
              <a:rPr lang="en-IN" sz="1800" b="0" i="0" spc="12" dirty="0">
                <a:solidFill>
                  <a:schemeClr val="tx1"/>
                </a:solidFill>
                <a:effectLst/>
                <a:latin typeface="+mn-lt"/>
              </a:rPr>
              <a:t>Set-associative mapping combines the benefits of both direct and fully associative mapping.</a:t>
            </a:r>
            <a:endParaRPr lang="en-I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1800" b="0" i="0" spc="12" dirty="0">
                <a:solidFill>
                  <a:schemeClr val="tx1"/>
                </a:solidFill>
                <a:effectLst/>
                <a:latin typeface="+mn-lt"/>
              </a:rPr>
              <a:t>The cache is divided into a number of sets, each containing a few lines (e.g., 2-way, 4-way set associative).</a:t>
            </a:r>
            <a:endParaRPr lang="en-I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1800" b="0" i="0" spc="12" dirty="0">
                <a:solidFill>
                  <a:schemeClr val="tx1"/>
                </a:solidFill>
                <a:effectLst/>
                <a:latin typeface="+mn-lt"/>
              </a:rPr>
              <a:t>A memory block maps to exactly one set, but can be placed in any line within that set.</a:t>
            </a:r>
            <a:endParaRPr lang="en-IN" sz="1350" b="0" i="0" spc="10" dirty="0">
              <a:solidFill>
                <a:srgbClr val="273239"/>
              </a:solidFill>
              <a:effectLst/>
              <a:latin typeface="Nunito" pitchFamily="2" charset="0"/>
            </a:endParaRPr>
          </a:p>
        </p:txBody>
      </p:sp>
      <p:pic>
        <p:nvPicPr>
          <p:cNvPr id="4" name="Picture 3" descr="1">
            <a:extLst>
              <a:ext uri="{FF2B5EF4-FFF2-40B4-BE49-F238E27FC236}">
                <a16:creationId xmlns:a16="http://schemas.microsoft.com/office/drawing/2014/main" id="{D230B80A-A27E-AB23-5795-4D2BB89ED508}"/>
              </a:ext>
            </a:extLst>
          </p:cNvPr>
          <p:cNvPicPr>
            <a:picLocks noChangeAspect="1"/>
          </p:cNvPicPr>
          <p:nvPr/>
        </p:nvPicPr>
        <p:blipFill>
          <a:blip r:embed="rId2"/>
          <a:stretch>
            <a:fillRect/>
          </a:stretch>
        </p:blipFill>
        <p:spPr>
          <a:xfrm>
            <a:off x="5132438" y="2123767"/>
            <a:ext cx="6980903" cy="3490452"/>
          </a:xfrm>
          <a:prstGeom prst="rect">
            <a:avLst/>
          </a:prstGeom>
        </p:spPr>
      </p:pic>
      <p:sp>
        <p:nvSpPr>
          <p:cNvPr id="6" name="TextBox 5">
            <a:extLst>
              <a:ext uri="{FF2B5EF4-FFF2-40B4-BE49-F238E27FC236}">
                <a16:creationId xmlns:a16="http://schemas.microsoft.com/office/drawing/2014/main" id="{5F1521C6-B135-71DF-B7D3-FBBD734723A1}"/>
              </a:ext>
            </a:extLst>
          </p:cNvPr>
          <p:cNvSpPr txBox="1"/>
          <p:nvPr/>
        </p:nvSpPr>
        <p:spPr>
          <a:xfrm>
            <a:off x="7187381" y="5852764"/>
            <a:ext cx="6096000" cy="230832"/>
          </a:xfrm>
          <a:prstGeom prst="rect">
            <a:avLst/>
          </a:prstGeom>
          <a:noFill/>
        </p:spPr>
        <p:txBody>
          <a:bodyPr wrap="square">
            <a:spAutoFit/>
          </a:bodyPr>
          <a:lstStyle/>
          <a:p>
            <a:r>
              <a:rPr lang="en-IN" sz="1800" b="0" i="1" spc="10" dirty="0">
                <a:solidFill>
                  <a:schemeClr val="tx1"/>
                </a:solidFill>
                <a:effectLst/>
                <a:latin typeface="+mn-lt"/>
              </a:rPr>
              <a:t>2-way Set Associative Mapping</a:t>
            </a:r>
            <a:endParaRPr lang="en-IN" dirty="0"/>
          </a:p>
        </p:txBody>
      </p:sp>
      <p:sp>
        <p:nvSpPr>
          <p:cNvPr id="8" name="TextBox 7">
            <a:extLst>
              <a:ext uri="{FF2B5EF4-FFF2-40B4-BE49-F238E27FC236}">
                <a16:creationId xmlns:a16="http://schemas.microsoft.com/office/drawing/2014/main" id="{232D5C31-9241-25BF-5CC7-DFF41362A200}"/>
              </a:ext>
            </a:extLst>
          </p:cNvPr>
          <p:cNvSpPr txBox="1"/>
          <p:nvPr/>
        </p:nvSpPr>
        <p:spPr>
          <a:xfrm>
            <a:off x="78659" y="2224839"/>
            <a:ext cx="4896464" cy="1128514"/>
          </a:xfrm>
          <a:prstGeom prst="rect">
            <a:avLst/>
          </a:prstGeom>
          <a:noFill/>
        </p:spPr>
        <p:txBody>
          <a:bodyPr wrap="square">
            <a:spAutoFit/>
          </a:bodyPr>
          <a:lstStyle/>
          <a:p>
            <a:pPr marL="0" marR="0" indent="0" algn="l" rtl="0" fontAlgn="base">
              <a:spcAft>
                <a:spcPts val="750"/>
              </a:spcAft>
              <a:buNone/>
            </a:pPr>
            <a:r>
              <a:rPr lang="en-IN" sz="1800" b="0" i="0" spc="12" dirty="0">
                <a:solidFill>
                  <a:schemeClr val="tx1"/>
                </a:solidFill>
                <a:effectLst/>
                <a:latin typeface="+mn-lt"/>
              </a:rPr>
              <a:t>The mapping formula is:</a:t>
            </a:r>
            <a:endParaRPr lang="en-IN" sz="1800" b="0" i="0" spc="10" dirty="0">
              <a:solidFill>
                <a:schemeClr val="tx1"/>
              </a:solidFill>
              <a:effectLst/>
              <a:latin typeface="+mn-lt"/>
            </a:endParaRPr>
          </a:p>
          <a:p>
            <a:pPr marL="0" marR="0" indent="0" algn="ctr" rtl="0" fontAlgn="base">
              <a:spcBef>
                <a:spcPts val="750"/>
              </a:spcBef>
              <a:spcAft>
                <a:spcPts val="750"/>
              </a:spcAft>
              <a:buNone/>
            </a:pPr>
            <a:r>
              <a:rPr lang="en-IN" sz="1800" b="0" i="1" spc="12" dirty="0">
                <a:solidFill>
                  <a:schemeClr val="tx1"/>
                </a:solidFill>
                <a:effectLst/>
                <a:latin typeface="+mn-lt"/>
              </a:rPr>
              <a:t>Set Number = (Block Number) MOD (Number of Sets)</a:t>
            </a:r>
            <a:endParaRPr lang="en-IN" sz="1350" b="0" i="1" spc="10" dirty="0">
              <a:solidFill>
                <a:srgbClr val="273239"/>
              </a:solidFill>
              <a:effectLst/>
              <a:latin typeface="Nunito" pitchFamily="2" charset="0"/>
            </a:endParaRPr>
          </a:p>
        </p:txBody>
      </p:sp>
    </p:spTree>
    <p:extLst>
      <p:ext uri="{BB962C8B-B14F-4D97-AF65-F5344CB8AC3E}">
        <p14:creationId xmlns:p14="http://schemas.microsoft.com/office/powerpoint/2010/main" val="41257072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h4d6c84ea17be0c8e_0_97"/>
          <p:cNvSpPr txBox="1"/>
          <p:nvPr/>
        </p:nvSpPr>
        <p:spPr>
          <a:xfrm>
            <a:off x="485525" y="376300"/>
            <a:ext cx="9561900" cy="923299"/>
          </a:xfrm>
          <a:prstGeom prst="rect">
            <a:avLst/>
          </a:prstGeom>
          <a:noFill/>
          <a:ln>
            <a:noFill/>
          </a:ln>
        </p:spPr>
        <p:txBody>
          <a:bodyPr spcFirstLastPara="1" wrap="square" lIns="91425" tIns="91425" rIns="91425" bIns="91425" anchor="t" anchorCtr="0">
            <a:spAutoFit/>
          </a:bodyPr>
          <a:lstStyle/>
          <a:p>
            <a:r>
              <a:rPr lang="en-US" sz="2400" dirty="0">
                <a:highlight>
                  <a:srgbClr val="FCFCFC"/>
                </a:highlight>
              </a:rPr>
              <a:t>Example: Suppose a cache has 4 lines divided into 2 sets, with 2 lines per set.</a:t>
            </a:r>
          </a:p>
        </p:txBody>
      </p:sp>
      <p:graphicFrame>
        <p:nvGraphicFramePr>
          <p:cNvPr id="2" name="Table 1">
            <a:extLst>
              <a:ext uri="{FF2B5EF4-FFF2-40B4-BE49-F238E27FC236}">
                <a16:creationId xmlns:a16="http://schemas.microsoft.com/office/drawing/2014/main" id="{467966EA-6FBD-46DC-B540-56A2EE51E472}"/>
              </a:ext>
            </a:extLst>
          </p:cNvPr>
          <p:cNvGraphicFramePr>
            <a:graphicFrameLocks noGrp="1"/>
          </p:cNvGraphicFramePr>
          <p:nvPr>
            <p:extLst>
              <p:ext uri="{D42A27DB-BD31-4B8C-83A1-F6EECF244321}">
                <p14:modId xmlns:p14="http://schemas.microsoft.com/office/powerpoint/2010/main" val="1932705282"/>
              </p:ext>
            </p:extLst>
          </p:nvPr>
        </p:nvGraphicFramePr>
        <p:xfrm>
          <a:off x="572729" y="1518649"/>
          <a:ext cx="10515600" cy="1005840"/>
        </p:xfrm>
        <a:graphic>
          <a:graphicData uri="http://schemas.openxmlformats.org/drawingml/2006/table">
            <a:tbl>
              <a:tblPr/>
              <a:tblGrid>
                <a:gridCol w="5257800">
                  <a:extLst>
                    <a:ext uri="{9D8B030D-6E8A-4147-A177-3AD203B41FA5}">
                      <a16:colId xmlns:a16="http://schemas.microsoft.com/office/drawing/2014/main" val="1999550520"/>
                    </a:ext>
                  </a:extLst>
                </a:gridCol>
                <a:gridCol w="5257800">
                  <a:extLst>
                    <a:ext uri="{9D8B030D-6E8A-4147-A177-3AD203B41FA5}">
                      <a16:colId xmlns:a16="http://schemas.microsoft.com/office/drawing/2014/main" val="408520807"/>
                    </a:ext>
                  </a:extLst>
                </a:gridCol>
              </a:tblGrid>
              <a:tr h="0">
                <a:tc>
                  <a:txBody>
                    <a:bodyPr/>
                    <a:lstStyle/>
                    <a:p>
                      <a:pPr>
                        <a:buNone/>
                      </a:pPr>
                      <a:r>
                        <a:rPr lang="en-IN" sz="1600" b="1"/>
                        <a:t>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Cache lines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5722867"/>
                  </a:ext>
                </a:extLst>
              </a:tr>
              <a:tr h="0">
                <a:tc>
                  <a:txBody>
                    <a:bodyPr/>
                    <a:lstStyle/>
                    <a:p>
                      <a:pPr>
                        <a:buNone/>
                      </a:pPr>
                      <a:r>
                        <a:rPr lang="en-IN" sz="1600"/>
                        <a:t>Set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Line 0, Line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4878282"/>
                  </a:ext>
                </a:extLst>
              </a:tr>
              <a:tr h="0">
                <a:tc>
                  <a:txBody>
                    <a:bodyPr/>
                    <a:lstStyle/>
                    <a:p>
                      <a:pPr>
                        <a:buNone/>
                      </a:pPr>
                      <a:r>
                        <a:rPr lang="en-IN" sz="1600" dirty="0"/>
                        <a:t>Set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Line 2, Line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8914668"/>
                  </a:ext>
                </a:extLst>
              </a:tr>
            </a:tbl>
          </a:graphicData>
        </a:graphic>
      </p:graphicFrame>
      <p:sp>
        <p:nvSpPr>
          <p:cNvPr id="4" name="TextBox 3">
            <a:extLst>
              <a:ext uri="{FF2B5EF4-FFF2-40B4-BE49-F238E27FC236}">
                <a16:creationId xmlns:a16="http://schemas.microsoft.com/office/drawing/2014/main" id="{12F8D8E3-3E07-3CC0-C581-3C1F208A4905}"/>
              </a:ext>
            </a:extLst>
          </p:cNvPr>
          <p:cNvSpPr txBox="1"/>
          <p:nvPr/>
        </p:nvSpPr>
        <p:spPr>
          <a:xfrm>
            <a:off x="572729" y="3259723"/>
            <a:ext cx="8437653" cy="338554"/>
          </a:xfrm>
          <a:prstGeom prst="rect">
            <a:avLst/>
          </a:prstGeom>
          <a:noFill/>
        </p:spPr>
        <p:txBody>
          <a:bodyPr wrap="square">
            <a:spAutoFit/>
          </a:bodyPr>
          <a:lstStyle/>
          <a:p>
            <a:r>
              <a:rPr lang="en-US" sz="1600" dirty="0"/>
              <a:t>A memory block mapped to Set 0 can occupy either Line 0 or Line 1.</a:t>
            </a:r>
            <a:endParaRPr lang="en-IN"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BC0867-939A-FC57-BCBB-B4308FDEBCE2}"/>
              </a:ext>
            </a:extLst>
          </p:cNvPr>
          <p:cNvSpPr txBox="1"/>
          <p:nvPr/>
        </p:nvSpPr>
        <p:spPr>
          <a:xfrm>
            <a:off x="1071716" y="448505"/>
            <a:ext cx="9144000" cy="2062103"/>
          </a:xfrm>
          <a:prstGeom prst="rect">
            <a:avLst/>
          </a:prstGeom>
          <a:noFill/>
        </p:spPr>
        <p:txBody>
          <a:bodyPr wrap="square">
            <a:spAutoFit/>
          </a:bodyPr>
          <a:lstStyle/>
          <a:p>
            <a:pPr rtl="0">
              <a:spcBef>
                <a:spcPts val="1200"/>
              </a:spcBef>
              <a:buNone/>
            </a:pPr>
            <a:r>
              <a:rPr lang="en-IN" sz="1800" b="0" i="0" u="none" strike="noStrike" dirty="0">
                <a:solidFill>
                  <a:schemeClr val="tx1"/>
                </a:solidFill>
                <a:effectLst/>
                <a:latin typeface="+mn-lt"/>
              </a:rPr>
              <a:t>Advantages</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Fewer conflict misses than direct mapping.</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Less expensive than fully associative mapping.</a:t>
            </a:r>
          </a:p>
          <a:p>
            <a:pPr rtl="0">
              <a:spcBef>
                <a:spcPts val="1200"/>
              </a:spcBef>
              <a:buNone/>
            </a:pPr>
            <a:r>
              <a:rPr lang="en-IN" sz="1800" b="0" i="0" u="none" strike="noStrike" dirty="0">
                <a:solidFill>
                  <a:schemeClr val="tx1"/>
                </a:solidFill>
                <a:effectLst/>
                <a:latin typeface="+mn-lt"/>
              </a:rPr>
              <a:t>Disadvantages</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More complex than direct mapping.</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Requires a replacement policy when all lines in a set are occupied.</a:t>
            </a:r>
            <a:endParaRPr lang="en-IN" sz="12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10026888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F723C1-1D17-A6FD-6591-5F8180EDCBFF}"/>
              </a:ext>
            </a:extLst>
          </p:cNvPr>
          <p:cNvSpPr txBox="1"/>
          <p:nvPr/>
        </p:nvSpPr>
        <p:spPr>
          <a:xfrm>
            <a:off x="796412" y="396226"/>
            <a:ext cx="10628671" cy="2883866"/>
          </a:xfrm>
          <a:prstGeom prst="rect">
            <a:avLst/>
          </a:prstGeom>
          <a:noFill/>
        </p:spPr>
        <p:txBody>
          <a:bodyPr wrap="square">
            <a:spAutoFit/>
          </a:bodyPr>
          <a:lstStyle/>
          <a:p>
            <a:pPr marL="0" marR="0" indent="0" algn="l" fontAlgn="base">
              <a:lnSpc>
                <a:spcPct val="150000"/>
              </a:lnSpc>
              <a:buNone/>
            </a:pPr>
            <a:r>
              <a:rPr lang="en-IN" sz="1800" b="1" i="0" spc="12" dirty="0">
                <a:solidFill>
                  <a:schemeClr val="tx1"/>
                </a:solidFill>
                <a:effectLst/>
                <a:latin typeface="+mn-lt"/>
              </a:rPr>
              <a:t>Need for Cache Mapping</a:t>
            </a:r>
            <a:endParaRPr lang="en-IN" sz="1800" b="1" i="0" spc="0" dirty="0">
              <a:solidFill>
                <a:schemeClr val="tx1"/>
              </a:solidFill>
              <a:effectLst/>
              <a:latin typeface="+mn-lt"/>
            </a:endParaRPr>
          </a:p>
          <a:p>
            <a:pPr marL="0" marR="0" indent="0" algn="l" rtl="0" fontAlgn="base">
              <a:lnSpc>
                <a:spcPct val="150000"/>
              </a:lnSpc>
              <a:spcAft>
                <a:spcPts val="750"/>
              </a:spcAft>
              <a:buNone/>
            </a:pPr>
            <a:r>
              <a:rPr lang="en-IN" sz="1800" b="0" i="0" spc="12" dirty="0">
                <a:solidFill>
                  <a:schemeClr val="tx1"/>
                </a:solidFill>
                <a:effectLst/>
                <a:latin typeface="+mn-lt"/>
              </a:rPr>
              <a:t>Cache mapping is essential for two main reasons:</a:t>
            </a:r>
            <a:endParaRPr lang="en-IN" sz="1800" b="0" i="0" spc="10" dirty="0">
              <a:solidFill>
                <a:schemeClr val="tx1"/>
              </a:solidFill>
              <a:effectLst/>
              <a:latin typeface="+mn-lt"/>
            </a:endParaRPr>
          </a:p>
          <a:p>
            <a:pPr marL="342900" marR="0" lvl="0" indent="-342900" algn="l" fontAlgn="base">
              <a:lnSpc>
                <a:spcPct val="150000"/>
              </a:lnSpc>
              <a:spcAft>
                <a:spcPts val="1800"/>
              </a:spcAft>
              <a:buFont typeface="+mj-lt"/>
              <a:buAutoNum type="arabicPeriod"/>
            </a:pPr>
            <a:r>
              <a:rPr lang="en-IN" sz="1800" b="1" i="0" spc="10" dirty="0">
                <a:solidFill>
                  <a:schemeClr val="tx1"/>
                </a:solidFill>
                <a:effectLst/>
                <a:latin typeface="+mn-lt"/>
              </a:rPr>
              <a:t>Locate Data Efficiently:</a:t>
            </a:r>
            <a:r>
              <a:rPr lang="en-IN" sz="1800" b="0" i="0" spc="12" dirty="0">
                <a:solidFill>
                  <a:schemeClr val="tx1"/>
                </a:solidFill>
                <a:effectLst/>
                <a:latin typeface="+mn-lt"/>
              </a:rPr>
              <a:t> It helps the processor quickly determine whether the required data is in the cache (cache hit) or must be fetched from main memory (cache miss).</a:t>
            </a:r>
            <a:endParaRPr lang="en-IN" sz="1800" b="0" i="0" spc="10" dirty="0">
              <a:solidFill>
                <a:schemeClr val="tx1"/>
              </a:solidFill>
              <a:effectLst/>
              <a:latin typeface="+mn-lt"/>
            </a:endParaRPr>
          </a:p>
          <a:p>
            <a:pPr marL="342900" marR="0" lvl="0" indent="-342900" algn="l" fontAlgn="base">
              <a:lnSpc>
                <a:spcPct val="150000"/>
              </a:lnSpc>
              <a:spcAft>
                <a:spcPts val="1800"/>
              </a:spcAft>
              <a:buFont typeface="+mj-lt"/>
              <a:buAutoNum type="arabicPeriod" startAt="2"/>
            </a:pPr>
            <a:r>
              <a:rPr lang="en-IN" sz="1800" b="1" i="0" spc="10" dirty="0">
                <a:solidFill>
                  <a:schemeClr val="tx1"/>
                </a:solidFill>
                <a:effectLst/>
                <a:latin typeface="+mn-lt"/>
              </a:rPr>
              <a:t>Manage Data Placement:</a:t>
            </a:r>
            <a:r>
              <a:rPr lang="en-IN" sz="1800" b="0" i="0" spc="12" dirty="0">
                <a:solidFill>
                  <a:schemeClr val="tx1"/>
                </a:solidFill>
                <a:effectLst/>
                <a:latin typeface="+mn-lt"/>
              </a:rPr>
              <a:t> When a cache miss occurs, mapping tells the system where in the cache to place the new memory block.</a:t>
            </a:r>
            <a:endParaRPr lang="en-IN" sz="1350" b="0" i="0" spc="10" dirty="0">
              <a:solidFill>
                <a:srgbClr val="273239"/>
              </a:solidFill>
              <a:effectLst/>
              <a:latin typeface="Nunito" pitchFamily="2" charset="0"/>
            </a:endParaRPr>
          </a:p>
        </p:txBody>
      </p:sp>
    </p:spTree>
    <p:extLst>
      <p:ext uri="{BB962C8B-B14F-4D97-AF65-F5344CB8AC3E}">
        <p14:creationId xmlns:p14="http://schemas.microsoft.com/office/powerpoint/2010/main" val="30340250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901F39-2EDE-E480-C094-A8FE4BD26DD0}"/>
              </a:ext>
            </a:extLst>
          </p:cNvPr>
          <p:cNvSpPr txBox="1"/>
          <p:nvPr/>
        </p:nvSpPr>
        <p:spPr>
          <a:xfrm>
            <a:off x="1337186" y="818670"/>
            <a:ext cx="10618839" cy="2826415"/>
          </a:xfrm>
          <a:prstGeom prst="rect">
            <a:avLst/>
          </a:prstGeom>
          <a:noFill/>
        </p:spPr>
        <p:txBody>
          <a:bodyPr wrap="square">
            <a:spAutoFit/>
          </a:bodyPr>
          <a:lstStyle/>
          <a:p>
            <a:pPr marL="0" marR="0" indent="0" algn="l" fontAlgn="base">
              <a:lnSpc>
                <a:spcPct val="100000"/>
              </a:lnSpc>
              <a:buNone/>
            </a:pPr>
            <a:r>
              <a:rPr lang="en-IN" sz="1800" b="1" i="0" spc="12" dirty="0">
                <a:solidFill>
                  <a:schemeClr val="tx1"/>
                </a:solidFill>
                <a:effectLst/>
                <a:latin typeface="+mn-lt"/>
              </a:rPr>
              <a:t>Real-Life Analogy</a:t>
            </a:r>
          </a:p>
          <a:p>
            <a:pPr marL="0" marR="0" indent="0" algn="l" fontAlgn="base">
              <a:lnSpc>
                <a:spcPct val="100000"/>
              </a:lnSpc>
              <a:buNone/>
            </a:pPr>
            <a:endParaRPr lang="en-IN" sz="1800" b="1" i="0" spc="0" dirty="0">
              <a:solidFill>
                <a:schemeClr val="tx1"/>
              </a:solidFill>
              <a:effectLst/>
              <a:latin typeface="+mn-lt"/>
            </a:endParaRPr>
          </a:p>
          <a:p>
            <a:pPr marL="0" marR="0" indent="0" algn="l" rtl="0" fontAlgn="base">
              <a:spcAft>
                <a:spcPts val="750"/>
              </a:spcAft>
              <a:buNone/>
            </a:pPr>
            <a:r>
              <a:rPr lang="en-IN" sz="1800" b="0" i="0" spc="12" dirty="0">
                <a:solidFill>
                  <a:schemeClr val="tx1"/>
                </a:solidFill>
                <a:effectLst/>
                <a:latin typeface="+mn-lt"/>
              </a:rPr>
              <a:t>Imagine a parking lot:</a:t>
            </a:r>
            <a:endParaRPr lang="en-I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1800" b="1" i="0" spc="10" dirty="0">
                <a:solidFill>
                  <a:schemeClr val="tx1"/>
                </a:solidFill>
                <a:effectLst/>
                <a:latin typeface="+mn-lt"/>
              </a:rPr>
              <a:t>Direct Mapping:</a:t>
            </a:r>
            <a:r>
              <a:rPr lang="en-IN" sz="1800" b="0" i="0" spc="12" dirty="0">
                <a:solidFill>
                  <a:schemeClr val="tx1"/>
                </a:solidFill>
                <a:effectLst/>
                <a:latin typeface="+mn-lt"/>
              </a:rPr>
              <a:t> Each car has a fixed parking spot number.</a:t>
            </a:r>
            <a:endParaRPr lang="en-I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1800" b="1" i="0" spc="10" dirty="0">
                <a:solidFill>
                  <a:schemeClr val="tx1"/>
                </a:solidFill>
                <a:effectLst/>
                <a:latin typeface="+mn-lt"/>
              </a:rPr>
              <a:t>Fully Associative:</a:t>
            </a:r>
            <a:r>
              <a:rPr lang="en-IN" sz="1800" b="0" i="0" spc="12" dirty="0">
                <a:solidFill>
                  <a:schemeClr val="tx1"/>
                </a:solidFill>
                <a:effectLst/>
                <a:latin typeface="+mn-lt"/>
              </a:rPr>
              <a:t> Any car can park in any spot.</a:t>
            </a:r>
            <a:endParaRPr lang="en-IN" sz="1800" b="0" i="0" spc="10" dirty="0">
              <a:solidFill>
                <a:schemeClr val="tx1"/>
              </a:solidFill>
              <a:effectLst/>
              <a:latin typeface="+mn-lt"/>
            </a:endParaRPr>
          </a:p>
          <a:p>
            <a:pPr marL="342900" marR="0" lvl="0" indent="-342900" algn="l" fontAlgn="base">
              <a:spcAft>
                <a:spcPts val="1800"/>
              </a:spcAft>
              <a:buFont typeface="Arial" panose="020B0604020202020204" pitchFamily="34" charset="0"/>
              <a:buChar char="•"/>
            </a:pPr>
            <a:r>
              <a:rPr lang="en-IN" sz="1800" b="1" i="0" spc="10" dirty="0">
                <a:solidFill>
                  <a:schemeClr val="tx1"/>
                </a:solidFill>
                <a:effectLst/>
                <a:latin typeface="+mn-lt"/>
              </a:rPr>
              <a:t>Set-Associative:</a:t>
            </a:r>
            <a:r>
              <a:rPr lang="en-IN" sz="1800" b="0" i="0" spc="12" dirty="0">
                <a:solidFill>
                  <a:schemeClr val="tx1"/>
                </a:solidFill>
                <a:effectLst/>
                <a:latin typeface="+mn-lt"/>
              </a:rPr>
              <a:t> Cars are assigned to a specific section, but can park in any space within that section.</a:t>
            </a:r>
            <a:endParaRPr lang="en-IN" sz="1800" b="0" i="0" spc="10" dirty="0">
              <a:solidFill>
                <a:schemeClr val="tx1"/>
              </a:solidFill>
              <a:effectLst/>
              <a:latin typeface="+mn-lt"/>
            </a:endParaRPr>
          </a:p>
          <a:p>
            <a:pPr marL="0" marR="0" indent="0" algn="l" rtl="0" fontAlgn="base">
              <a:spcAft>
                <a:spcPts val="750"/>
              </a:spcAft>
              <a:buNone/>
            </a:pPr>
            <a:r>
              <a:rPr lang="en-IN" sz="1800" b="0" i="0" spc="12" dirty="0">
                <a:solidFill>
                  <a:schemeClr val="tx1"/>
                </a:solidFill>
                <a:effectLst/>
                <a:latin typeface="+mn-lt"/>
              </a:rPr>
              <a:t>This analogy helps visualize how memory blocks find their “parking spots” in the cache.</a:t>
            </a:r>
            <a:endParaRPr lang="en-IN" sz="1350" b="0" i="0" spc="10" dirty="0">
              <a:solidFill>
                <a:srgbClr val="273239"/>
              </a:solidFill>
              <a:effectLst/>
              <a:latin typeface="Nunito" pitchFamily="2" charset="0"/>
            </a:endParaRPr>
          </a:p>
        </p:txBody>
      </p:sp>
    </p:spTree>
    <p:extLst>
      <p:ext uri="{BB962C8B-B14F-4D97-AF65-F5344CB8AC3E}">
        <p14:creationId xmlns:p14="http://schemas.microsoft.com/office/powerpoint/2010/main" val="6235931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B01B1D94-CC32-9DC2-388B-19E9188AEBC1}"/>
              </a:ext>
            </a:extLst>
          </p:cNvPr>
          <p:cNvGraphicFramePr>
            <a:graphicFrameLocks noGrp="1"/>
          </p:cNvGraphicFramePr>
          <p:nvPr>
            <p:extLst>
              <p:ext uri="{D42A27DB-BD31-4B8C-83A1-F6EECF244321}">
                <p14:modId xmlns:p14="http://schemas.microsoft.com/office/powerpoint/2010/main" val="255377228"/>
              </p:ext>
            </p:extLst>
          </p:nvPr>
        </p:nvGraphicFramePr>
        <p:xfrm>
          <a:off x="847725" y="729106"/>
          <a:ext cx="10496552" cy="5214496"/>
        </p:xfrm>
        <a:graphic>
          <a:graphicData uri="http://schemas.openxmlformats.org/drawingml/2006/table">
            <a:tbl>
              <a:tblPr firstRow="1" firstCol="1" bandRow="1">
                <a:tableStyleId>{5C22544A-7EE6-4342-B048-85BDC9FD1C3A}</a:tableStyleId>
              </a:tblPr>
              <a:tblGrid>
                <a:gridCol w="2624138">
                  <a:extLst>
                    <a:ext uri="{9D8B030D-6E8A-4147-A177-3AD203B41FA5}">
                      <a16:colId xmlns:a16="http://schemas.microsoft.com/office/drawing/2014/main" val="1176585974"/>
                    </a:ext>
                  </a:extLst>
                </a:gridCol>
                <a:gridCol w="2624138">
                  <a:extLst>
                    <a:ext uri="{9D8B030D-6E8A-4147-A177-3AD203B41FA5}">
                      <a16:colId xmlns:a16="http://schemas.microsoft.com/office/drawing/2014/main" val="2518075082"/>
                    </a:ext>
                  </a:extLst>
                </a:gridCol>
                <a:gridCol w="2624138">
                  <a:extLst>
                    <a:ext uri="{9D8B030D-6E8A-4147-A177-3AD203B41FA5}">
                      <a16:colId xmlns:a16="http://schemas.microsoft.com/office/drawing/2014/main" val="3062585572"/>
                    </a:ext>
                  </a:extLst>
                </a:gridCol>
                <a:gridCol w="2624138">
                  <a:extLst>
                    <a:ext uri="{9D8B030D-6E8A-4147-A177-3AD203B41FA5}">
                      <a16:colId xmlns:a16="http://schemas.microsoft.com/office/drawing/2014/main" val="1327264076"/>
                    </a:ext>
                  </a:extLst>
                </a:gridCol>
              </a:tblGrid>
              <a:tr h="435831">
                <a:tc>
                  <a:txBody>
                    <a:bodyPr/>
                    <a:lstStyle/>
                    <a:p>
                      <a:pPr algn="just">
                        <a:lnSpc>
                          <a:spcPct val="107000"/>
                        </a:lnSpc>
                      </a:pPr>
                      <a:r>
                        <a:rPr lang="en-IN" sz="2000">
                          <a:effectLst/>
                        </a:rPr>
                        <a:t>Feature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Direct Mapping</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Fully Associative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Set-Associative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11471391"/>
                  </a:ext>
                </a:extLst>
              </a:tr>
              <a:tr h="435831">
                <a:tc>
                  <a:txBody>
                    <a:bodyPr/>
                    <a:lstStyle/>
                    <a:p>
                      <a:pPr algn="just">
                        <a:lnSpc>
                          <a:spcPct val="107000"/>
                        </a:lnSpc>
                      </a:pPr>
                      <a:r>
                        <a:rPr lang="en-IN" sz="2000">
                          <a:effectLst/>
                        </a:rPr>
                        <a:t>Placement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One fixed line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Any line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Any way within one set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76963977"/>
                  </a:ext>
                </a:extLst>
              </a:tr>
              <a:tr h="435831">
                <a:tc>
                  <a:txBody>
                    <a:bodyPr/>
                    <a:lstStyle/>
                    <a:p>
                      <a:pPr algn="just">
                        <a:lnSpc>
                          <a:spcPct val="107000"/>
                        </a:lnSpc>
                      </a:pPr>
                      <a:r>
                        <a:rPr lang="en-IN" sz="2000">
                          <a:effectLst/>
                        </a:rPr>
                        <a:t>Hardware complexity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dirty="0">
                          <a:effectLst/>
                        </a:rPr>
                        <a:t>Low</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High</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Moderate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41649675"/>
                  </a:ext>
                </a:extLst>
              </a:tr>
              <a:tr h="867793">
                <a:tc>
                  <a:txBody>
                    <a:bodyPr/>
                    <a:lstStyle/>
                    <a:p>
                      <a:pPr algn="just">
                        <a:lnSpc>
                          <a:spcPct val="107000"/>
                        </a:lnSpc>
                      </a:pPr>
                      <a:r>
                        <a:rPr lang="en-IN" sz="2000">
                          <a:effectLst/>
                        </a:rPr>
                        <a:t>Search method</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One line selected</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Compare tags across all lines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Compare tags within selected set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13436570"/>
                  </a:ext>
                </a:extLst>
              </a:tr>
              <a:tr h="867793">
                <a:tc>
                  <a:txBody>
                    <a:bodyPr/>
                    <a:lstStyle/>
                    <a:p>
                      <a:pPr algn="just">
                        <a:lnSpc>
                          <a:spcPct val="107000"/>
                        </a:lnSpc>
                      </a:pPr>
                      <a:r>
                        <a:rPr lang="en-IN" sz="2000">
                          <a:effectLst/>
                        </a:rPr>
                        <a:t>Conflict misses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dirty="0">
                          <a:effectLst/>
                        </a:rPr>
                        <a:t>More likely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Least restrictive placement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dirty="0">
                          <a:effectLst/>
                        </a:rPr>
                        <a:t>Reduced in many cases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98539723"/>
                  </a:ext>
                </a:extLst>
              </a:tr>
              <a:tr h="867793">
                <a:tc>
                  <a:txBody>
                    <a:bodyPr/>
                    <a:lstStyle/>
                    <a:p>
                      <a:pPr algn="just">
                        <a:lnSpc>
                          <a:spcPct val="107000"/>
                        </a:lnSpc>
                      </a:pPr>
                      <a:r>
                        <a:rPr lang="en-IN" sz="2000" dirty="0">
                          <a:effectLst/>
                        </a:rPr>
                        <a:t>Replacement policy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dirty="0">
                          <a:effectLst/>
                        </a:rPr>
                        <a:t>Not needed to choose a line</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Required when full</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Required when selected set is full</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33702024"/>
                  </a:ext>
                </a:extLst>
              </a:tr>
              <a:tr h="435831">
                <a:tc>
                  <a:txBody>
                    <a:bodyPr/>
                    <a:lstStyle/>
                    <a:p>
                      <a:pPr algn="just">
                        <a:lnSpc>
                          <a:spcPct val="107000"/>
                        </a:lnSpc>
                      </a:pPr>
                      <a:r>
                        <a:rPr lang="en-IN" sz="2000">
                          <a:effectLst/>
                        </a:rPr>
                        <a:t>Cost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Low</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High</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Moderate</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61008612"/>
                  </a:ext>
                </a:extLst>
              </a:tr>
              <a:tr h="867793">
                <a:tc>
                  <a:txBody>
                    <a:bodyPr/>
                    <a:lstStyle/>
                    <a:p>
                      <a:pPr algn="just">
                        <a:lnSpc>
                          <a:spcPct val="107000"/>
                        </a:lnSpc>
                      </a:pPr>
                      <a:r>
                        <a:rPr lang="en-IN" sz="2000">
                          <a:effectLst/>
                        </a:rPr>
                        <a:t>Main benefit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Simplicity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a:effectLst/>
                        </a:rPr>
                        <a:t>Maximum flexibility</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000" dirty="0">
                          <a:effectLst/>
                        </a:rPr>
                        <a:t>Balance of speed and flexibility</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36529844"/>
                  </a:ext>
                </a:extLst>
              </a:tr>
            </a:tbl>
          </a:graphicData>
        </a:graphic>
      </p:graphicFrame>
    </p:spTree>
    <p:extLst>
      <p:ext uri="{BB962C8B-B14F-4D97-AF65-F5344CB8AC3E}">
        <p14:creationId xmlns:p14="http://schemas.microsoft.com/office/powerpoint/2010/main" val="6382291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214707-34DA-F28A-B3F4-C574951A60BB}"/>
              </a:ext>
            </a:extLst>
          </p:cNvPr>
          <p:cNvSpPr txBox="1"/>
          <p:nvPr/>
        </p:nvSpPr>
        <p:spPr>
          <a:xfrm>
            <a:off x="796414" y="357465"/>
            <a:ext cx="9429135" cy="2241639"/>
          </a:xfrm>
          <a:prstGeom prst="rect">
            <a:avLst/>
          </a:prstGeom>
          <a:noFill/>
        </p:spPr>
        <p:txBody>
          <a:bodyPr wrap="square">
            <a:spAutoFit/>
          </a:bodyPr>
          <a:lstStyle/>
          <a:p>
            <a:pPr rtl="0">
              <a:spcBef>
                <a:spcPts val="1800"/>
              </a:spcBef>
              <a:buNone/>
            </a:pPr>
            <a:r>
              <a:rPr lang="en-IN" sz="1800" b="1" i="0" u="none" strike="noStrike" dirty="0">
                <a:solidFill>
                  <a:schemeClr val="tx1"/>
                </a:solidFill>
                <a:effectLst/>
                <a:latin typeface="+mn-lt"/>
              </a:rPr>
              <a:t>Cache Hit and Cache Miss</a:t>
            </a:r>
            <a:endParaRPr lang="en-IN" dirty="0">
              <a:effectLst/>
            </a:endParaRPr>
          </a:p>
          <a:p>
            <a:pPr rtl="0">
              <a:spcBef>
                <a:spcPts val="1400"/>
              </a:spcBef>
              <a:buNone/>
            </a:pPr>
            <a:r>
              <a:rPr lang="en-IN" sz="1800" b="1" i="0" u="sng" dirty="0">
                <a:solidFill>
                  <a:schemeClr val="tx1"/>
                </a:solidFill>
                <a:effectLst/>
                <a:latin typeface="+mn-lt"/>
              </a:rPr>
              <a:t>Cache Hit</a:t>
            </a:r>
            <a:endParaRPr lang="en-IN" dirty="0">
              <a:effectLst/>
            </a:endParaRPr>
          </a:p>
          <a:p>
            <a:pPr rtl="0">
              <a:spcBef>
                <a:spcPts val="600"/>
              </a:spcBef>
              <a:buNone/>
            </a:pPr>
            <a:r>
              <a:rPr lang="en-IN" sz="1800" b="0" i="0" u="none" strike="noStrike" dirty="0">
                <a:solidFill>
                  <a:schemeClr val="tx1"/>
                </a:solidFill>
                <a:effectLst/>
                <a:latin typeface="+mn-lt"/>
              </a:rPr>
              <a:t>A cache hit occurs when the requested data is already present in the cache.</a:t>
            </a:r>
            <a:endParaRPr lang="en-IN" dirty="0">
              <a:effectLst/>
            </a:endParaRPr>
          </a:p>
          <a:p>
            <a:pPr rtl="0">
              <a:spcBef>
                <a:spcPts val="1200"/>
              </a:spcBef>
              <a:buNone/>
            </a:pPr>
            <a:r>
              <a:rPr lang="en-IN" sz="1800" b="0" i="0" u="none" strike="noStrike" dirty="0">
                <a:solidFill>
                  <a:schemeClr val="tx1"/>
                </a:solidFill>
                <a:effectLst/>
                <a:latin typeface="+mn-lt"/>
              </a:rPr>
              <a:t>Example: The CPU requests data stored in cache line 4, and the required data is found there.</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Access is fast.</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Main memory access is avoided for that read.</a:t>
            </a:r>
            <a:endParaRPr lang="en-IN" sz="2100" b="0" i="0" u="none" strike="noStrike" dirty="0">
              <a:solidFill>
                <a:srgbClr val="0D0D0D"/>
              </a:solidFill>
              <a:effectLst/>
              <a:latin typeface="Arial" panose="020B0604020202020204" pitchFamily="34" charset="0"/>
            </a:endParaRPr>
          </a:p>
        </p:txBody>
      </p:sp>
      <p:sp>
        <p:nvSpPr>
          <p:cNvPr id="5" name="TextBox 4">
            <a:extLst>
              <a:ext uri="{FF2B5EF4-FFF2-40B4-BE49-F238E27FC236}">
                <a16:creationId xmlns:a16="http://schemas.microsoft.com/office/drawing/2014/main" id="{D6FCE38D-7874-6241-8B64-88D2648C23E3}"/>
              </a:ext>
            </a:extLst>
          </p:cNvPr>
          <p:cNvSpPr txBox="1"/>
          <p:nvPr/>
        </p:nvSpPr>
        <p:spPr>
          <a:xfrm>
            <a:off x="796413" y="2917693"/>
            <a:ext cx="10353367" cy="2062103"/>
          </a:xfrm>
          <a:prstGeom prst="rect">
            <a:avLst/>
          </a:prstGeom>
          <a:noFill/>
        </p:spPr>
        <p:txBody>
          <a:bodyPr wrap="square">
            <a:spAutoFit/>
          </a:bodyPr>
          <a:lstStyle/>
          <a:p>
            <a:pPr rtl="0">
              <a:spcBef>
                <a:spcPts val="1400"/>
              </a:spcBef>
              <a:buNone/>
            </a:pPr>
            <a:r>
              <a:rPr lang="en-IN" sz="1800" b="1" i="0" u="sng" dirty="0">
                <a:solidFill>
                  <a:schemeClr val="tx1"/>
                </a:solidFill>
                <a:effectLst/>
                <a:latin typeface="+mn-lt"/>
              </a:rPr>
              <a:t>Cache Miss</a:t>
            </a:r>
            <a:endParaRPr lang="en-IN" dirty="0">
              <a:effectLst/>
            </a:endParaRPr>
          </a:p>
          <a:p>
            <a:pPr rtl="0">
              <a:spcBef>
                <a:spcPts val="600"/>
              </a:spcBef>
              <a:buNone/>
            </a:pPr>
            <a:r>
              <a:rPr lang="en-IN" sz="1800" b="0" i="0" u="none" strike="noStrike" dirty="0">
                <a:solidFill>
                  <a:schemeClr val="tx1"/>
                </a:solidFill>
                <a:effectLst/>
                <a:latin typeface="+mn-lt"/>
              </a:rPr>
              <a:t>A cache miss occurs when the requested data is not present in the cache.</a:t>
            </a:r>
            <a:endParaRPr lang="en-IN" dirty="0">
              <a:effectLst/>
            </a:endParaRPr>
          </a:p>
          <a:p>
            <a:pPr rtl="0">
              <a:spcBef>
                <a:spcPts val="1200"/>
              </a:spcBef>
              <a:buNone/>
            </a:pPr>
            <a:r>
              <a:rPr lang="en-IN" sz="1800" b="0" i="0" u="none" strike="noStrike" dirty="0">
                <a:solidFill>
                  <a:schemeClr val="tx1"/>
                </a:solidFill>
                <a:effectLst/>
                <a:latin typeface="+mn-lt"/>
              </a:rPr>
              <a:t>The system must fetch the required block from a lower level of the memory hierarchy, such as RAM, and usually place it in the cache.</a:t>
            </a:r>
            <a:endParaRPr lang="en-IN" dirty="0">
              <a:effectLst/>
            </a:endParaRPr>
          </a:p>
          <a:p>
            <a:pPr marL="342900" lvl="0" indent="-342900" rtl="0" fontAlgn="base">
              <a:spcBef>
                <a:spcPts val="600"/>
              </a:spcBef>
              <a:buFont typeface="Arial" panose="020B0604020202020204" pitchFamily="34" charset="0"/>
              <a:buChar char="•"/>
            </a:pPr>
            <a:r>
              <a:rPr lang="en-IN" sz="1800" b="0" i="0" u="none" strike="noStrike" dirty="0">
                <a:solidFill>
                  <a:schemeClr val="tx1"/>
                </a:solidFill>
                <a:effectLst/>
                <a:latin typeface="+mn-lt"/>
              </a:rPr>
              <a:t>Access takes longer.</a:t>
            </a:r>
          </a:p>
          <a:p>
            <a:pPr marL="342900" lvl="0" indent="-342900" rtl="0" fontAlgn="base">
              <a:buFont typeface="Arial" panose="020B0604020202020204" pitchFamily="34" charset="0"/>
              <a:buChar char="•"/>
            </a:pPr>
            <a:r>
              <a:rPr lang="en-IN" sz="1800" b="0" i="0" u="none" strike="noStrike" dirty="0">
                <a:solidFill>
                  <a:schemeClr val="tx1"/>
                </a:solidFill>
                <a:effectLst/>
                <a:latin typeface="+mn-lt"/>
              </a:rPr>
              <a:t>The CPU may need to wait for the data.</a:t>
            </a:r>
            <a:endParaRPr lang="en-IN" sz="2100" b="0" i="0" u="none" strike="noStrike" dirty="0">
              <a:solidFill>
                <a:srgbClr val="0D0D0D"/>
              </a:solidFill>
              <a:effectLst/>
              <a:latin typeface="Arial" panose="020B0604020202020204" pitchFamily="34" charset="0"/>
            </a:endParaRPr>
          </a:p>
        </p:txBody>
      </p:sp>
    </p:spTree>
    <p:extLst>
      <p:ext uri="{BB962C8B-B14F-4D97-AF65-F5344CB8AC3E}">
        <p14:creationId xmlns:p14="http://schemas.microsoft.com/office/powerpoint/2010/main" val="16037820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hysics of Systems: What Actually Happens When Your Code Runs">
            <a:extLst>
              <a:ext uri="{FF2B5EF4-FFF2-40B4-BE49-F238E27FC236}">
                <a16:creationId xmlns:a16="http://schemas.microsoft.com/office/drawing/2014/main" id="{EB3ABE73-E8CC-8DA5-DD53-C6A2AF955D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6983" y="780835"/>
            <a:ext cx="9444685" cy="5147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7202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4BEC5340-F999-082E-1CC4-9E2B5DF8AAEE}"/>
              </a:ext>
            </a:extLst>
          </p:cNvPr>
          <p:cNvGraphicFramePr>
            <a:graphicFrameLocks noChangeAspect="1"/>
          </p:cNvGraphicFramePr>
          <p:nvPr>
            <p:extLst>
              <p:ext uri="{D42A27DB-BD31-4B8C-83A1-F6EECF244321}">
                <p14:modId xmlns:p14="http://schemas.microsoft.com/office/powerpoint/2010/main" val="3545795901"/>
              </p:ext>
            </p:extLst>
          </p:nvPr>
        </p:nvGraphicFramePr>
        <p:xfrm>
          <a:off x="504825" y="1162050"/>
          <a:ext cx="11010900" cy="4772025"/>
        </p:xfrm>
        <a:graphic>
          <a:graphicData uri="http://schemas.openxmlformats.org/presentationml/2006/ole">
            <mc:AlternateContent xmlns:mc="http://schemas.openxmlformats.org/markup-compatibility/2006">
              <mc:Choice xmlns:v="urn:schemas-microsoft-com:vml" Requires="v">
                <p:oleObj name="Document" r:id="rId2" imgW="5759492" imgH="2503785" progId="Word.Document.12">
                  <p:embed/>
                </p:oleObj>
              </mc:Choice>
              <mc:Fallback>
                <p:oleObj name="Document" r:id="rId2" imgW="5759492" imgH="2503785" progId="Word.Document.12">
                  <p:embed/>
                  <p:pic>
                    <p:nvPicPr>
                      <p:cNvPr id="8" name="Object 7"/>
                      <p:cNvPicPr/>
                      <p:nvPr/>
                    </p:nvPicPr>
                    <p:blipFill>
                      <a:blip r:embed="rId3"/>
                      <a:stretch>
                        <a:fillRect/>
                      </a:stretch>
                    </p:blipFill>
                    <p:spPr>
                      <a:xfrm>
                        <a:off x="504825" y="1162050"/>
                        <a:ext cx="11010900" cy="4772025"/>
                      </a:xfrm>
                      <a:prstGeom prst="rect">
                        <a:avLst/>
                      </a:prstGeom>
                    </p:spPr>
                  </p:pic>
                </p:oleObj>
              </mc:Fallback>
            </mc:AlternateContent>
          </a:graphicData>
        </a:graphic>
      </p:graphicFrame>
    </p:spTree>
    <p:extLst>
      <p:ext uri="{BB962C8B-B14F-4D97-AF65-F5344CB8AC3E}">
        <p14:creationId xmlns:p14="http://schemas.microsoft.com/office/powerpoint/2010/main" val="33575848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366776" y="483508"/>
            <a:ext cx="9173463" cy="1015663"/>
          </a:xfrm>
          <a:prstGeom prst="rect">
            <a:avLst/>
          </a:prstGeom>
        </p:spPr>
        <p:txBody>
          <a:bodyPr wrap="square">
            <a:spAutoFit/>
          </a:bodyPr>
          <a:lstStyle/>
          <a:p>
            <a:pPr algn="just"/>
            <a:r>
              <a:rPr lang="en-IN" sz="2400" b="1" dirty="0">
                <a:solidFill>
                  <a:srgbClr val="FF0000"/>
                </a:solidFill>
                <a:latin typeface="Times New Roman" panose="02020603050405020304" pitchFamily="18" charset="0"/>
                <a:ea typeface="Times New Roman" panose="02020603050405020304" pitchFamily="18" charset="0"/>
              </a:rPr>
              <a:t>Hit ratio and miss rate</a:t>
            </a:r>
          </a:p>
          <a:p>
            <a:pPr algn="just"/>
            <a:r>
              <a:rPr lang="en-IN" dirty="0"/>
              <a:t>The hit ratio measures the fraction of memory accesses that are satisfied by the cache.</a:t>
            </a:r>
          </a:p>
          <a:p>
            <a:pPr algn="just"/>
            <a:endParaRPr lang="en-IN" b="1" dirty="0">
              <a:latin typeface="Times New Roman" panose="02020603050405020304" pitchFamily="18" charset="0"/>
              <a:ea typeface="Times New Roman" panose="02020603050405020304" pitchFamily="18" charset="0"/>
            </a:endParaRPr>
          </a:p>
        </p:txBody>
      </p:sp>
      <p:pic>
        <p:nvPicPr>
          <p:cNvPr id="8" name="Picture 7"/>
          <p:cNvPicPr/>
          <p:nvPr/>
        </p:nvPicPr>
        <p:blipFill>
          <a:blip r:embed="rId2"/>
          <a:stretch>
            <a:fillRect/>
          </a:stretch>
        </p:blipFill>
        <p:spPr>
          <a:xfrm>
            <a:off x="502920" y="1425126"/>
            <a:ext cx="7757160" cy="4335593"/>
          </a:xfrm>
          <a:prstGeom prst="rect">
            <a:avLst/>
          </a:prstGeom>
        </p:spPr>
      </p:pic>
    </p:spTree>
    <p:extLst>
      <p:ext uri="{BB962C8B-B14F-4D97-AF65-F5344CB8AC3E}">
        <p14:creationId xmlns:p14="http://schemas.microsoft.com/office/powerpoint/2010/main" val="3596245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386080" y="483508"/>
            <a:ext cx="9164320" cy="685059"/>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Times New Roman" panose="02020603050405020304" pitchFamily="18" charset="0"/>
              </a:rPr>
              <a:t>Ex:</a:t>
            </a:r>
            <a:r>
              <a:rPr lang="en-IN" dirty="0">
                <a:latin typeface="Times New Roman" panose="02020603050405020304" pitchFamily="18" charset="0"/>
                <a:ea typeface="Calibri" panose="020F0502020204030204" pitchFamily="34" charset="0"/>
                <a:cs typeface="Times New Roman" panose="02020603050405020304" pitchFamily="18" charset="0"/>
              </a:rPr>
              <a:t> Suppose a processor makes 2,000 memory accesses. Of these, 1,800 are cache hits and 200 are cache misses.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p:cNvPicPr/>
          <p:nvPr/>
        </p:nvPicPr>
        <p:blipFill>
          <a:blip r:embed="rId2"/>
          <a:stretch>
            <a:fillRect/>
          </a:stretch>
        </p:blipFill>
        <p:spPr>
          <a:xfrm>
            <a:off x="650240" y="1351280"/>
            <a:ext cx="7803515" cy="3972559"/>
          </a:xfrm>
          <a:prstGeom prst="rect">
            <a:avLst/>
          </a:prstGeom>
        </p:spPr>
      </p:pic>
    </p:spTree>
    <p:extLst>
      <p:ext uri="{BB962C8B-B14F-4D97-AF65-F5344CB8AC3E}">
        <p14:creationId xmlns:p14="http://schemas.microsoft.com/office/powerpoint/2010/main" val="29804045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245230" y="381000"/>
            <a:ext cx="11622920" cy="4800225"/>
          </a:xfrm>
          <a:prstGeom prst="rect">
            <a:avLst/>
          </a:prstGeom>
        </p:spPr>
        <p:txBody>
          <a:bodyPr wrap="square">
            <a:spAutoFit/>
          </a:bodyPr>
          <a:lstStyle/>
          <a:p>
            <a:pPr algn="just">
              <a:lnSpc>
                <a:spcPct val="107000"/>
              </a:lnSpc>
              <a:spcBef>
                <a:spcPts val="200"/>
              </a:spcBef>
              <a:spcAft>
                <a:spcPts val="0"/>
              </a:spcAft>
            </a:pPr>
            <a:r>
              <a:rPr lang="en-IN" sz="2400" b="1" dirty="0">
                <a:solidFill>
                  <a:srgbClr val="B43412"/>
                </a:solidFill>
                <a:latin typeface="Times New Roman" panose="02020603050405020304" pitchFamily="18" charset="0"/>
                <a:ea typeface="Times New Roman" panose="02020603050405020304" pitchFamily="18" charset="0"/>
                <a:cs typeface="Times New Roman" panose="02020603050405020304" pitchFamily="18" charset="0"/>
              </a:rPr>
              <a:t>Write-through policy</a:t>
            </a:r>
          </a:p>
          <a:p>
            <a:pPr marL="285750" indent="-285750" algn="just">
              <a:lnSpc>
                <a:spcPct val="107000"/>
              </a:lnSpc>
              <a:spcBef>
                <a:spcPts val="200"/>
              </a:spcBef>
              <a:buFont typeface="Arial" panose="020B0604020202020204" pitchFamily="34" charset="0"/>
              <a:buChar char="•"/>
            </a:pPr>
            <a:r>
              <a:rPr lang="en-US" sz="2000" dirty="0"/>
              <a:t>A Write-Through Policy is a cache memory writing technique in which every time the CPU updates data in the cache, the same data is immediately written to the main memory (RAM).</a:t>
            </a:r>
          </a:p>
          <a:p>
            <a:pPr marL="285750" indent="-285750" algn="just">
              <a:lnSpc>
                <a:spcPct val="107000"/>
              </a:lnSpc>
              <a:spcBef>
                <a:spcPts val="200"/>
              </a:spcBef>
              <a:buFont typeface="Arial" panose="020B0604020202020204" pitchFamily="34" charset="0"/>
              <a:buChar char="•"/>
            </a:pPr>
            <a:r>
              <a:rPr lang="en-US" sz="2000" dirty="0"/>
              <a:t>In simple words, whenever the CPU changes data, the change is saved in both the cache and RAM simultaneously.</a:t>
            </a:r>
          </a:p>
          <a:p>
            <a:pPr marL="285750" indent="-285750" algn="just">
              <a:lnSpc>
                <a:spcPct val="107000"/>
              </a:lnSpc>
              <a:spcBef>
                <a:spcPts val="200"/>
              </a:spcBef>
              <a:buFont typeface="Arial" panose="020B0604020202020204" pitchFamily="34" charset="0"/>
              <a:buChar char="•"/>
            </a:pPr>
            <a:r>
              <a:rPr lang="en-IN" sz="2000" b="1" dirty="0"/>
              <a:t>Working</a:t>
            </a:r>
          </a:p>
          <a:p>
            <a:pPr marL="914400" lvl="1" indent="-457200">
              <a:buFont typeface="+mj-lt"/>
              <a:buAutoNum type="arabicPeriod"/>
            </a:pPr>
            <a:r>
              <a:rPr lang="en-IN" sz="2000" dirty="0"/>
              <a:t>The CPU modifies a value.</a:t>
            </a:r>
          </a:p>
          <a:p>
            <a:pPr marL="914400" lvl="1" indent="-457200">
              <a:buFont typeface="+mj-lt"/>
              <a:buAutoNum type="arabicPeriod"/>
            </a:pPr>
            <a:r>
              <a:rPr lang="en-IN" sz="2000" dirty="0"/>
              <a:t>The cache updates the corresponding cache line.</a:t>
            </a:r>
          </a:p>
          <a:p>
            <a:pPr marL="914400" lvl="1" indent="-457200">
              <a:buFont typeface="+mj-lt"/>
              <a:buAutoNum type="arabicPeriod"/>
            </a:pPr>
            <a:r>
              <a:rPr lang="en-IN" sz="2000" dirty="0"/>
              <a:t>The updated value is propagated to the next memory level.</a:t>
            </a:r>
          </a:p>
          <a:p>
            <a:pPr marL="914400" lvl="1" indent="-457200">
              <a:buFont typeface="+mj-lt"/>
              <a:buAutoNum type="arabicPeriod"/>
            </a:pPr>
            <a:r>
              <a:rPr lang="en-IN" sz="2000" dirty="0"/>
              <a:t>The system maintains consistency between the cache and the memory level being updated, subject to the cache hierarchy.</a:t>
            </a:r>
          </a:p>
          <a:p>
            <a:pPr algn="just">
              <a:lnSpc>
                <a:spcPct val="107000"/>
              </a:lnSpc>
              <a:spcBef>
                <a:spcPts val="200"/>
              </a:spcBef>
            </a:pPr>
            <a:endParaRPr lang="en-IN" sz="2000" dirty="0"/>
          </a:p>
          <a:p>
            <a:pPr algn="just">
              <a:lnSpc>
                <a:spcPct val="107000"/>
              </a:lnSpc>
              <a:spcBef>
                <a:spcPts val="200"/>
              </a:spcBef>
              <a:spcAft>
                <a:spcPts val="0"/>
              </a:spcAft>
            </a:pPr>
            <a:endParaRPr lang="en-IN" sz="2000" b="1" dirty="0">
              <a:solidFill>
                <a:srgbClr val="B43412"/>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07000"/>
              </a:lnSpc>
              <a:spcBef>
                <a:spcPts val="200"/>
              </a:spcBef>
              <a:spcAft>
                <a:spcPts val="0"/>
              </a:spcAft>
            </a:pPr>
            <a:endParaRPr lang="en-IN" sz="2000" b="1" dirty="0">
              <a:solidFill>
                <a:srgbClr val="B43412"/>
              </a:solidFill>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57800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9B2F29C-52A9-4395-C290-79FDF6D8E128}"/>
              </a:ext>
            </a:extLst>
          </p:cNvPr>
          <p:cNvGraphicFramePr>
            <a:graphicFrameLocks noGrp="1"/>
          </p:cNvGraphicFramePr>
          <p:nvPr>
            <p:extLst>
              <p:ext uri="{D42A27DB-BD31-4B8C-83A1-F6EECF244321}">
                <p14:modId xmlns:p14="http://schemas.microsoft.com/office/powerpoint/2010/main" val="1646931321"/>
              </p:ext>
            </p:extLst>
          </p:nvPr>
        </p:nvGraphicFramePr>
        <p:xfrm>
          <a:off x="629265" y="1515700"/>
          <a:ext cx="10515600" cy="109728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1925889723"/>
                    </a:ext>
                  </a:extLst>
                </a:gridCol>
                <a:gridCol w="3505200">
                  <a:extLst>
                    <a:ext uri="{9D8B030D-6E8A-4147-A177-3AD203B41FA5}">
                      <a16:colId xmlns:a16="http://schemas.microsoft.com/office/drawing/2014/main" val="579849067"/>
                    </a:ext>
                  </a:extLst>
                </a:gridCol>
                <a:gridCol w="3505200">
                  <a:extLst>
                    <a:ext uri="{9D8B030D-6E8A-4147-A177-3AD203B41FA5}">
                      <a16:colId xmlns:a16="http://schemas.microsoft.com/office/drawing/2014/main" val="1431875057"/>
                    </a:ext>
                  </a:extLst>
                </a:gridCol>
              </a:tblGrid>
              <a:tr h="0">
                <a:tc>
                  <a:txBody>
                    <a:bodyPr/>
                    <a:lstStyle/>
                    <a:p>
                      <a:pPr>
                        <a:buNone/>
                      </a:pPr>
                      <a:r>
                        <a:rPr lang="en-IN" dirty="0"/>
                        <a:t>Step</a:t>
                      </a:r>
                    </a:p>
                  </a:txBody>
                  <a:tcPr anchor="ctr"/>
                </a:tc>
                <a:tc>
                  <a:txBody>
                    <a:bodyPr/>
                    <a:lstStyle/>
                    <a:p>
                      <a:pPr>
                        <a:buNone/>
                      </a:pPr>
                      <a:r>
                        <a:rPr lang="en-IN"/>
                        <a:t>Cache Memory</a:t>
                      </a:r>
                    </a:p>
                  </a:txBody>
                  <a:tcPr anchor="ctr"/>
                </a:tc>
                <a:tc>
                  <a:txBody>
                    <a:bodyPr/>
                    <a:lstStyle/>
                    <a:p>
                      <a:pPr>
                        <a:buNone/>
                      </a:pPr>
                      <a:r>
                        <a:rPr lang="en-IN"/>
                        <a:t>Main Memory (RAM)</a:t>
                      </a:r>
                    </a:p>
                  </a:txBody>
                  <a:tcPr anchor="ctr"/>
                </a:tc>
                <a:extLst>
                  <a:ext uri="{0D108BD9-81ED-4DB2-BD59-A6C34878D82A}">
                    <a16:rowId xmlns:a16="http://schemas.microsoft.com/office/drawing/2014/main" val="971763447"/>
                  </a:ext>
                </a:extLst>
              </a:tr>
              <a:tr h="0">
                <a:tc>
                  <a:txBody>
                    <a:bodyPr/>
                    <a:lstStyle/>
                    <a:p>
                      <a:pPr>
                        <a:buNone/>
                      </a:pPr>
                      <a:r>
                        <a:rPr lang="en-IN" dirty="0"/>
                        <a:t>Initial value</a:t>
                      </a:r>
                    </a:p>
                  </a:txBody>
                  <a:tcPr anchor="ctr"/>
                </a:tc>
                <a:tc>
                  <a:txBody>
                    <a:bodyPr/>
                    <a:lstStyle/>
                    <a:p>
                      <a:pPr>
                        <a:buNone/>
                      </a:pPr>
                      <a:r>
                        <a:rPr lang="en-IN"/>
                        <a:t>10</a:t>
                      </a:r>
                    </a:p>
                  </a:txBody>
                  <a:tcPr anchor="ctr"/>
                </a:tc>
                <a:tc>
                  <a:txBody>
                    <a:bodyPr/>
                    <a:lstStyle/>
                    <a:p>
                      <a:pPr>
                        <a:buNone/>
                      </a:pPr>
                      <a:r>
                        <a:rPr lang="en-IN"/>
                        <a:t>10</a:t>
                      </a:r>
                    </a:p>
                  </a:txBody>
                  <a:tcPr anchor="ctr"/>
                </a:tc>
                <a:extLst>
                  <a:ext uri="{0D108BD9-81ED-4DB2-BD59-A6C34878D82A}">
                    <a16:rowId xmlns:a16="http://schemas.microsoft.com/office/drawing/2014/main" val="2923901283"/>
                  </a:ext>
                </a:extLst>
              </a:tr>
              <a:tr h="0">
                <a:tc>
                  <a:txBody>
                    <a:bodyPr/>
                    <a:lstStyle/>
                    <a:p>
                      <a:pPr>
                        <a:buNone/>
                      </a:pPr>
                      <a:r>
                        <a:rPr lang="en-IN"/>
                        <a:t>CPU writes 20</a:t>
                      </a:r>
                    </a:p>
                  </a:txBody>
                  <a:tcPr anchor="ctr"/>
                </a:tc>
                <a:tc>
                  <a:txBody>
                    <a:bodyPr/>
                    <a:lstStyle/>
                    <a:p>
                      <a:pPr>
                        <a:buNone/>
                      </a:pPr>
                      <a:r>
                        <a:rPr lang="en-IN"/>
                        <a:t>20</a:t>
                      </a:r>
                    </a:p>
                  </a:txBody>
                  <a:tcPr anchor="ctr"/>
                </a:tc>
                <a:tc>
                  <a:txBody>
                    <a:bodyPr/>
                    <a:lstStyle/>
                    <a:p>
                      <a:pPr>
                        <a:buNone/>
                      </a:pPr>
                      <a:r>
                        <a:rPr lang="en-IN" dirty="0"/>
                        <a:t>20</a:t>
                      </a:r>
                    </a:p>
                  </a:txBody>
                  <a:tcPr anchor="ctr"/>
                </a:tc>
                <a:extLst>
                  <a:ext uri="{0D108BD9-81ED-4DB2-BD59-A6C34878D82A}">
                    <a16:rowId xmlns:a16="http://schemas.microsoft.com/office/drawing/2014/main" val="3431207566"/>
                  </a:ext>
                </a:extLst>
              </a:tr>
            </a:tbl>
          </a:graphicData>
        </a:graphic>
      </p:graphicFrame>
      <p:sp>
        <p:nvSpPr>
          <p:cNvPr id="4" name="TextBox 3">
            <a:extLst>
              <a:ext uri="{FF2B5EF4-FFF2-40B4-BE49-F238E27FC236}">
                <a16:creationId xmlns:a16="http://schemas.microsoft.com/office/drawing/2014/main" id="{23FAEE56-922D-D12A-7039-67FD82E9B3F0}"/>
              </a:ext>
            </a:extLst>
          </p:cNvPr>
          <p:cNvSpPr txBox="1"/>
          <p:nvPr/>
        </p:nvSpPr>
        <p:spPr>
          <a:xfrm>
            <a:off x="511278" y="224050"/>
            <a:ext cx="9615948" cy="923330"/>
          </a:xfrm>
          <a:prstGeom prst="rect">
            <a:avLst/>
          </a:prstGeom>
          <a:noFill/>
        </p:spPr>
        <p:txBody>
          <a:bodyPr wrap="square">
            <a:spAutoFit/>
          </a:bodyPr>
          <a:lstStyle/>
          <a:p>
            <a:pPr>
              <a:buNone/>
            </a:pPr>
            <a:r>
              <a:rPr lang="en-IN" b="1" dirty="0"/>
              <a:t>Example</a:t>
            </a:r>
          </a:p>
          <a:p>
            <a:pPr>
              <a:buNone/>
            </a:pPr>
            <a:r>
              <a:rPr lang="en-IN" dirty="0"/>
              <a:t>Suppose a variable </a:t>
            </a:r>
            <a:r>
              <a:rPr lang="en-IN" dirty="0">
                <a:latin typeface="+mn-lt"/>
              </a:rPr>
              <a:t>A</a:t>
            </a:r>
            <a:r>
              <a:rPr lang="en-IN" dirty="0"/>
              <a:t> initially contains the value 10 in both cache and RAM.</a:t>
            </a:r>
          </a:p>
          <a:p>
            <a:pPr>
              <a:buNone/>
            </a:pPr>
            <a:r>
              <a:rPr lang="en-IN" dirty="0"/>
              <a:t>The CPU changes </a:t>
            </a:r>
            <a:r>
              <a:rPr lang="en-IN" dirty="0">
                <a:latin typeface="+mn-lt"/>
              </a:rPr>
              <a:t>A</a:t>
            </a:r>
            <a:r>
              <a:rPr lang="en-IN" dirty="0"/>
              <a:t> from 10 to 20.</a:t>
            </a:r>
          </a:p>
        </p:txBody>
      </p:sp>
      <p:sp>
        <p:nvSpPr>
          <p:cNvPr id="6" name="TextBox 5">
            <a:extLst>
              <a:ext uri="{FF2B5EF4-FFF2-40B4-BE49-F238E27FC236}">
                <a16:creationId xmlns:a16="http://schemas.microsoft.com/office/drawing/2014/main" id="{A42FFE3E-DC3B-27CD-3201-E27CFA80A04F}"/>
              </a:ext>
            </a:extLst>
          </p:cNvPr>
          <p:cNvSpPr txBox="1"/>
          <p:nvPr/>
        </p:nvSpPr>
        <p:spPr>
          <a:xfrm>
            <a:off x="511278" y="3108293"/>
            <a:ext cx="8632722" cy="369332"/>
          </a:xfrm>
          <a:prstGeom prst="rect">
            <a:avLst/>
          </a:prstGeom>
          <a:noFill/>
        </p:spPr>
        <p:txBody>
          <a:bodyPr wrap="square">
            <a:spAutoFit/>
          </a:bodyPr>
          <a:lstStyle/>
          <a:p>
            <a:pPr>
              <a:buNone/>
            </a:pPr>
            <a:r>
              <a:rPr lang="en-IN" sz="1800" dirty="0"/>
              <a:t>Result: Both cache and RAM are updated with the new value, 20</a:t>
            </a:r>
          </a:p>
        </p:txBody>
      </p:sp>
      <p:graphicFrame>
        <p:nvGraphicFramePr>
          <p:cNvPr id="9" name="Table 8">
            <a:extLst>
              <a:ext uri="{FF2B5EF4-FFF2-40B4-BE49-F238E27FC236}">
                <a16:creationId xmlns:a16="http://schemas.microsoft.com/office/drawing/2014/main" id="{1EF25308-6B50-DD6B-F071-EB0FD545E956}"/>
              </a:ext>
            </a:extLst>
          </p:cNvPr>
          <p:cNvGraphicFramePr>
            <a:graphicFrameLocks noGrp="1"/>
          </p:cNvGraphicFramePr>
          <p:nvPr>
            <p:extLst>
              <p:ext uri="{D42A27DB-BD31-4B8C-83A1-F6EECF244321}">
                <p14:modId xmlns:p14="http://schemas.microsoft.com/office/powerpoint/2010/main" val="2712997190"/>
              </p:ext>
            </p:extLst>
          </p:nvPr>
        </p:nvGraphicFramePr>
        <p:xfrm>
          <a:off x="629265" y="3972938"/>
          <a:ext cx="10515600" cy="201168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4039705924"/>
                    </a:ext>
                  </a:extLst>
                </a:gridCol>
                <a:gridCol w="5257800">
                  <a:extLst>
                    <a:ext uri="{9D8B030D-6E8A-4147-A177-3AD203B41FA5}">
                      <a16:colId xmlns:a16="http://schemas.microsoft.com/office/drawing/2014/main" val="1268354040"/>
                    </a:ext>
                  </a:extLst>
                </a:gridCol>
              </a:tblGrid>
              <a:tr h="0">
                <a:tc>
                  <a:txBody>
                    <a:bodyPr/>
                    <a:lstStyle/>
                    <a:p>
                      <a:pPr>
                        <a:buNone/>
                      </a:pPr>
                      <a:r>
                        <a:rPr lang="en-IN"/>
                        <a:t>Advantages</a:t>
                      </a:r>
                    </a:p>
                  </a:txBody>
                  <a:tcPr anchor="ctr"/>
                </a:tc>
                <a:tc>
                  <a:txBody>
                    <a:bodyPr/>
                    <a:lstStyle/>
                    <a:p>
                      <a:pPr>
                        <a:buNone/>
                      </a:pPr>
                      <a:r>
                        <a:rPr lang="en-IN"/>
                        <a:t>Disadvantages</a:t>
                      </a:r>
                    </a:p>
                  </a:txBody>
                  <a:tcPr anchor="ctr"/>
                </a:tc>
                <a:extLst>
                  <a:ext uri="{0D108BD9-81ED-4DB2-BD59-A6C34878D82A}">
                    <a16:rowId xmlns:a16="http://schemas.microsoft.com/office/drawing/2014/main" val="3557180452"/>
                  </a:ext>
                </a:extLst>
              </a:tr>
              <a:tr h="0">
                <a:tc>
                  <a:txBody>
                    <a:bodyPr/>
                    <a:lstStyle/>
                    <a:p>
                      <a:pPr>
                        <a:buNone/>
                      </a:pPr>
                      <a:r>
                        <a:rPr lang="en-IN"/>
                        <a:t>Cache and RAM remain consistent for the updated data.</a:t>
                      </a:r>
                    </a:p>
                  </a:txBody>
                  <a:tcPr anchor="ctr"/>
                </a:tc>
                <a:tc>
                  <a:txBody>
                    <a:bodyPr/>
                    <a:lstStyle/>
                    <a:p>
                      <a:pPr>
                        <a:buNone/>
                      </a:pPr>
                      <a:r>
                        <a:rPr lang="en-IN"/>
                        <a:t>Every write also requires a memory write.</a:t>
                      </a:r>
                    </a:p>
                  </a:txBody>
                  <a:tcPr anchor="ctr"/>
                </a:tc>
                <a:extLst>
                  <a:ext uri="{0D108BD9-81ED-4DB2-BD59-A6C34878D82A}">
                    <a16:rowId xmlns:a16="http://schemas.microsoft.com/office/drawing/2014/main" val="1765597817"/>
                  </a:ext>
                </a:extLst>
              </a:tr>
              <a:tr h="0">
                <a:tc>
                  <a:txBody>
                    <a:bodyPr/>
                    <a:lstStyle/>
                    <a:p>
                      <a:pPr>
                        <a:buNone/>
                      </a:pPr>
                      <a:r>
                        <a:rPr lang="en-IN"/>
                        <a:t>Data in RAM is kept up to date.</a:t>
                      </a:r>
                    </a:p>
                  </a:txBody>
                  <a:tcPr anchor="ctr"/>
                </a:tc>
                <a:tc>
                  <a:txBody>
                    <a:bodyPr/>
                    <a:lstStyle/>
                    <a:p>
                      <a:pPr>
                        <a:buNone/>
                      </a:pPr>
                      <a:r>
                        <a:rPr lang="en-IN"/>
                        <a:t>Write operations can be slower because RAM must be updated.</a:t>
                      </a:r>
                    </a:p>
                  </a:txBody>
                  <a:tcPr anchor="ctr"/>
                </a:tc>
                <a:extLst>
                  <a:ext uri="{0D108BD9-81ED-4DB2-BD59-A6C34878D82A}">
                    <a16:rowId xmlns:a16="http://schemas.microsoft.com/office/drawing/2014/main" val="4174806014"/>
                  </a:ext>
                </a:extLst>
              </a:tr>
              <a:tr h="0">
                <a:tc>
                  <a:txBody>
                    <a:bodyPr/>
                    <a:lstStyle/>
                    <a:p>
                      <a:pPr>
                        <a:buNone/>
                      </a:pPr>
                      <a:r>
                        <a:rPr lang="en-IN"/>
                        <a:t>Simple to implement and manage.</a:t>
                      </a:r>
                    </a:p>
                  </a:txBody>
                  <a:tcPr anchor="ctr"/>
                </a:tc>
                <a:tc>
                  <a:txBody>
                    <a:bodyPr/>
                    <a:lstStyle/>
                    <a:p>
                      <a:pPr>
                        <a:buNone/>
                      </a:pPr>
                      <a:r>
                        <a:rPr lang="en-IN" dirty="0"/>
                        <a:t>It increases memory traffic and power consumption.</a:t>
                      </a:r>
                    </a:p>
                  </a:txBody>
                  <a:tcPr anchor="ctr"/>
                </a:tc>
                <a:extLst>
                  <a:ext uri="{0D108BD9-81ED-4DB2-BD59-A6C34878D82A}">
                    <a16:rowId xmlns:a16="http://schemas.microsoft.com/office/drawing/2014/main" val="527831069"/>
                  </a:ext>
                </a:extLst>
              </a:tr>
            </a:tbl>
          </a:graphicData>
        </a:graphic>
      </p:graphicFrame>
    </p:spTree>
    <p:extLst>
      <p:ext uri="{BB962C8B-B14F-4D97-AF65-F5344CB8AC3E}">
        <p14:creationId xmlns:p14="http://schemas.microsoft.com/office/powerpoint/2010/main" val="32164706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245998" y="256851"/>
            <a:ext cx="11260202" cy="5016758"/>
          </a:xfrm>
          <a:prstGeom prst="rect">
            <a:avLst/>
          </a:prstGeom>
        </p:spPr>
        <p:txBody>
          <a:bodyPr wrap="square">
            <a:spAutoFit/>
          </a:bodyPr>
          <a:lstStyle/>
          <a:p>
            <a:r>
              <a:rPr lang="en-IN" sz="2400" b="1" dirty="0">
                <a:solidFill>
                  <a:srgbClr val="FF0000"/>
                </a:solidFill>
              </a:rPr>
              <a:t>Write-back policy</a:t>
            </a:r>
          </a:p>
          <a:p>
            <a:pPr marL="342900" indent="-342900">
              <a:buFont typeface="Arial" panose="020B0604020202020204" pitchFamily="34" charset="0"/>
              <a:buChar char="•"/>
            </a:pPr>
            <a:r>
              <a:rPr lang="en-IN" sz="2000" dirty="0"/>
              <a:t>A Write-Back Policy is a cache memory writing technique in which the CPU updates only the cache memory initially. The updated data is written to main memory (RAM) later, when the modified cache block is replaced or explicitly flushed.</a:t>
            </a:r>
          </a:p>
          <a:p>
            <a:pPr marL="342900" indent="-342900">
              <a:buFont typeface="Arial" panose="020B0604020202020204" pitchFamily="34" charset="0"/>
              <a:buChar char="•"/>
            </a:pPr>
            <a:r>
              <a:rPr lang="en-IN" sz="2000" dirty="0"/>
              <a:t>In simple words, the CPU changes the data in the cache first, and RAM is updated later. This reduces the number of writes to main memory.</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A cache line that has been modified but not yet written back is marked using a dirty bit.</a:t>
            </a:r>
          </a:p>
          <a:p>
            <a:pPr lvl="0" algn="just">
              <a:buSzPts val="1000"/>
              <a:tabLst>
                <a:tab pos="457200" algn="l"/>
              </a:tabLst>
            </a:pPr>
            <a:endParaRPr lang="en-IN" dirty="0">
              <a:effectLst/>
              <a:latin typeface="Times New Roman" panose="02020603050405020304" pitchFamily="18" charset="0"/>
              <a:ea typeface="Times New Roman" panose="02020603050405020304" pitchFamily="18" charset="0"/>
            </a:endParaRPr>
          </a:p>
          <a:p>
            <a:r>
              <a:rPr lang="en-IN" sz="2000" b="1" dirty="0"/>
              <a:t>Working</a:t>
            </a:r>
          </a:p>
          <a:p>
            <a:pPr marL="457200" lvl="0" indent="-457200">
              <a:buFont typeface="+mj-lt"/>
              <a:buAutoNum type="arabicPeriod"/>
            </a:pPr>
            <a:r>
              <a:rPr lang="en-IN" sz="2000" dirty="0"/>
              <a:t>The CPU modifies data in the cache.</a:t>
            </a:r>
          </a:p>
          <a:p>
            <a:pPr marL="457200" lvl="0" indent="-457200">
              <a:buFont typeface="+mj-lt"/>
              <a:buAutoNum type="arabicPeriod"/>
            </a:pPr>
            <a:r>
              <a:rPr lang="en-IN" sz="2000" dirty="0"/>
              <a:t>The cache line is marked dirty.</a:t>
            </a:r>
          </a:p>
          <a:p>
            <a:pPr marL="457200" lvl="0" indent="-457200">
              <a:buFont typeface="+mj-lt"/>
              <a:buAutoNum type="arabicPeriod"/>
            </a:pPr>
            <a:r>
              <a:rPr lang="en-IN" sz="2000" dirty="0"/>
              <a:t>The next memory level may continue to contain the older value.</a:t>
            </a:r>
          </a:p>
          <a:p>
            <a:pPr marL="457200" lvl="0" indent="-457200">
              <a:buFont typeface="+mj-lt"/>
              <a:buAutoNum type="arabicPeriod"/>
            </a:pPr>
            <a:r>
              <a:rPr lang="en-IN" sz="2000" dirty="0"/>
              <a:t>When the dirty line is evicted or flushed, the modified data is written back.</a:t>
            </a:r>
          </a:p>
          <a:p>
            <a:pPr marL="457200" lvl="0" indent="-457200">
              <a:buFont typeface="+mj-lt"/>
              <a:buAutoNum type="arabicPeriod"/>
            </a:pPr>
            <a:r>
              <a:rPr lang="en-IN" sz="2000" dirty="0"/>
              <a:t>The dirty bit is cleared after the write-back completes successfully.</a:t>
            </a:r>
          </a:p>
          <a:p>
            <a:pPr lvl="0" algn="just">
              <a:buSzPts val="1000"/>
              <a:tabLst>
                <a:tab pos="457200" algn="l"/>
              </a:tabLst>
            </a:pP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798516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37E8F0-325F-645F-1C22-BCCD06A82A86}"/>
              </a:ext>
            </a:extLst>
          </p:cNvPr>
          <p:cNvPicPr>
            <a:picLocks noChangeAspect="1"/>
          </p:cNvPicPr>
          <p:nvPr/>
        </p:nvPicPr>
        <p:blipFill>
          <a:blip r:embed="rId2"/>
          <a:stretch>
            <a:fillRect/>
          </a:stretch>
        </p:blipFill>
        <p:spPr>
          <a:xfrm>
            <a:off x="2467896" y="1202701"/>
            <a:ext cx="6754413" cy="3884836"/>
          </a:xfrm>
          <a:prstGeom prst="rect">
            <a:avLst/>
          </a:prstGeom>
        </p:spPr>
      </p:pic>
      <p:sp>
        <p:nvSpPr>
          <p:cNvPr id="7" name="TextBox 6">
            <a:extLst>
              <a:ext uri="{FF2B5EF4-FFF2-40B4-BE49-F238E27FC236}">
                <a16:creationId xmlns:a16="http://schemas.microsoft.com/office/drawing/2014/main" id="{C8474573-1D5A-E551-3152-E2C1E9B3ED13}"/>
              </a:ext>
            </a:extLst>
          </p:cNvPr>
          <p:cNvSpPr txBox="1"/>
          <p:nvPr/>
        </p:nvSpPr>
        <p:spPr>
          <a:xfrm>
            <a:off x="796412" y="297114"/>
            <a:ext cx="6096000" cy="400110"/>
          </a:xfrm>
          <a:prstGeom prst="rect">
            <a:avLst/>
          </a:prstGeom>
          <a:noFill/>
        </p:spPr>
        <p:txBody>
          <a:bodyPr wrap="square">
            <a:spAutoFit/>
          </a:bodyPr>
          <a:lstStyle/>
          <a:p>
            <a:r>
              <a:rPr lang="en-IN" sz="2000" b="1" dirty="0"/>
              <a:t>Write-Back Policy</a:t>
            </a:r>
          </a:p>
        </p:txBody>
      </p:sp>
      <p:sp>
        <p:nvSpPr>
          <p:cNvPr id="9" name="TextBox 8">
            <a:extLst>
              <a:ext uri="{FF2B5EF4-FFF2-40B4-BE49-F238E27FC236}">
                <a16:creationId xmlns:a16="http://schemas.microsoft.com/office/drawing/2014/main" id="{C282967C-0005-3A06-87BB-1A454E3E35D0}"/>
              </a:ext>
            </a:extLst>
          </p:cNvPr>
          <p:cNvSpPr txBox="1"/>
          <p:nvPr/>
        </p:nvSpPr>
        <p:spPr>
          <a:xfrm>
            <a:off x="1071715" y="5593014"/>
            <a:ext cx="10255045" cy="646331"/>
          </a:xfrm>
          <a:prstGeom prst="rect">
            <a:avLst/>
          </a:prstGeom>
          <a:noFill/>
        </p:spPr>
        <p:txBody>
          <a:bodyPr wrap="square">
            <a:spAutoFit/>
          </a:bodyPr>
          <a:lstStyle/>
          <a:p>
            <a:r>
              <a:rPr lang="en-IN" b="1" dirty="0"/>
              <a:t>Dirty bit: </a:t>
            </a:r>
            <a:r>
              <a:rPr lang="en-IN" dirty="0"/>
              <a:t>A status bit that indicates whether a cache block has been modified and differs from the corresponding data in RAM.</a:t>
            </a:r>
          </a:p>
        </p:txBody>
      </p:sp>
    </p:spTree>
    <p:extLst>
      <p:ext uri="{BB962C8B-B14F-4D97-AF65-F5344CB8AC3E}">
        <p14:creationId xmlns:p14="http://schemas.microsoft.com/office/powerpoint/2010/main" val="153314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9D510D-4413-B901-5817-A55531606B14}"/>
              </a:ext>
            </a:extLst>
          </p:cNvPr>
          <p:cNvPicPr>
            <a:picLocks noChangeAspect="1"/>
          </p:cNvPicPr>
          <p:nvPr/>
        </p:nvPicPr>
        <p:blipFill>
          <a:blip r:embed="rId2"/>
          <a:stretch>
            <a:fillRect/>
          </a:stretch>
        </p:blipFill>
        <p:spPr>
          <a:xfrm>
            <a:off x="1917290" y="262668"/>
            <a:ext cx="7197213" cy="5681565"/>
          </a:xfrm>
          <a:prstGeom prst="rect">
            <a:avLst/>
          </a:prstGeom>
        </p:spPr>
      </p:pic>
      <p:sp>
        <p:nvSpPr>
          <p:cNvPr id="7" name="TextBox 6">
            <a:extLst>
              <a:ext uri="{FF2B5EF4-FFF2-40B4-BE49-F238E27FC236}">
                <a16:creationId xmlns:a16="http://schemas.microsoft.com/office/drawing/2014/main" id="{AAEB5C16-B511-967E-787E-CAC1DF9A7600}"/>
              </a:ext>
            </a:extLst>
          </p:cNvPr>
          <p:cNvSpPr txBox="1"/>
          <p:nvPr/>
        </p:nvSpPr>
        <p:spPr>
          <a:xfrm>
            <a:off x="157316" y="6052388"/>
            <a:ext cx="11685639" cy="369332"/>
          </a:xfrm>
          <a:prstGeom prst="rect">
            <a:avLst/>
          </a:prstGeom>
          <a:noFill/>
        </p:spPr>
        <p:txBody>
          <a:bodyPr wrap="square">
            <a:spAutoFit/>
          </a:bodyPr>
          <a:lstStyle/>
          <a:p>
            <a:r>
              <a:rPr lang="en-IN" b="1" dirty="0"/>
              <a:t>This process is called replacing a cache block. The modified data is written back to RAM before the old block is discarded.</a:t>
            </a:r>
          </a:p>
        </p:txBody>
      </p:sp>
    </p:spTree>
    <p:extLst>
      <p:ext uri="{BB962C8B-B14F-4D97-AF65-F5344CB8AC3E}">
        <p14:creationId xmlns:p14="http://schemas.microsoft.com/office/powerpoint/2010/main" val="2810975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E2FE98C-4B1D-58D3-1FD2-0C4B58AC4F83}"/>
              </a:ext>
            </a:extLst>
          </p:cNvPr>
          <p:cNvGraphicFramePr>
            <a:graphicFrameLocks noGrp="1"/>
          </p:cNvGraphicFramePr>
          <p:nvPr>
            <p:extLst>
              <p:ext uri="{D42A27DB-BD31-4B8C-83A1-F6EECF244321}">
                <p14:modId xmlns:p14="http://schemas.microsoft.com/office/powerpoint/2010/main" val="3330110390"/>
              </p:ext>
            </p:extLst>
          </p:nvPr>
        </p:nvGraphicFramePr>
        <p:xfrm>
          <a:off x="973392" y="1376025"/>
          <a:ext cx="10515600" cy="1463040"/>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981811151"/>
                    </a:ext>
                  </a:extLst>
                </a:gridCol>
                <a:gridCol w="3505200">
                  <a:extLst>
                    <a:ext uri="{9D8B030D-6E8A-4147-A177-3AD203B41FA5}">
                      <a16:colId xmlns:a16="http://schemas.microsoft.com/office/drawing/2014/main" val="879540376"/>
                    </a:ext>
                  </a:extLst>
                </a:gridCol>
                <a:gridCol w="3505200">
                  <a:extLst>
                    <a:ext uri="{9D8B030D-6E8A-4147-A177-3AD203B41FA5}">
                      <a16:colId xmlns:a16="http://schemas.microsoft.com/office/drawing/2014/main" val="2244026439"/>
                    </a:ext>
                  </a:extLst>
                </a:gridCol>
              </a:tblGrid>
              <a:tr h="0">
                <a:tc>
                  <a:txBody>
                    <a:bodyPr/>
                    <a:lstStyle/>
                    <a:p>
                      <a:pPr>
                        <a:buNone/>
                      </a:pPr>
                      <a:r>
                        <a:rPr lang="en-IN" dirty="0"/>
                        <a:t>Step</a:t>
                      </a:r>
                    </a:p>
                  </a:txBody>
                  <a:tcPr anchor="ctr"/>
                </a:tc>
                <a:tc>
                  <a:txBody>
                    <a:bodyPr/>
                    <a:lstStyle/>
                    <a:p>
                      <a:pPr>
                        <a:buNone/>
                      </a:pPr>
                      <a:r>
                        <a:rPr lang="en-IN"/>
                        <a:t>Cache Memory</a:t>
                      </a:r>
                    </a:p>
                  </a:txBody>
                  <a:tcPr anchor="ctr"/>
                </a:tc>
                <a:tc>
                  <a:txBody>
                    <a:bodyPr/>
                    <a:lstStyle/>
                    <a:p>
                      <a:pPr>
                        <a:buNone/>
                      </a:pPr>
                      <a:r>
                        <a:rPr lang="en-IN"/>
                        <a:t>Main Memory (RAM)</a:t>
                      </a:r>
                    </a:p>
                  </a:txBody>
                  <a:tcPr anchor="ctr"/>
                </a:tc>
                <a:extLst>
                  <a:ext uri="{0D108BD9-81ED-4DB2-BD59-A6C34878D82A}">
                    <a16:rowId xmlns:a16="http://schemas.microsoft.com/office/drawing/2014/main" val="2538652639"/>
                  </a:ext>
                </a:extLst>
              </a:tr>
              <a:tr h="0">
                <a:tc>
                  <a:txBody>
                    <a:bodyPr/>
                    <a:lstStyle/>
                    <a:p>
                      <a:pPr>
                        <a:buNone/>
                      </a:pPr>
                      <a:r>
                        <a:rPr lang="en-IN"/>
                        <a:t>Initial value</a:t>
                      </a:r>
                    </a:p>
                  </a:txBody>
                  <a:tcPr anchor="ctr"/>
                </a:tc>
                <a:tc>
                  <a:txBody>
                    <a:bodyPr/>
                    <a:lstStyle/>
                    <a:p>
                      <a:pPr>
                        <a:buNone/>
                      </a:pPr>
                      <a:r>
                        <a:rPr lang="en-IN" dirty="0"/>
                        <a:t>10</a:t>
                      </a:r>
                    </a:p>
                  </a:txBody>
                  <a:tcPr anchor="ctr"/>
                </a:tc>
                <a:tc>
                  <a:txBody>
                    <a:bodyPr/>
                    <a:lstStyle/>
                    <a:p>
                      <a:pPr>
                        <a:buNone/>
                      </a:pPr>
                      <a:r>
                        <a:rPr lang="en-IN"/>
                        <a:t>10</a:t>
                      </a:r>
                    </a:p>
                  </a:txBody>
                  <a:tcPr anchor="ctr"/>
                </a:tc>
                <a:extLst>
                  <a:ext uri="{0D108BD9-81ED-4DB2-BD59-A6C34878D82A}">
                    <a16:rowId xmlns:a16="http://schemas.microsoft.com/office/drawing/2014/main" val="330623445"/>
                  </a:ext>
                </a:extLst>
              </a:tr>
              <a:tr h="0">
                <a:tc>
                  <a:txBody>
                    <a:bodyPr/>
                    <a:lstStyle/>
                    <a:p>
                      <a:pPr>
                        <a:buNone/>
                      </a:pPr>
                      <a:r>
                        <a:rPr lang="en-IN"/>
                        <a:t>CPU writes 20</a:t>
                      </a:r>
                    </a:p>
                  </a:txBody>
                  <a:tcPr anchor="ctr"/>
                </a:tc>
                <a:tc>
                  <a:txBody>
                    <a:bodyPr/>
                    <a:lstStyle/>
                    <a:p>
                      <a:pPr>
                        <a:buNone/>
                      </a:pPr>
                      <a:r>
                        <a:rPr lang="en-IN"/>
                        <a:t>20</a:t>
                      </a:r>
                    </a:p>
                  </a:txBody>
                  <a:tcPr anchor="ctr"/>
                </a:tc>
                <a:tc>
                  <a:txBody>
                    <a:bodyPr/>
                    <a:lstStyle/>
                    <a:p>
                      <a:pPr>
                        <a:buNone/>
                      </a:pPr>
                      <a:r>
                        <a:rPr lang="en-IN"/>
                        <a:t>10</a:t>
                      </a:r>
                    </a:p>
                  </a:txBody>
                  <a:tcPr anchor="ctr"/>
                </a:tc>
                <a:extLst>
                  <a:ext uri="{0D108BD9-81ED-4DB2-BD59-A6C34878D82A}">
                    <a16:rowId xmlns:a16="http://schemas.microsoft.com/office/drawing/2014/main" val="2256624146"/>
                  </a:ext>
                </a:extLst>
              </a:tr>
              <a:tr h="0">
                <a:tc>
                  <a:txBody>
                    <a:bodyPr/>
                    <a:lstStyle/>
                    <a:p>
                      <a:pPr>
                        <a:buNone/>
                      </a:pPr>
                      <a:r>
                        <a:rPr lang="en-IN"/>
                        <a:t>Modified block is written back</a:t>
                      </a:r>
                    </a:p>
                  </a:txBody>
                  <a:tcPr anchor="ctr"/>
                </a:tc>
                <a:tc>
                  <a:txBody>
                    <a:bodyPr/>
                    <a:lstStyle/>
                    <a:p>
                      <a:pPr>
                        <a:buNone/>
                      </a:pPr>
                      <a:r>
                        <a:rPr lang="en-IN"/>
                        <a:t>20</a:t>
                      </a:r>
                    </a:p>
                  </a:txBody>
                  <a:tcPr anchor="ctr"/>
                </a:tc>
                <a:tc>
                  <a:txBody>
                    <a:bodyPr/>
                    <a:lstStyle/>
                    <a:p>
                      <a:pPr>
                        <a:buNone/>
                      </a:pPr>
                      <a:r>
                        <a:rPr lang="en-IN" dirty="0"/>
                        <a:t>20</a:t>
                      </a:r>
                    </a:p>
                  </a:txBody>
                  <a:tcPr anchor="ctr"/>
                </a:tc>
                <a:extLst>
                  <a:ext uri="{0D108BD9-81ED-4DB2-BD59-A6C34878D82A}">
                    <a16:rowId xmlns:a16="http://schemas.microsoft.com/office/drawing/2014/main" val="1747102068"/>
                  </a:ext>
                </a:extLst>
              </a:tr>
            </a:tbl>
          </a:graphicData>
        </a:graphic>
      </p:graphicFrame>
      <p:sp>
        <p:nvSpPr>
          <p:cNvPr id="4" name="TextBox 3">
            <a:extLst>
              <a:ext uri="{FF2B5EF4-FFF2-40B4-BE49-F238E27FC236}">
                <a16:creationId xmlns:a16="http://schemas.microsoft.com/office/drawing/2014/main" id="{F207F059-EE95-85B7-BA7B-7BB050BC5582}"/>
              </a:ext>
            </a:extLst>
          </p:cNvPr>
          <p:cNvSpPr txBox="1"/>
          <p:nvPr/>
        </p:nvSpPr>
        <p:spPr>
          <a:xfrm>
            <a:off x="838199" y="362549"/>
            <a:ext cx="10311581" cy="646331"/>
          </a:xfrm>
          <a:prstGeom prst="rect">
            <a:avLst/>
          </a:prstGeom>
          <a:noFill/>
        </p:spPr>
        <p:txBody>
          <a:bodyPr wrap="square">
            <a:spAutoFit/>
          </a:bodyPr>
          <a:lstStyle/>
          <a:p>
            <a:pPr>
              <a:buNone/>
            </a:pPr>
            <a:r>
              <a:rPr lang="en-IN" b="1" dirty="0"/>
              <a:t>Example</a:t>
            </a:r>
          </a:p>
          <a:p>
            <a:pPr>
              <a:buNone/>
            </a:pPr>
            <a:r>
              <a:rPr lang="en-IN" dirty="0"/>
              <a:t>Suppose variable </a:t>
            </a:r>
            <a:r>
              <a:rPr lang="en-IN" dirty="0">
                <a:latin typeface="+mn-lt"/>
              </a:rPr>
              <a:t>A</a:t>
            </a:r>
            <a:r>
              <a:rPr lang="en-IN" dirty="0"/>
              <a:t> initially contains 10 in both cache and RAM. The CPU changes its value to 20.</a:t>
            </a:r>
          </a:p>
        </p:txBody>
      </p:sp>
      <p:sp>
        <p:nvSpPr>
          <p:cNvPr id="6" name="TextBox 5">
            <a:extLst>
              <a:ext uri="{FF2B5EF4-FFF2-40B4-BE49-F238E27FC236}">
                <a16:creationId xmlns:a16="http://schemas.microsoft.com/office/drawing/2014/main" id="{D9AD99C7-8F58-CA69-3C06-8427DC881D9F}"/>
              </a:ext>
            </a:extLst>
          </p:cNvPr>
          <p:cNvSpPr txBox="1"/>
          <p:nvPr/>
        </p:nvSpPr>
        <p:spPr>
          <a:xfrm>
            <a:off x="736189" y="3059668"/>
            <a:ext cx="10515599" cy="369332"/>
          </a:xfrm>
          <a:prstGeom prst="rect">
            <a:avLst/>
          </a:prstGeom>
          <a:noFill/>
        </p:spPr>
        <p:txBody>
          <a:bodyPr wrap="square">
            <a:spAutoFit/>
          </a:bodyPr>
          <a:lstStyle/>
          <a:p>
            <a:pPr>
              <a:buNone/>
            </a:pPr>
            <a:r>
              <a:rPr lang="en-IN" sz="1800" dirty="0"/>
              <a:t>Result: The cache contains 20 immediately, while RAM still contains 10 until the modified block is written back.</a:t>
            </a:r>
          </a:p>
        </p:txBody>
      </p:sp>
      <p:graphicFrame>
        <p:nvGraphicFramePr>
          <p:cNvPr id="7" name="Table 6">
            <a:extLst>
              <a:ext uri="{FF2B5EF4-FFF2-40B4-BE49-F238E27FC236}">
                <a16:creationId xmlns:a16="http://schemas.microsoft.com/office/drawing/2014/main" id="{8E88B1D1-DA44-423D-BBFF-6F93103F6D4F}"/>
              </a:ext>
            </a:extLst>
          </p:cNvPr>
          <p:cNvGraphicFramePr>
            <a:graphicFrameLocks noGrp="1"/>
          </p:cNvGraphicFramePr>
          <p:nvPr>
            <p:extLst>
              <p:ext uri="{D42A27DB-BD31-4B8C-83A1-F6EECF244321}">
                <p14:modId xmlns:p14="http://schemas.microsoft.com/office/powerpoint/2010/main" val="2737823997"/>
              </p:ext>
            </p:extLst>
          </p:nvPr>
        </p:nvGraphicFramePr>
        <p:xfrm>
          <a:off x="973392" y="4155169"/>
          <a:ext cx="10515600" cy="17373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3301227561"/>
                    </a:ext>
                  </a:extLst>
                </a:gridCol>
                <a:gridCol w="5257800">
                  <a:extLst>
                    <a:ext uri="{9D8B030D-6E8A-4147-A177-3AD203B41FA5}">
                      <a16:colId xmlns:a16="http://schemas.microsoft.com/office/drawing/2014/main" val="2624291009"/>
                    </a:ext>
                  </a:extLst>
                </a:gridCol>
              </a:tblGrid>
              <a:tr h="0">
                <a:tc>
                  <a:txBody>
                    <a:bodyPr/>
                    <a:lstStyle/>
                    <a:p>
                      <a:pPr>
                        <a:buNone/>
                      </a:pPr>
                      <a:r>
                        <a:rPr lang="en-IN"/>
                        <a:t>Advantages</a:t>
                      </a:r>
                    </a:p>
                  </a:txBody>
                  <a:tcPr anchor="ctr"/>
                </a:tc>
                <a:tc>
                  <a:txBody>
                    <a:bodyPr/>
                    <a:lstStyle/>
                    <a:p>
                      <a:pPr>
                        <a:buNone/>
                      </a:pPr>
                      <a:r>
                        <a:rPr lang="en-IN"/>
                        <a:t>Disadvantages</a:t>
                      </a:r>
                    </a:p>
                  </a:txBody>
                  <a:tcPr anchor="ctr"/>
                </a:tc>
                <a:extLst>
                  <a:ext uri="{0D108BD9-81ED-4DB2-BD59-A6C34878D82A}">
                    <a16:rowId xmlns:a16="http://schemas.microsoft.com/office/drawing/2014/main" val="3404348690"/>
                  </a:ext>
                </a:extLst>
              </a:tr>
              <a:tr h="0">
                <a:tc>
                  <a:txBody>
                    <a:bodyPr/>
                    <a:lstStyle/>
                    <a:p>
                      <a:pPr>
                        <a:buNone/>
                      </a:pPr>
                      <a:r>
                        <a:rPr lang="en-IN"/>
                        <a:t>Faster write operations in many cases.</a:t>
                      </a:r>
                    </a:p>
                  </a:txBody>
                  <a:tcPr anchor="ctr"/>
                </a:tc>
                <a:tc>
                  <a:txBody>
                    <a:bodyPr/>
                    <a:lstStyle/>
                    <a:p>
                      <a:pPr>
                        <a:buNone/>
                      </a:pPr>
                      <a:r>
                        <a:rPr lang="en-IN"/>
                        <a:t>RAM may contain outdated data temporarily.</a:t>
                      </a:r>
                    </a:p>
                  </a:txBody>
                  <a:tcPr anchor="ctr"/>
                </a:tc>
                <a:extLst>
                  <a:ext uri="{0D108BD9-81ED-4DB2-BD59-A6C34878D82A}">
                    <a16:rowId xmlns:a16="http://schemas.microsoft.com/office/drawing/2014/main" val="1719731034"/>
                  </a:ext>
                </a:extLst>
              </a:tr>
              <a:tr h="0">
                <a:tc>
                  <a:txBody>
                    <a:bodyPr/>
                    <a:lstStyle/>
                    <a:p>
                      <a:pPr>
                        <a:buNone/>
                      </a:pPr>
                      <a:r>
                        <a:rPr lang="en-IN"/>
                        <a:t>Reduces memory traffic.</a:t>
                      </a:r>
                    </a:p>
                  </a:txBody>
                  <a:tcPr anchor="ctr"/>
                </a:tc>
                <a:tc>
                  <a:txBody>
                    <a:bodyPr/>
                    <a:lstStyle/>
                    <a:p>
                      <a:pPr>
                        <a:buNone/>
                      </a:pPr>
                      <a:r>
                        <a:rPr lang="en-IN"/>
                        <a:t>Requires a dirty bit to track modifications.</a:t>
                      </a:r>
                    </a:p>
                  </a:txBody>
                  <a:tcPr anchor="ctr"/>
                </a:tc>
                <a:extLst>
                  <a:ext uri="{0D108BD9-81ED-4DB2-BD59-A6C34878D82A}">
                    <a16:rowId xmlns:a16="http://schemas.microsoft.com/office/drawing/2014/main" val="2472928064"/>
                  </a:ext>
                </a:extLst>
              </a:tr>
              <a:tr h="0">
                <a:tc>
                  <a:txBody>
                    <a:bodyPr/>
                    <a:lstStyle/>
                    <a:p>
                      <a:pPr>
                        <a:buNone/>
                      </a:pPr>
                      <a:r>
                        <a:rPr lang="en-IN"/>
                        <a:t>Can reduce power consumption.</a:t>
                      </a:r>
                    </a:p>
                  </a:txBody>
                  <a:tcPr anchor="ctr"/>
                </a:tc>
                <a:tc>
                  <a:txBody>
                    <a:bodyPr/>
                    <a:lstStyle/>
                    <a:p>
                      <a:pPr>
                        <a:buNone/>
                      </a:pPr>
                      <a:r>
                        <a:rPr lang="en-IN" dirty="0"/>
                        <a:t>Modified data must be written back before a dirty block is discarded.</a:t>
                      </a:r>
                    </a:p>
                  </a:txBody>
                  <a:tcPr anchor="ctr"/>
                </a:tc>
                <a:extLst>
                  <a:ext uri="{0D108BD9-81ED-4DB2-BD59-A6C34878D82A}">
                    <a16:rowId xmlns:a16="http://schemas.microsoft.com/office/drawing/2014/main" val="3082630985"/>
                  </a:ext>
                </a:extLst>
              </a:tr>
            </a:tbl>
          </a:graphicData>
        </a:graphic>
      </p:graphicFrame>
      <p:sp>
        <p:nvSpPr>
          <p:cNvPr id="9" name="TextBox 8">
            <a:extLst>
              <a:ext uri="{FF2B5EF4-FFF2-40B4-BE49-F238E27FC236}">
                <a16:creationId xmlns:a16="http://schemas.microsoft.com/office/drawing/2014/main" id="{BD6371D9-4F9B-DF9B-642F-B5B618BABE7C}"/>
              </a:ext>
            </a:extLst>
          </p:cNvPr>
          <p:cNvSpPr txBox="1"/>
          <p:nvPr/>
        </p:nvSpPr>
        <p:spPr>
          <a:xfrm>
            <a:off x="973392" y="3785837"/>
            <a:ext cx="6096000" cy="369332"/>
          </a:xfrm>
          <a:prstGeom prst="rect">
            <a:avLst/>
          </a:prstGeom>
          <a:noFill/>
        </p:spPr>
        <p:txBody>
          <a:bodyPr wrap="square">
            <a:spAutoFit/>
          </a:bodyPr>
          <a:lstStyle/>
          <a:p>
            <a:pPr>
              <a:buNone/>
            </a:pPr>
            <a:r>
              <a:rPr lang="en-IN" b="1" dirty="0"/>
              <a:t>Advantages and Disadvantages</a:t>
            </a:r>
          </a:p>
        </p:txBody>
      </p:sp>
    </p:spTree>
    <p:extLst>
      <p:ext uri="{BB962C8B-B14F-4D97-AF65-F5344CB8AC3E}">
        <p14:creationId xmlns:p14="http://schemas.microsoft.com/office/powerpoint/2010/main" val="2864209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502920" y="579804"/>
            <a:ext cx="12185156" cy="4154984"/>
          </a:xfrm>
          <a:prstGeom prst="rect">
            <a:avLst/>
          </a:prstGeom>
        </p:spPr>
        <p:txBody>
          <a:bodyPr wrap="square">
            <a:spAutoFit/>
          </a:bodyPr>
          <a:lstStyle/>
          <a:p>
            <a:pPr algn="just"/>
            <a:r>
              <a:rPr lang="en-IN" sz="2400" b="1" dirty="0">
                <a:latin typeface="Times New Roman" panose="02020603050405020304" pitchFamily="18" charset="0"/>
                <a:ea typeface="Times New Roman" panose="02020603050405020304" pitchFamily="18" charset="0"/>
              </a:rPr>
              <a:t>Advantages</a:t>
            </a:r>
          </a:p>
          <a:p>
            <a:pPr marL="342900" lvl="0" indent="-342900" algn="jus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Reduces repeated writes to lower memory levels.</a:t>
            </a:r>
            <a:endParaRPr lang="en-IN" sz="2000" dirty="0">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Reduces memory-bus traffic for repeated updates to the same cache line.</a:t>
            </a:r>
            <a:endParaRPr lang="en-IN" sz="2000" dirty="0">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Can improve performance for write-intensive workloads.</a:t>
            </a:r>
            <a:endParaRPr lang="en-IN" sz="2000" dirty="0">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Often uses memory bandwidth more efficiently.</a:t>
            </a:r>
            <a:endParaRPr lang="en-IN" sz="2000" dirty="0">
              <a:latin typeface="Times New Roman" panose="02020603050405020304" pitchFamily="18" charset="0"/>
              <a:ea typeface="Times New Roman" panose="02020603050405020304" pitchFamily="18" charset="0"/>
            </a:endParaRPr>
          </a:p>
          <a:p>
            <a:pPr algn="just"/>
            <a:r>
              <a:rPr lang="en-IN" sz="2400" b="1" dirty="0">
                <a:latin typeface="Times New Roman" panose="02020603050405020304" pitchFamily="18" charset="0"/>
                <a:ea typeface="Times New Roman" panose="02020603050405020304" pitchFamily="18" charset="0"/>
              </a:rPr>
              <a:t>Disadvantages</a:t>
            </a:r>
          </a:p>
          <a:p>
            <a:pPr marL="342900" lvl="0" indent="-342900" algn="jus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Requires dirty-bit tracking.</a:t>
            </a:r>
            <a:endParaRPr lang="en-IN" sz="2000" dirty="0">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Evicting a dirty line requires a write-back operation.</a:t>
            </a:r>
            <a:endParaRPr lang="en-IN" sz="2000" dirty="0">
              <a:latin typeface="Times New Roman" panose="02020603050405020304" pitchFamily="18" charset="0"/>
              <a:ea typeface="Times New Roman" panose="02020603050405020304" pitchFamily="18" charset="0"/>
            </a:endParaRPr>
          </a:p>
          <a:p>
            <a:pPr marL="342900" lvl="0" indent="-342900" algn="just">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Cache-coherence and consistency mechanisms become more involved.</a:t>
            </a:r>
            <a:endParaRPr lang="en-IN" sz="2000"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IN" sz="2400" dirty="0">
                <a:latin typeface="Calibri" panose="020F0502020204030204" pitchFamily="34" charset="0"/>
                <a:ea typeface="Calibri" panose="020F0502020204030204" pitchFamily="34" charset="0"/>
                <a:cs typeface="Times New Roman" panose="02020603050405020304" pitchFamily="18" charset="0"/>
              </a:rPr>
              <a:t>A dirty cache line must be preserved or written back correctly during eviction and system transitions</a:t>
            </a:r>
            <a:endParaRPr lang="en-IN" sz="2400" dirty="0"/>
          </a:p>
        </p:txBody>
      </p:sp>
    </p:spTree>
    <p:extLst>
      <p:ext uri="{BB962C8B-B14F-4D97-AF65-F5344CB8AC3E}">
        <p14:creationId xmlns:p14="http://schemas.microsoft.com/office/powerpoint/2010/main" val="25553125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graphicFrame>
        <p:nvGraphicFramePr>
          <p:cNvPr id="2" name="Table 1"/>
          <p:cNvGraphicFramePr>
            <a:graphicFrameLocks noGrp="1"/>
          </p:cNvGraphicFramePr>
          <p:nvPr>
            <p:extLst>
              <p:ext uri="{D42A27DB-BD31-4B8C-83A1-F6EECF244321}">
                <p14:modId xmlns:p14="http://schemas.microsoft.com/office/powerpoint/2010/main" val="3800905813"/>
              </p:ext>
            </p:extLst>
          </p:nvPr>
        </p:nvGraphicFramePr>
        <p:xfrm>
          <a:off x="502920" y="449582"/>
          <a:ext cx="11013441" cy="5496574"/>
        </p:xfrm>
        <a:graphic>
          <a:graphicData uri="http://schemas.openxmlformats.org/drawingml/2006/table">
            <a:tbl>
              <a:tblPr firstRow="1" firstCol="1" bandRow="1">
                <a:tableStyleId>{5C22544A-7EE6-4342-B048-85BDC9FD1C3A}</a:tableStyleId>
              </a:tblPr>
              <a:tblGrid>
                <a:gridCol w="3671147">
                  <a:extLst>
                    <a:ext uri="{9D8B030D-6E8A-4147-A177-3AD203B41FA5}">
                      <a16:colId xmlns:a16="http://schemas.microsoft.com/office/drawing/2014/main" val="719103034"/>
                    </a:ext>
                  </a:extLst>
                </a:gridCol>
                <a:gridCol w="3671147">
                  <a:extLst>
                    <a:ext uri="{9D8B030D-6E8A-4147-A177-3AD203B41FA5}">
                      <a16:colId xmlns:a16="http://schemas.microsoft.com/office/drawing/2014/main" val="2767194262"/>
                    </a:ext>
                  </a:extLst>
                </a:gridCol>
                <a:gridCol w="3671147">
                  <a:extLst>
                    <a:ext uri="{9D8B030D-6E8A-4147-A177-3AD203B41FA5}">
                      <a16:colId xmlns:a16="http://schemas.microsoft.com/office/drawing/2014/main" val="199548788"/>
                    </a:ext>
                  </a:extLst>
                </a:gridCol>
              </a:tblGrid>
              <a:tr h="366375">
                <a:tc>
                  <a:txBody>
                    <a:bodyPr/>
                    <a:lstStyle/>
                    <a:p>
                      <a:pPr algn="just">
                        <a:lnSpc>
                          <a:spcPct val="107000"/>
                        </a:lnSpc>
                      </a:pPr>
                      <a:r>
                        <a:rPr lang="en-IN" sz="2400">
                          <a:effectLst/>
                        </a:rPr>
                        <a:t>Feature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Write-through</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Write-back</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14958346"/>
                  </a:ext>
                </a:extLst>
              </a:tr>
              <a:tr h="366375">
                <a:tc>
                  <a:txBody>
                    <a:bodyPr/>
                    <a:lstStyle/>
                    <a:p>
                      <a:pPr algn="just">
                        <a:lnSpc>
                          <a:spcPct val="107000"/>
                        </a:lnSpc>
                      </a:pPr>
                      <a:r>
                        <a:rPr lang="en-IN" sz="2400">
                          <a:effectLst/>
                        </a:rPr>
                        <a:t>Cache update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Immediate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dirty="0">
                          <a:effectLst/>
                        </a:rPr>
                        <a:t>Immediate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57968401"/>
                  </a:ext>
                </a:extLst>
              </a:tr>
              <a:tr h="732928">
                <a:tc>
                  <a:txBody>
                    <a:bodyPr/>
                    <a:lstStyle/>
                    <a:p>
                      <a:pPr algn="just">
                        <a:lnSpc>
                          <a:spcPct val="107000"/>
                        </a:lnSpc>
                      </a:pPr>
                      <a:r>
                        <a:rPr lang="en-IN" sz="2400">
                          <a:effectLst/>
                        </a:rPr>
                        <a:t>Next memory-level update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dirty="0">
                          <a:effectLst/>
                        </a:rPr>
                        <a:t>Propagated on each write under the basic model</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Usually delayed until eviction or flush</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14991555"/>
                  </a:ext>
                </a:extLst>
              </a:tr>
              <a:tr h="732928">
                <a:tc>
                  <a:txBody>
                    <a:bodyPr/>
                    <a:lstStyle/>
                    <a:p>
                      <a:pPr algn="just">
                        <a:lnSpc>
                          <a:spcPct val="107000"/>
                        </a:lnSpc>
                      </a:pPr>
                      <a:r>
                        <a:rPr lang="en-IN" sz="2400">
                          <a:effectLst/>
                        </a:rPr>
                        <a:t>Dirty bit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dirty="0">
                          <a:effectLst/>
                        </a:rPr>
                        <a:t>Generally not needed for tracking delayed writes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Needed to identify modified lines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89311919"/>
                  </a:ext>
                </a:extLst>
              </a:tr>
              <a:tr h="410539">
                <a:tc>
                  <a:txBody>
                    <a:bodyPr/>
                    <a:lstStyle/>
                    <a:p>
                      <a:pPr algn="just">
                        <a:lnSpc>
                          <a:spcPct val="107000"/>
                        </a:lnSpc>
                      </a:pPr>
                      <a:r>
                        <a:rPr lang="en-IN" sz="2400">
                          <a:effectLst/>
                        </a:rPr>
                        <a:t>Write traffic</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Usually higher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Usually lower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02787181"/>
                  </a:ext>
                </a:extLst>
              </a:tr>
              <a:tr h="732928">
                <a:tc>
                  <a:txBody>
                    <a:bodyPr/>
                    <a:lstStyle/>
                    <a:p>
                      <a:pPr algn="just">
                        <a:lnSpc>
                          <a:spcPct val="107000"/>
                        </a:lnSpc>
                      </a:pPr>
                      <a:r>
                        <a:rPr lang="en-IN" sz="2400" dirty="0">
                          <a:effectLst/>
                        </a:rPr>
                        <a:t>Write performance</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Can be slower without buffering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Often faster for repeated writes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04304724"/>
                  </a:ext>
                </a:extLst>
              </a:tr>
              <a:tr h="366375">
                <a:tc>
                  <a:txBody>
                    <a:bodyPr/>
                    <a:lstStyle/>
                    <a:p>
                      <a:pPr algn="just">
                        <a:lnSpc>
                          <a:spcPct val="107000"/>
                        </a:lnSpc>
                      </a:pPr>
                      <a:r>
                        <a:rPr lang="en-IN" sz="2400">
                          <a:effectLst/>
                        </a:rPr>
                        <a:t>Complexity</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dirty="0">
                          <a:effectLst/>
                        </a:rPr>
                        <a:t>Simpler dirty-data handling</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More complex management</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73424437"/>
                  </a:ext>
                </a:extLst>
              </a:tr>
              <a:tr h="732928">
                <a:tc>
                  <a:txBody>
                    <a:bodyPr/>
                    <a:lstStyle/>
                    <a:p>
                      <a:pPr algn="just">
                        <a:lnSpc>
                          <a:spcPct val="107000"/>
                        </a:lnSpc>
                      </a:pPr>
                      <a:r>
                        <a:rPr lang="en-IN" sz="2400">
                          <a:effectLst/>
                        </a:rPr>
                        <a:t>Main advantage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Prompt propagation of writes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Reduced lower-level write traffic</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40293267"/>
                  </a:ext>
                </a:extLst>
              </a:tr>
              <a:tr h="732928">
                <a:tc>
                  <a:txBody>
                    <a:bodyPr/>
                    <a:lstStyle/>
                    <a:p>
                      <a:pPr algn="just">
                        <a:lnSpc>
                          <a:spcPct val="107000"/>
                        </a:lnSpc>
                      </a:pPr>
                      <a:r>
                        <a:rPr lang="en-IN" sz="2400">
                          <a:effectLst/>
                        </a:rPr>
                        <a:t>Main disadvantage</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a:effectLst/>
                        </a:rPr>
                        <a:t>More write traffic</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7000"/>
                        </a:lnSpc>
                      </a:pPr>
                      <a:r>
                        <a:rPr lang="en-IN" sz="2400" dirty="0">
                          <a:effectLst/>
                        </a:rPr>
                        <a:t>Dirty data must be tracked and preserved</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63047605"/>
                  </a:ext>
                </a:extLst>
              </a:tr>
            </a:tbl>
          </a:graphicData>
        </a:graphic>
      </p:graphicFrame>
    </p:spTree>
    <p:extLst>
      <p:ext uri="{BB962C8B-B14F-4D97-AF65-F5344CB8AC3E}">
        <p14:creationId xmlns:p14="http://schemas.microsoft.com/office/powerpoint/2010/main" val="19364463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262962" y="723900"/>
            <a:ext cx="11509938" cy="4924425"/>
          </a:xfrm>
          <a:prstGeom prst="rect">
            <a:avLst/>
          </a:prstGeom>
        </p:spPr>
        <p:txBody>
          <a:bodyPr wrap="square">
            <a:spAutoFit/>
          </a:bodyPr>
          <a:lstStyle/>
          <a:p>
            <a:pPr algn="just"/>
            <a:r>
              <a:rPr lang="en-IN" sz="2000" b="1" dirty="0">
                <a:solidFill>
                  <a:srgbClr val="FF0000"/>
                </a:solidFill>
                <a:latin typeface="Times New Roman" panose="02020603050405020304" pitchFamily="18" charset="0"/>
                <a:ea typeface="Times New Roman" panose="02020603050405020304" pitchFamily="18" charset="0"/>
              </a:rPr>
              <a:t>Cache Performance</a:t>
            </a:r>
          </a:p>
          <a:p>
            <a:pPr algn="just"/>
            <a:r>
              <a:rPr lang="en-IN" sz="2000" dirty="0"/>
              <a:t>A cache memory is built using two main component arrays: the tag array and the data array.</a:t>
            </a:r>
          </a:p>
          <a:p>
            <a:pPr algn="just"/>
            <a:endParaRPr lang="en-IN" dirty="0">
              <a:effectLst/>
              <a:latin typeface="Times New Roman" panose="02020603050405020304" pitchFamily="18" charset="0"/>
              <a:ea typeface="Times New Roman" panose="02020603050405020304" pitchFamily="18" charset="0"/>
            </a:endParaRPr>
          </a:p>
          <a:p>
            <a:r>
              <a:rPr lang="en-IN" sz="2000" b="1" dirty="0">
                <a:solidFill>
                  <a:srgbClr val="FF0000"/>
                </a:solidFill>
              </a:rPr>
              <a:t>Tag array</a:t>
            </a:r>
          </a:p>
          <a:p>
            <a:r>
              <a:rPr lang="en-IN" sz="2000" dirty="0"/>
              <a:t>The tag array stores the identifying information for the memory block present in each cache line.</a:t>
            </a:r>
          </a:p>
          <a:p>
            <a:r>
              <a:rPr lang="en-IN" sz="2000" dirty="0"/>
              <a:t>It commonly contains:</a:t>
            </a:r>
          </a:p>
          <a:p>
            <a:pPr lvl="0"/>
            <a:r>
              <a:rPr lang="en-IN" sz="2000" b="1" dirty="0"/>
              <a:t>Tag bits:</a:t>
            </a:r>
            <a:r>
              <a:rPr lang="en-IN" sz="2000" dirty="0"/>
              <a:t> Identify which main-memory block is stored.</a:t>
            </a:r>
          </a:p>
          <a:p>
            <a:pPr lvl="0"/>
            <a:r>
              <a:rPr lang="en-IN" sz="2000" b="1" dirty="0"/>
              <a:t>Valid bit:</a:t>
            </a:r>
            <a:r>
              <a:rPr lang="en-IN" sz="2000" dirty="0"/>
              <a:t> Indicates whether the cache line contains valid data.</a:t>
            </a:r>
          </a:p>
          <a:p>
            <a:pPr lvl="0"/>
            <a:r>
              <a:rPr lang="en-IN" sz="2000" b="1" dirty="0"/>
              <a:t>Dirty bit:</a:t>
            </a:r>
            <a:r>
              <a:rPr lang="en-IN" sz="2000" dirty="0"/>
              <a:t> Indicates whether the cache line has been modified, in a write-back cache.</a:t>
            </a:r>
          </a:p>
          <a:p>
            <a:pPr lvl="0"/>
            <a:r>
              <a:rPr lang="en-IN" sz="2000" b="1" dirty="0"/>
              <a:t>Replacement information:</a:t>
            </a:r>
            <a:r>
              <a:rPr lang="en-IN" sz="2000" dirty="0"/>
              <a:t> May be maintained to help select a line for replacement.</a:t>
            </a:r>
          </a:p>
          <a:p>
            <a:pPr algn="just"/>
            <a:endParaRPr lang="en-IN" dirty="0">
              <a:effectLst/>
              <a:latin typeface="Times New Roman" panose="02020603050405020304" pitchFamily="18" charset="0"/>
              <a:ea typeface="Times New Roman" panose="02020603050405020304" pitchFamily="18" charset="0"/>
            </a:endParaRPr>
          </a:p>
          <a:p>
            <a:pPr algn="just"/>
            <a:endParaRPr lang="en-IN" dirty="0">
              <a:latin typeface="Times New Roman" panose="02020603050405020304" pitchFamily="18" charset="0"/>
              <a:ea typeface="Times New Roman" panose="02020603050405020304" pitchFamily="18" charset="0"/>
            </a:endParaRPr>
          </a:p>
          <a:p>
            <a:r>
              <a:rPr lang="en-IN" sz="2000" b="1" dirty="0">
                <a:solidFill>
                  <a:srgbClr val="FF0000"/>
                </a:solidFill>
              </a:rPr>
              <a:t>Data array</a:t>
            </a:r>
            <a:endParaRPr lang="en-IN" sz="2000" dirty="0">
              <a:solidFill>
                <a:srgbClr val="FF0000"/>
              </a:solidFill>
            </a:endParaRPr>
          </a:p>
          <a:p>
            <a:r>
              <a:rPr lang="en-IN" sz="2000" dirty="0"/>
              <a:t>The data array stores the actual instructions or data fetched from main memory. Each cache line contains a block of data.</a:t>
            </a:r>
          </a:p>
          <a:p>
            <a:pPr algn="just"/>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631761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254000" y="256739"/>
            <a:ext cx="10861040" cy="5170646"/>
          </a:xfrm>
          <a:prstGeom prst="rect">
            <a:avLst/>
          </a:prstGeom>
        </p:spPr>
        <p:txBody>
          <a:bodyPr wrap="square">
            <a:spAutoFit/>
          </a:bodyPr>
          <a:lstStyle/>
          <a:p>
            <a:pPr marL="342900" indent="-342900">
              <a:buFont typeface="+mj-lt"/>
              <a:buAutoNum type="arabicPeriod"/>
            </a:pPr>
            <a:r>
              <a:rPr lang="en-IN" sz="2400" b="1" dirty="0"/>
              <a:t>Tag Array</a:t>
            </a:r>
          </a:p>
          <a:p>
            <a:pPr marL="342900" indent="-342900">
              <a:buFont typeface="Arial" panose="020B0604020202020204" pitchFamily="34" charset="0"/>
              <a:buChar char="•"/>
            </a:pPr>
            <a:r>
              <a:rPr lang="en-IN" sz="2400" dirty="0"/>
              <a:t>The tag array stores the tag bits associated with each cache line.</a:t>
            </a:r>
          </a:p>
          <a:p>
            <a:pPr marL="342900" indent="-342900">
              <a:buFont typeface="Arial" panose="020B0604020202020204" pitchFamily="34" charset="0"/>
              <a:buChar char="•"/>
            </a:pPr>
            <a:r>
              <a:rPr lang="en-IN" sz="2400" dirty="0"/>
              <a:t>It helps identify which block of main memory is stored in a particular cache line.</a:t>
            </a:r>
          </a:p>
          <a:p>
            <a:pPr marL="342900" indent="-342900">
              <a:buFont typeface="Arial" panose="020B0604020202020204" pitchFamily="34" charset="0"/>
              <a:buChar char="•"/>
            </a:pPr>
            <a:r>
              <a:rPr lang="en-IN" sz="2400" dirty="0"/>
              <a:t>It also stores status information, such as a valid bit and sometimes a dirty bit.</a:t>
            </a:r>
          </a:p>
          <a:p>
            <a:pPr marL="342900" indent="-342900">
              <a:buFont typeface="Arial" panose="020B0604020202020204" pitchFamily="34" charset="0"/>
              <a:buChar char="•"/>
            </a:pPr>
            <a:r>
              <a:rPr lang="en-IN" sz="2400" dirty="0"/>
              <a:t>The CPU compares the requested address tag with the stored tag to determine a cache hit or miss.</a:t>
            </a:r>
          </a:p>
          <a:p>
            <a:pPr marL="285750" indent="-285750">
              <a:buFontTx/>
              <a:buChar char="-"/>
            </a:pPr>
            <a:endParaRPr lang="en-IN" sz="2400" dirty="0"/>
          </a:p>
          <a:p>
            <a:r>
              <a:rPr lang="en-US" sz="2400" b="1" dirty="0"/>
              <a:t>2. Data Array</a:t>
            </a:r>
          </a:p>
          <a:p>
            <a:pPr marL="342900" indent="-342900">
              <a:buFont typeface="Arial" panose="020B0604020202020204" pitchFamily="34" charset="0"/>
              <a:buChar char="•"/>
            </a:pPr>
            <a:r>
              <a:rPr lang="en-US" sz="2400" dirty="0"/>
              <a:t>The data array stores the actual instructions or data copied from main memory.</a:t>
            </a:r>
          </a:p>
          <a:p>
            <a:pPr marL="342900" indent="-342900">
              <a:buFont typeface="Arial" panose="020B0604020202020204" pitchFamily="34" charset="0"/>
              <a:buChar char="•"/>
            </a:pPr>
            <a:r>
              <a:rPr lang="en-US" sz="2400" dirty="0"/>
              <a:t>Each cache line contains a block of data.</a:t>
            </a:r>
          </a:p>
          <a:p>
            <a:pPr marL="342900" indent="-342900">
              <a:buFont typeface="Arial" panose="020B0604020202020204" pitchFamily="34" charset="0"/>
              <a:buChar char="•"/>
            </a:pPr>
            <a:r>
              <a:rPr lang="en-US" sz="2400" dirty="0"/>
              <a:t>When a cache hit occurs, the required data is read from the data array.</a:t>
            </a:r>
          </a:p>
          <a:p>
            <a:pPr marL="342900" indent="-342900">
              <a:buFont typeface="Arial" panose="020B0604020202020204" pitchFamily="34" charset="0"/>
              <a:buChar char="•"/>
            </a:pPr>
            <a:r>
              <a:rPr lang="en-US" sz="2400" dirty="0"/>
              <a:t>When a cache miss occurs, the required block is generally fetched from a lower level of memory and placed in the cache.</a:t>
            </a:r>
          </a:p>
          <a:p>
            <a:pPr marL="285750" indent="-285750">
              <a:buFontTx/>
              <a:buChar char="-"/>
            </a:pPr>
            <a:endParaRPr lang="en-IN" dirty="0"/>
          </a:p>
        </p:txBody>
      </p:sp>
    </p:spTree>
    <p:extLst>
      <p:ext uri="{BB962C8B-B14F-4D97-AF65-F5344CB8AC3E}">
        <p14:creationId xmlns:p14="http://schemas.microsoft.com/office/powerpoint/2010/main" val="32611646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graphicFrame>
        <p:nvGraphicFramePr>
          <p:cNvPr id="2" name="Table 1"/>
          <p:cNvGraphicFramePr>
            <a:graphicFrameLocks noGrp="1"/>
          </p:cNvGraphicFramePr>
          <p:nvPr/>
        </p:nvGraphicFramePr>
        <p:xfrm>
          <a:off x="670560" y="1987355"/>
          <a:ext cx="10495280" cy="2651760"/>
        </p:xfrm>
        <a:graphic>
          <a:graphicData uri="http://schemas.openxmlformats.org/drawingml/2006/table">
            <a:tbl>
              <a:tblPr/>
              <a:tblGrid>
                <a:gridCol w="5247640">
                  <a:extLst>
                    <a:ext uri="{9D8B030D-6E8A-4147-A177-3AD203B41FA5}">
                      <a16:colId xmlns:a16="http://schemas.microsoft.com/office/drawing/2014/main" val="1593153154"/>
                    </a:ext>
                  </a:extLst>
                </a:gridCol>
                <a:gridCol w="5247640">
                  <a:extLst>
                    <a:ext uri="{9D8B030D-6E8A-4147-A177-3AD203B41FA5}">
                      <a16:colId xmlns:a16="http://schemas.microsoft.com/office/drawing/2014/main" val="3033010760"/>
                    </a:ext>
                  </a:extLst>
                </a:gridCol>
              </a:tblGrid>
              <a:tr h="0">
                <a:tc>
                  <a:txBody>
                    <a:bodyPr/>
                    <a:lstStyle/>
                    <a:p>
                      <a:r>
                        <a:rPr lang="en-IN" sz="2400" b="1" dirty="0"/>
                        <a:t>Tag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dirty="0"/>
                        <a:t>Data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6002741"/>
                  </a:ext>
                </a:extLst>
              </a:tr>
              <a:tr h="0">
                <a:tc>
                  <a:txBody>
                    <a:bodyPr/>
                    <a:lstStyle/>
                    <a:p>
                      <a:r>
                        <a:rPr lang="en-US" sz="2400" dirty="0"/>
                        <a:t>Stores tag bits and associated status bits.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Stores actual data or instructions.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0440236"/>
                  </a:ext>
                </a:extLst>
              </a:tr>
              <a:tr h="0">
                <a:tc>
                  <a:txBody>
                    <a:bodyPr/>
                    <a:lstStyle/>
                    <a:p>
                      <a:r>
                        <a:rPr lang="en-US" sz="2400" dirty="0"/>
                        <a:t>Identifies the memory block in a cache 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Holds the contents of the memory block.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0195005"/>
                  </a:ext>
                </a:extLst>
              </a:tr>
              <a:tr h="0">
                <a:tc>
                  <a:txBody>
                    <a:bodyPr/>
                    <a:lstStyle/>
                    <a:p>
                      <a:r>
                        <a:rPr lang="en-US" sz="2400"/>
                        <a:t>Used to check cache hits and misses.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Supplies the requested data on a hit.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9805211"/>
                  </a:ext>
                </a:extLst>
              </a:tr>
              <a:tr h="0">
                <a:tc>
                  <a:txBody>
                    <a:bodyPr/>
                    <a:lstStyle/>
                    <a:p>
                      <a:r>
                        <a:rPr lang="en-IN" sz="2400"/>
                        <a:t>Requires relatively little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Usually requires much more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0560272"/>
                  </a:ext>
                </a:extLst>
              </a:tr>
            </a:tbl>
          </a:graphicData>
        </a:graphic>
      </p:graphicFrame>
    </p:spTree>
    <p:extLst>
      <p:ext uri="{BB962C8B-B14F-4D97-AF65-F5344CB8AC3E}">
        <p14:creationId xmlns:p14="http://schemas.microsoft.com/office/powerpoint/2010/main" val="40507460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144862" y="762000"/>
            <a:ext cx="10980338" cy="5552354"/>
          </a:xfrm>
          <a:prstGeom prst="rect">
            <a:avLst/>
          </a:prstGeom>
        </p:spPr>
        <p:txBody>
          <a:bodyPr wrap="square">
            <a:spAutoFit/>
          </a:bodyPr>
          <a:lstStyle/>
          <a:p>
            <a:pPr algn="just">
              <a:lnSpc>
                <a:spcPct val="107000"/>
              </a:lnSpc>
              <a:spcBef>
                <a:spcPts val="1800"/>
              </a:spcBef>
              <a:spcAft>
                <a:spcPts val="0"/>
              </a:spcAft>
            </a:pPr>
            <a:r>
              <a:rPr lang="en-IN" sz="20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Types of Cache Misses</a:t>
            </a:r>
            <a:endParaRPr lang="en-IN" sz="2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1. Compulsory Miss (Cold-start miss)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Occurs when a block is accessed for the first time and has never been loaded into the cache.</a:t>
            </a:r>
          </a:p>
          <a:p>
            <a:r>
              <a:rPr lang="en-IN" sz="2000" i="1" dirty="0">
                <a:latin typeface="Times New Roman" panose="02020603050405020304" pitchFamily="18" charset="0"/>
                <a:cs typeface="Times New Roman" panose="02020603050405020304" pitchFamily="18" charset="0"/>
              </a:rPr>
              <a:t>Example:</a:t>
            </a:r>
            <a:r>
              <a:rPr lang="en-IN" sz="2000" dirty="0">
                <a:latin typeface="Times New Roman" panose="02020603050405020304" pitchFamily="18" charset="0"/>
                <a:cs typeface="Times New Roman" panose="02020603050405020304" pitchFamily="18" charset="0"/>
              </a:rPr>
              <a:t> The CPU accesses a new memory location for the first time.</a:t>
            </a:r>
          </a:p>
          <a:p>
            <a:r>
              <a:rPr lang="en-IN" sz="2000" b="1" dirty="0">
                <a:latin typeface="Times New Roman" panose="02020603050405020304" pitchFamily="18" charset="0"/>
                <a:cs typeface="Times New Roman" panose="02020603050405020304" pitchFamily="18" charset="0"/>
              </a:rPr>
              <a:t>Solution:</a:t>
            </a:r>
            <a:r>
              <a:rPr lang="en-IN" sz="2000" dirty="0">
                <a:latin typeface="Times New Roman" panose="02020603050405020304" pitchFamily="18" charset="0"/>
                <a:cs typeface="Times New Roman" panose="02020603050405020304" pitchFamily="18" charset="0"/>
              </a:rPr>
              <a:t> Prefetching may reduce the delay in some cases.</a:t>
            </a:r>
          </a:p>
          <a:p>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2. Capacity Miss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Occurs when the cache is too small to hold all the blocks needed by the program.</a:t>
            </a:r>
          </a:p>
          <a:p>
            <a:r>
              <a:rPr lang="en-IN" sz="2000" i="1" dirty="0">
                <a:latin typeface="Times New Roman" panose="02020603050405020304" pitchFamily="18" charset="0"/>
                <a:cs typeface="Times New Roman" panose="02020603050405020304" pitchFamily="18" charset="0"/>
              </a:rPr>
              <a:t>Example:</a:t>
            </a:r>
            <a:r>
              <a:rPr lang="en-IN" sz="2000" dirty="0">
                <a:latin typeface="Times New Roman" panose="02020603050405020304" pitchFamily="18" charset="0"/>
                <a:cs typeface="Times New Roman" panose="02020603050405020304" pitchFamily="18" charset="0"/>
              </a:rPr>
              <a:t> A program repeatedly accesses a working set larger than the cache capacity.</a:t>
            </a:r>
          </a:p>
          <a:p>
            <a:r>
              <a:rPr lang="en-IN" sz="2000" b="1" dirty="0">
                <a:latin typeface="Times New Roman" panose="02020603050405020304" pitchFamily="18" charset="0"/>
                <a:cs typeface="Times New Roman" panose="02020603050405020304" pitchFamily="18" charset="0"/>
              </a:rPr>
              <a:t>Solution:</a:t>
            </a:r>
            <a:r>
              <a:rPr lang="en-IN" sz="2000" dirty="0">
                <a:latin typeface="Times New Roman" panose="02020603050405020304" pitchFamily="18" charset="0"/>
                <a:cs typeface="Times New Roman" panose="02020603050405020304" pitchFamily="18" charset="0"/>
              </a:rPr>
              <a:t> Increase cache capacity or improve data locality.</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Conflict Miss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Occurs when multiple memory blocks compete for the same cache line or set, even though other cache locations may be available.</a:t>
            </a:r>
          </a:p>
          <a:p>
            <a:r>
              <a:rPr lang="en-IN" sz="2000" i="1" dirty="0">
                <a:latin typeface="Times New Roman" panose="02020603050405020304" pitchFamily="18" charset="0"/>
                <a:cs typeface="Times New Roman" panose="02020603050405020304" pitchFamily="18" charset="0"/>
              </a:rPr>
              <a:t>Example:</a:t>
            </a:r>
            <a:r>
              <a:rPr lang="en-IN" sz="2000" dirty="0">
                <a:latin typeface="Times New Roman" panose="02020603050405020304" pitchFamily="18" charset="0"/>
                <a:cs typeface="Times New Roman" panose="02020603050405020304" pitchFamily="18" charset="0"/>
              </a:rPr>
              <a:t> Two frequently used blocks map to the same line in a direct-mapped cache.</a:t>
            </a:r>
          </a:p>
          <a:p>
            <a:r>
              <a:rPr lang="en-IN" sz="2000" b="1" dirty="0">
                <a:latin typeface="Times New Roman" panose="02020603050405020304" pitchFamily="18" charset="0"/>
                <a:cs typeface="Times New Roman" panose="02020603050405020304" pitchFamily="18" charset="0"/>
              </a:rPr>
              <a:t>Solution:</a:t>
            </a:r>
            <a:r>
              <a:rPr lang="en-IN" sz="2000" dirty="0">
                <a:latin typeface="Times New Roman" panose="02020603050405020304" pitchFamily="18" charset="0"/>
                <a:cs typeface="Times New Roman" panose="02020603050405020304" pitchFamily="18" charset="0"/>
              </a:rPr>
              <a:t> Increase associativity or use a different cache organization.</a:t>
            </a:r>
          </a:p>
          <a:p>
            <a:pPr algn="just">
              <a:lnSpc>
                <a:spcPct val="107000"/>
              </a:lnSpc>
              <a:spcBef>
                <a:spcPts val="1800"/>
              </a:spcBef>
              <a:spcAft>
                <a:spcPts val="0"/>
              </a:spcAft>
            </a:pPr>
            <a:endParaRPr lang="en-IN" sz="1600" b="1" dirty="0">
              <a:solidFill>
                <a:srgbClr val="B43412"/>
              </a:solidFill>
              <a:latin typeface="Calibri Light" panose="020F03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59211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254000" y="483508"/>
            <a:ext cx="10146678" cy="4016869"/>
          </a:xfrm>
          <a:prstGeom prst="rect">
            <a:avLst/>
          </a:prstGeom>
        </p:spPr>
        <p:txBody>
          <a:bodyPr wrap="square">
            <a:spAutoFit/>
          </a:bodyPr>
          <a:lstStyle/>
          <a:p>
            <a:pPr algn="just">
              <a:lnSpc>
                <a:spcPct val="107000"/>
              </a:lnSpc>
              <a:spcBef>
                <a:spcPts val="1800"/>
              </a:spcBef>
              <a:spcAft>
                <a:spcPts val="0"/>
              </a:spcAft>
            </a:pPr>
            <a:r>
              <a:rPr lang="en-IN" sz="2400" b="1"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Multi-Level Caches</a:t>
            </a:r>
            <a:endParaRPr lang="en-IN" sz="2400" b="1" dirty="0">
              <a:solidFill>
                <a:srgbClr val="B43412"/>
              </a:solidFill>
              <a:latin typeface="Calibri Light" panose="020F0302020204030204" pitchFamily="34" charset="0"/>
              <a:ea typeface="Times New Roman" panose="02020603050405020304" pitchFamily="18" charset="0"/>
              <a:cs typeface="Times New Roman" panose="02020603050405020304" pitchFamily="18" charset="0"/>
            </a:endParaRPr>
          </a:p>
          <a:p>
            <a:pPr algn="just">
              <a:spcBef>
                <a:spcPts val="600"/>
              </a:spcBef>
              <a:spcAft>
                <a:spcPts val="0"/>
              </a:spcAft>
            </a:pPr>
            <a:r>
              <a:rPr lang="en-IN" sz="2400" dirty="0">
                <a:solidFill>
                  <a:srgbClr val="0D0D0D"/>
                </a:solidFill>
                <a:latin typeface="Times New Roman" panose="02020603050405020304" pitchFamily="18" charset="0"/>
                <a:ea typeface="Times New Roman" panose="02020603050405020304" pitchFamily="18" charset="0"/>
              </a:rPr>
              <a:t>Modern processors use multiple cache levels to balance speed, capacity, and cost.</a:t>
            </a:r>
            <a:endParaRPr lang="en-IN" sz="2000" dirty="0">
              <a:latin typeface="Times New Roman" panose="02020603050405020304" pitchFamily="18" charset="0"/>
              <a:ea typeface="Times New Roman" panose="02020603050405020304" pitchFamily="18"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 </a:t>
            </a:r>
            <a:r>
              <a:rPr lang="en-IN" sz="2400" b="1" dirty="0">
                <a:solidFill>
                  <a:srgbClr val="0D0D0D"/>
                </a:solidFill>
                <a:latin typeface="Times New Roman" panose="02020603050405020304" pitchFamily="18" charset="0"/>
                <a:ea typeface="Times New Roman" panose="02020603050405020304" pitchFamily="18" charset="0"/>
              </a:rPr>
              <a:t>Levels of cache</a:t>
            </a:r>
            <a:endParaRPr lang="en-IN" sz="2400" b="1"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400" b="1" dirty="0">
                <a:solidFill>
                  <a:srgbClr val="0D0D0D"/>
                </a:solidFill>
                <a:latin typeface="Times New Roman" panose="02020603050405020304" pitchFamily="18" charset="0"/>
                <a:ea typeface="Times New Roman" panose="02020603050405020304" pitchFamily="18" charset="0"/>
              </a:rPr>
              <a:t>L1 cache:</a:t>
            </a:r>
            <a:r>
              <a:rPr lang="en-IN" sz="2400" dirty="0">
                <a:solidFill>
                  <a:srgbClr val="0D0D0D"/>
                </a:solidFill>
                <a:latin typeface="Times New Roman" panose="02020603050405020304" pitchFamily="18" charset="0"/>
                <a:ea typeface="Times New Roman" panose="02020603050405020304" pitchFamily="18" charset="0"/>
              </a:rPr>
              <a:t> Closest to the CPU core, very fast, and usually small. It is often divided into instruction cache (L1I) and data cache (L1D).</a:t>
            </a:r>
            <a:endParaRPr lang="en-IN" sz="20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400" b="1" dirty="0">
                <a:solidFill>
                  <a:srgbClr val="0D0D0D"/>
                </a:solidFill>
                <a:latin typeface="Times New Roman" panose="02020603050405020304" pitchFamily="18" charset="0"/>
                <a:ea typeface="Times New Roman" panose="02020603050405020304" pitchFamily="18" charset="0"/>
              </a:rPr>
              <a:t>L2 cache:</a:t>
            </a:r>
            <a:r>
              <a:rPr lang="en-IN" sz="2400" dirty="0">
                <a:solidFill>
                  <a:srgbClr val="0D0D0D"/>
                </a:solidFill>
                <a:latin typeface="Times New Roman" panose="02020603050405020304" pitchFamily="18" charset="0"/>
                <a:ea typeface="Times New Roman" panose="02020603050405020304" pitchFamily="18" charset="0"/>
              </a:rPr>
              <a:t> Larger than L1 but slower. It may be private to a core.</a:t>
            </a:r>
            <a:endParaRPr lang="en-IN" sz="20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400" b="1" dirty="0">
                <a:solidFill>
                  <a:srgbClr val="0D0D0D"/>
                </a:solidFill>
                <a:latin typeface="Times New Roman" panose="02020603050405020304" pitchFamily="18" charset="0"/>
                <a:ea typeface="Times New Roman" panose="02020603050405020304" pitchFamily="18" charset="0"/>
              </a:rPr>
              <a:t>L3 cache:</a:t>
            </a:r>
            <a:r>
              <a:rPr lang="en-IN" sz="2400" dirty="0">
                <a:solidFill>
                  <a:srgbClr val="0D0D0D"/>
                </a:solidFill>
                <a:latin typeface="Times New Roman" panose="02020603050405020304" pitchFamily="18" charset="0"/>
                <a:ea typeface="Times New Roman" panose="02020603050405020304" pitchFamily="18" charset="0"/>
              </a:rPr>
              <a:t> Generally larger and slower than L2 and often shared among multiple cores.</a:t>
            </a:r>
            <a:endParaRPr lang="en-IN" sz="20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400" b="1" dirty="0">
                <a:solidFill>
                  <a:srgbClr val="0D0D0D"/>
                </a:solidFill>
                <a:latin typeface="Times New Roman" panose="02020603050405020304" pitchFamily="18" charset="0"/>
                <a:ea typeface="Times New Roman" panose="02020603050405020304" pitchFamily="18" charset="0"/>
              </a:rPr>
              <a:t>Main memory:</a:t>
            </a:r>
            <a:r>
              <a:rPr lang="en-IN" sz="2400" dirty="0">
                <a:solidFill>
                  <a:srgbClr val="0D0D0D"/>
                </a:solidFill>
                <a:latin typeface="Times New Roman" panose="02020603050405020304" pitchFamily="18" charset="0"/>
                <a:ea typeface="Times New Roman" panose="02020603050405020304" pitchFamily="18" charset="0"/>
              </a:rPr>
              <a:t> Stores much more data but has a higher access latency than cache.</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580384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203200" y="483508"/>
            <a:ext cx="11267440" cy="4154984"/>
          </a:xfrm>
          <a:prstGeom prst="rect">
            <a:avLst/>
          </a:prstGeom>
        </p:spPr>
        <p:txBody>
          <a:bodyPr wrap="square">
            <a:spAutoFit/>
          </a:bodyPr>
          <a:lstStyle/>
          <a:p>
            <a:pPr algn="just">
              <a:spcBef>
                <a:spcPts val="1800"/>
              </a:spcBef>
              <a:spcAft>
                <a:spcPts val="0"/>
              </a:spcAft>
            </a:pPr>
            <a:r>
              <a:rPr lang="en-IN" sz="2400" b="1"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How multi-level caching works</a:t>
            </a:r>
            <a:endParaRPr lang="en-IN" sz="24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Font typeface="+mj-lt"/>
              <a:buAutoNum type="arabicPeriod"/>
              <a:tabLst>
                <a:tab pos="457200" algn="l"/>
              </a:tabLst>
            </a:pPr>
            <a:r>
              <a:rPr lang="en-IN" sz="2400"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The CPU first checks L1.</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Font typeface="+mj-lt"/>
              <a:buAutoNum type="arabicPeriod"/>
              <a:tabLst>
                <a:tab pos="457200" algn="l"/>
              </a:tabLst>
            </a:pPr>
            <a:r>
              <a:rPr lang="en-IN" sz="2400"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If L1 misses, it checks L2.</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Font typeface="+mj-lt"/>
              <a:buAutoNum type="arabicPeriod"/>
              <a:tabLst>
                <a:tab pos="457200" algn="l"/>
              </a:tabLst>
            </a:pPr>
            <a:r>
              <a:rPr lang="en-IN" sz="2400"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If L2 misses, it checks L3, if present.</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Font typeface="+mj-lt"/>
              <a:buAutoNum type="arabicPeriod"/>
              <a:tabLst>
                <a:tab pos="457200" algn="l"/>
              </a:tabLst>
            </a:pPr>
            <a:r>
              <a:rPr lang="en-IN" sz="2400"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If all cache levels miss, data is fetched from RAM and supplied to the processor.</a:t>
            </a:r>
          </a:p>
          <a:p>
            <a:pPr marL="342900" lvl="0" indent="-342900" algn="just">
              <a:spcAft>
                <a:spcPts val="0"/>
              </a:spcAft>
              <a:buFont typeface="+mj-lt"/>
              <a:buAutoNum type="arabicPeriod"/>
              <a:tabLst>
                <a:tab pos="457200" algn="l"/>
              </a:tabLst>
            </a:pPr>
            <a:endParaRPr lang="en-IN" sz="240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Advantages</a:t>
            </a:r>
          </a:p>
          <a:p>
            <a:pPr lvl="0"/>
            <a:r>
              <a:rPr lang="en-IN" sz="2400" dirty="0">
                <a:latin typeface="Times New Roman" panose="02020603050405020304" pitchFamily="18" charset="0"/>
                <a:cs typeface="Times New Roman" panose="02020603050405020304" pitchFamily="18" charset="0"/>
              </a:rPr>
              <a:t>Reduces average memory access time.</a:t>
            </a:r>
          </a:p>
          <a:p>
            <a:pPr lvl="0"/>
            <a:r>
              <a:rPr lang="en-IN" sz="2400" dirty="0">
                <a:latin typeface="Times New Roman" panose="02020603050405020304" pitchFamily="18" charset="0"/>
                <a:cs typeface="Times New Roman" panose="02020603050405020304" pitchFamily="18" charset="0"/>
              </a:rPr>
              <a:t>Bridges the speed gap between the CPU and RAM.</a:t>
            </a:r>
          </a:p>
          <a:p>
            <a:pPr lvl="0"/>
            <a:r>
              <a:rPr lang="en-IN" sz="2400" dirty="0">
                <a:latin typeface="Times New Roman" panose="02020603050405020304" pitchFamily="18" charset="0"/>
                <a:cs typeface="Times New Roman" panose="02020603050405020304" pitchFamily="18" charset="0"/>
              </a:rPr>
              <a:t>Provides a balance between performance, capacity, and hardware cost.</a:t>
            </a:r>
          </a:p>
          <a:p>
            <a:pPr lvl="0" algn="just">
              <a:spcAft>
                <a:spcPts val="0"/>
              </a:spcAft>
              <a:tabLst>
                <a:tab pos="457200" algn="l"/>
              </a:tabLst>
            </a:pP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02922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152400" y="647700"/>
            <a:ext cx="11630025" cy="5627374"/>
          </a:xfrm>
          <a:prstGeom prst="rect">
            <a:avLst/>
          </a:prstGeom>
        </p:spPr>
        <p:txBody>
          <a:bodyPr wrap="square">
            <a:spAutoFit/>
          </a:bodyPr>
          <a:lstStyle/>
          <a:p>
            <a:pPr algn="just">
              <a:lnSpc>
                <a:spcPct val="107000"/>
              </a:lnSpc>
              <a:spcBef>
                <a:spcPts val="1800"/>
              </a:spcBef>
              <a:spcAft>
                <a:spcPts val="0"/>
              </a:spcAft>
            </a:pPr>
            <a:r>
              <a:rPr lang="en-IN"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Cache Replacement Policies — LRU</a:t>
            </a:r>
          </a:p>
          <a:p>
            <a:pPr algn="just">
              <a:spcAft>
                <a:spcPts val="0"/>
              </a:spcAft>
            </a:pPr>
            <a:r>
              <a:rPr lang="en-IN"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A replacement policy determines which cache block should be removed when a new block must be loaded into a full cache set.</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spcBef>
                <a:spcPts val="1200"/>
              </a:spcBef>
              <a:spcAft>
                <a:spcPts val="0"/>
              </a:spcAft>
            </a:pPr>
            <a:r>
              <a:rPr lang="en-IN" b="1"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Common policies include:</a:t>
            </a:r>
            <a:endParaRPr lang="en-IN" sz="16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LRU (Least Recently Used)</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FIFO (First In, First Out)</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Random replacement</a:t>
            </a: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LFU (Least Frequently Used)</a:t>
            </a:r>
            <a:endParaRPr lang="en-IN" sz="160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LRU — Least Recently Used</a:t>
            </a:r>
          </a:p>
          <a:p>
            <a:r>
              <a:rPr lang="en-IN" dirty="0">
                <a:latin typeface="Times New Roman" panose="02020603050405020304" pitchFamily="18" charset="0"/>
                <a:cs typeface="Times New Roman" panose="02020603050405020304" pitchFamily="18" charset="0"/>
              </a:rPr>
              <a:t>LRU replaces the block that has not been accessed for the longest time. It is based on the principle of temporal locality: recently accessed data is likely to be accessed again soon.</a:t>
            </a:r>
          </a:p>
          <a:p>
            <a:r>
              <a:rPr lang="en-US" b="1" dirty="0">
                <a:latin typeface="Times New Roman" panose="02020603050405020304" pitchFamily="18" charset="0"/>
                <a:cs typeface="Times New Roman" panose="02020603050405020304" pitchFamily="18" charset="0"/>
              </a:rPr>
              <a:t>How LRU Works</a:t>
            </a: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CPU requests data from the cache.</a:t>
            </a: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the data is present, it is a cache hit, and the block is marked as recently used.</a:t>
            </a: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the data is absent, it is a cache miss.</a:t>
            </a: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If the cache is full, LRU replaces the block that was used least recently.</a:t>
            </a:r>
          </a:p>
          <a:p>
            <a:pPr marL="342900" indent="-3429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new data block is loaded into the cache.</a:t>
            </a:r>
          </a:p>
          <a:p>
            <a:endParaRPr lang="en-IN" dirty="0">
              <a:latin typeface="Times New Roman" panose="02020603050405020304" pitchFamily="18" charset="0"/>
              <a:cs typeface="Times New Roman" panose="02020603050405020304" pitchFamily="18" charset="0"/>
            </a:endParaRPr>
          </a:p>
          <a:p>
            <a:pPr lvl="0" algn="just">
              <a:spcAft>
                <a:spcPts val="0"/>
              </a:spcAft>
              <a:buSzPts val="1000"/>
              <a:tabLst>
                <a:tab pos="457200" algn="l"/>
              </a:tabLst>
            </a:pP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63302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5669280" y="701040"/>
            <a:ext cx="6258560" cy="4836160"/>
          </a:xfrm>
          <a:prstGeom prst="rect">
            <a:avLst/>
          </a:prstGeom>
        </p:spPr>
      </p:pic>
      <p:sp>
        <p:nvSpPr>
          <p:cNvPr id="3" name="Rectangle 2"/>
          <p:cNvSpPr/>
          <p:nvPr/>
        </p:nvSpPr>
        <p:spPr>
          <a:xfrm>
            <a:off x="111760" y="550795"/>
            <a:ext cx="5069840" cy="5323252"/>
          </a:xfrm>
          <a:prstGeom prst="rect">
            <a:avLst/>
          </a:prstGeom>
        </p:spPr>
        <p:txBody>
          <a:bodyPr wrap="square">
            <a:spAutoFit/>
          </a:bodyPr>
          <a:lstStyle/>
          <a:p>
            <a:pPr>
              <a:lnSpc>
                <a:spcPct val="107000"/>
              </a:lnSpc>
              <a:spcBef>
                <a:spcPts val="200"/>
              </a:spcBef>
              <a:spcAft>
                <a:spcPts val="0"/>
              </a:spcAft>
            </a:pPr>
            <a:r>
              <a:rPr lang="en-IN" sz="2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Why Are Cache Replacement Policies Needed?</a:t>
            </a:r>
            <a:endParaRPr lang="en-IN" sz="2800" b="1" dirty="0">
              <a:solidFill>
                <a:srgbClr val="B43412"/>
              </a:solidFill>
              <a:latin typeface="Calibri Light" panose="020F0302020204030204" pitchFamily="34" charset="0"/>
              <a:ea typeface="Times New Roman" panose="02020603050405020304" pitchFamily="18" charset="0"/>
              <a:cs typeface="Times New Roman" panose="02020603050405020304" pitchFamily="18" charset="0"/>
            </a:endParaRPr>
          </a:p>
          <a:p>
            <a:pPr marL="457200" lvl="0" indent="-457200" algn="just">
              <a:buFont typeface="Arial" panose="020B0604020202020204" pitchFamily="34" charset="0"/>
              <a:buChar char="•"/>
              <a:tabLst>
                <a:tab pos="457200" algn="l"/>
              </a:tabLst>
            </a:pPr>
            <a:r>
              <a:rPr lang="en-IN" sz="2800" dirty="0">
                <a:latin typeface="Times New Roman" panose="02020603050405020304" pitchFamily="18" charset="0"/>
                <a:ea typeface="Times New Roman" panose="02020603050405020304" pitchFamily="18" charset="0"/>
              </a:rPr>
              <a:t>Cache memory has limited storage capacity.</a:t>
            </a:r>
            <a:endParaRPr lang="en-IN" sz="2400" dirty="0">
              <a:latin typeface="Times New Roman" panose="02020603050405020304" pitchFamily="18" charset="0"/>
              <a:ea typeface="Times New Roman" panose="02020603050405020304" pitchFamily="18" charset="0"/>
            </a:endParaRPr>
          </a:p>
          <a:p>
            <a:pPr marL="457200" lvl="0" indent="-457200" algn="just">
              <a:buFont typeface="Arial" panose="020B0604020202020204" pitchFamily="34" charset="0"/>
              <a:buChar char="•"/>
              <a:tabLst>
                <a:tab pos="457200" algn="l"/>
              </a:tabLst>
            </a:pPr>
            <a:r>
              <a:rPr lang="en-IN" sz="2800" dirty="0">
                <a:latin typeface="Times New Roman" panose="02020603050405020304" pitchFamily="18" charset="0"/>
                <a:ea typeface="Times New Roman" panose="02020603050405020304" pitchFamily="18" charset="0"/>
              </a:rPr>
              <a:t>New data may need to be loaded when the cache is already full.</a:t>
            </a:r>
            <a:endParaRPr lang="en-IN" sz="2400" dirty="0">
              <a:latin typeface="Times New Roman" panose="02020603050405020304" pitchFamily="18" charset="0"/>
              <a:ea typeface="Times New Roman" panose="02020603050405020304" pitchFamily="18" charset="0"/>
            </a:endParaRPr>
          </a:p>
          <a:p>
            <a:pPr marL="457200" lvl="0" indent="-457200" algn="just">
              <a:buFont typeface="Arial" panose="020B0604020202020204" pitchFamily="34" charset="0"/>
              <a:buChar char="•"/>
              <a:tabLst>
                <a:tab pos="457200" algn="l"/>
              </a:tabLst>
            </a:pPr>
            <a:r>
              <a:rPr lang="en-IN" sz="2800" dirty="0">
                <a:latin typeface="Times New Roman" panose="02020603050405020304" pitchFamily="18" charset="0"/>
                <a:ea typeface="Times New Roman" panose="02020603050405020304" pitchFamily="18" charset="0"/>
              </a:rPr>
              <a:t>The system must decide which existing block to remove.</a:t>
            </a:r>
            <a:endParaRPr lang="en-IN" sz="2400" dirty="0">
              <a:latin typeface="Times New Roman" panose="02020603050405020304" pitchFamily="18" charset="0"/>
              <a:ea typeface="Times New Roman" panose="02020603050405020304" pitchFamily="18" charset="0"/>
            </a:endParaRPr>
          </a:p>
          <a:p>
            <a:pPr marL="457200" lvl="0" indent="-457200" algn="just">
              <a:buFont typeface="Arial" panose="020B0604020202020204" pitchFamily="34" charset="0"/>
              <a:buChar char="•"/>
              <a:tabLst>
                <a:tab pos="457200" algn="l"/>
              </a:tabLst>
            </a:pPr>
            <a:r>
              <a:rPr lang="en-IN" sz="2800" dirty="0">
                <a:latin typeface="Times New Roman" panose="02020603050405020304" pitchFamily="18" charset="0"/>
                <a:ea typeface="Times New Roman" panose="02020603050405020304" pitchFamily="18" charset="0"/>
              </a:rPr>
              <a:t>A good replacement policy helps reduce cache misses and improve performance.</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395549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39B0D6-2A8B-CE26-0A1F-29A7495222C0}"/>
              </a:ext>
            </a:extLst>
          </p:cNvPr>
          <p:cNvSpPr txBox="1"/>
          <p:nvPr/>
        </p:nvSpPr>
        <p:spPr>
          <a:xfrm>
            <a:off x="839912" y="868547"/>
            <a:ext cx="6097712" cy="707886"/>
          </a:xfrm>
          <a:prstGeom prst="rect">
            <a:avLst/>
          </a:prstGeom>
          <a:noFill/>
        </p:spPr>
        <p:txBody>
          <a:bodyPr wrap="square">
            <a:spAutoFit/>
          </a:bodyPr>
          <a:lstStyle/>
          <a:p>
            <a:pPr>
              <a:buNone/>
            </a:pPr>
            <a:r>
              <a:rPr lang="en-US" sz="2000" b="1" dirty="0"/>
              <a:t>Example</a:t>
            </a:r>
          </a:p>
          <a:p>
            <a:pPr>
              <a:buNone/>
            </a:pPr>
            <a:r>
              <a:rPr lang="en-US" sz="2000" dirty="0"/>
              <a:t>Assume the cache can store 3 blocks: A, B, and C</a:t>
            </a:r>
            <a:r>
              <a:rPr lang="en-US" dirty="0"/>
              <a:t>.</a:t>
            </a:r>
          </a:p>
        </p:txBody>
      </p:sp>
      <p:graphicFrame>
        <p:nvGraphicFramePr>
          <p:cNvPr id="4" name="Table 3">
            <a:extLst>
              <a:ext uri="{FF2B5EF4-FFF2-40B4-BE49-F238E27FC236}">
                <a16:creationId xmlns:a16="http://schemas.microsoft.com/office/drawing/2014/main" id="{3D16DE9A-F7DE-557F-FB87-53B40B3C3FFF}"/>
              </a:ext>
            </a:extLst>
          </p:cNvPr>
          <p:cNvGraphicFramePr>
            <a:graphicFrameLocks noGrp="1"/>
          </p:cNvGraphicFramePr>
          <p:nvPr/>
        </p:nvGraphicFramePr>
        <p:xfrm>
          <a:off x="704636" y="2018382"/>
          <a:ext cx="10515600" cy="2377440"/>
        </p:xfrm>
        <a:graphic>
          <a:graphicData uri="http://schemas.openxmlformats.org/drawingml/2006/table">
            <a:tbl>
              <a:tblPr/>
              <a:tblGrid>
                <a:gridCol w="3505200">
                  <a:extLst>
                    <a:ext uri="{9D8B030D-6E8A-4147-A177-3AD203B41FA5}">
                      <a16:colId xmlns:a16="http://schemas.microsoft.com/office/drawing/2014/main" val="1302723912"/>
                    </a:ext>
                  </a:extLst>
                </a:gridCol>
                <a:gridCol w="3505200">
                  <a:extLst>
                    <a:ext uri="{9D8B030D-6E8A-4147-A177-3AD203B41FA5}">
                      <a16:colId xmlns:a16="http://schemas.microsoft.com/office/drawing/2014/main" val="3893703155"/>
                    </a:ext>
                  </a:extLst>
                </a:gridCol>
                <a:gridCol w="3505200">
                  <a:extLst>
                    <a:ext uri="{9D8B030D-6E8A-4147-A177-3AD203B41FA5}">
                      <a16:colId xmlns:a16="http://schemas.microsoft.com/office/drawing/2014/main" val="1546858884"/>
                    </a:ext>
                  </a:extLst>
                </a:gridCol>
              </a:tblGrid>
              <a:tr h="0">
                <a:tc>
                  <a:txBody>
                    <a:bodyPr/>
                    <a:lstStyle/>
                    <a:p>
                      <a:pPr>
                        <a:buNone/>
                      </a:pPr>
                      <a:r>
                        <a:rPr lang="en-IN" sz="2000" b="1"/>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b="1"/>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b="1" dirty="0"/>
                        <a:t>Cache 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4787014"/>
                  </a:ext>
                </a:extLst>
              </a:tr>
              <a:tr h="0">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a:t>Load 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dirty="0"/>
                        <a:t>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1654965"/>
                  </a:ext>
                </a:extLst>
              </a:tr>
              <a:tr h="0">
                <a:tc>
                  <a:txBody>
                    <a:bodyPr/>
                    <a:lstStyle/>
                    <a:p>
                      <a:pPr>
                        <a:buNone/>
                      </a:pPr>
                      <a:r>
                        <a:rPr lang="en-IN" sz="20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a:t>Access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dirty="0"/>
                        <a:t>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9147366"/>
                  </a:ext>
                </a:extLst>
              </a:tr>
              <a:tr h="0">
                <a:tc>
                  <a:txBody>
                    <a:bodyPr/>
                    <a:lstStyle/>
                    <a:p>
                      <a:pPr>
                        <a:buNone/>
                      </a:pPr>
                      <a:r>
                        <a:rPr lang="en-IN" sz="20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a:t>Access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a:t>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113164"/>
                  </a:ext>
                </a:extLst>
              </a:tr>
              <a:tr h="0">
                <a:tc>
                  <a:txBody>
                    <a:bodyPr/>
                    <a:lstStyle/>
                    <a:p>
                      <a:pPr>
                        <a:buNone/>
                      </a:pPr>
                      <a:r>
                        <a:rPr lang="en-IN" sz="20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a:t>Access A again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a:t>A, 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620111"/>
                  </a:ext>
                </a:extLst>
              </a:tr>
              <a:tr h="0">
                <a:tc>
                  <a:txBody>
                    <a:bodyPr/>
                    <a:lstStyle/>
                    <a:p>
                      <a:pPr>
                        <a:buNone/>
                      </a:pPr>
                      <a:r>
                        <a:rPr lang="en-IN" sz="20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a:t>Load new block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2000" dirty="0"/>
                        <a:t>A, B,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5583243"/>
                  </a:ext>
                </a:extLst>
              </a:tr>
            </a:tbl>
          </a:graphicData>
        </a:graphic>
      </p:graphicFrame>
      <p:sp>
        <p:nvSpPr>
          <p:cNvPr id="7" name="TextBox 6">
            <a:extLst>
              <a:ext uri="{FF2B5EF4-FFF2-40B4-BE49-F238E27FC236}">
                <a16:creationId xmlns:a16="http://schemas.microsoft.com/office/drawing/2014/main" id="{35EA10E6-82FD-FB8F-EC8E-5622C299C75E}"/>
              </a:ext>
            </a:extLst>
          </p:cNvPr>
          <p:cNvSpPr txBox="1"/>
          <p:nvPr/>
        </p:nvSpPr>
        <p:spPr>
          <a:xfrm>
            <a:off x="704635" y="4988484"/>
            <a:ext cx="11131193" cy="400110"/>
          </a:xfrm>
          <a:prstGeom prst="rect">
            <a:avLst/>
          </a:prstGeom>
          <a:noFill/>
        </p:spPr>
        <p:txBody>
          <a:bodyPr wrap="square">
            <a:spAutoFit/>
          </a:bodyPr>
          <a:lstStyle/>
          <a:p>
            <a:pPr>
              <a:buNone/>
            </a:pPr>
            <a:r>
              <a:rPr lang="en-US" sz="2000" b="1" dirty="0"/>
              <a:t>Explanation:</a:t>
            </a:r>
            <a:r>
              <a:rPr lang="en-US" sz="2000" dirty="0"/>
              <a:t> Before D arrives, C is the least recently used block. Therefore, C is replaced by D.</a:t>
            </a:r>
          </a:p>
        </p:txBody>
      </p:sp>
    </p:spTree>
    <p:extLst>
      <p:ext uri="{BB962C8B-B14F-4D97-AF65-F5344CB8AC3E}">
        <p14:creationId xmlns:p14="http://schemas.microsoft.com/office/powerpoint/2010/main" val="35527283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565392"/>
            <a:ext cx="12191695" cy="292608"/>
          </a:xfrm>
          <a:prstGeom prst="rect">
            <a:avLst/>
          </a:prstGeom>
          <a:solidFill>
            <a:srgbClr val="18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6583680"/>
            <a:ext cx="2619628" cy="230832"/>
          </a:xfrm>
          <a:prstGeom prst="rect">
            <a:avLst/>
          </a:prstGeom>
          <a:noFill/>
        </p:spPr>
        <p:txBody>
          <a:bodyPr wrap="none">
            <a:spAutoFit/>
          </a:bodyPr>
          <a:lstStyle/>
          <a:p>
            <a:pPr>
              <a:defRPr sz="900">
                <a:solidFill>
                  <a:srgbClr val="FFFFFF"/>
                </a:solidFill>
              </a:defRPr>
            </a:pPr>
            <a:r>
              <a:rPr lang="en-IN" sz="900" dirty="0"/>
              <a:t>Module III: </a:t>
            </a:r>
            <a:r>
              <a:rPr lang="en-IN" sz="900" b="1" dirty="0"/>
              <a:t>Memory Systems &amp; Cache Organization</a:t>
            </a:r>
            <a:endParaRPr dirty="0"/>
          </a:p>
        </p:txBody>
      </p:sp>
      <p:sp>
        <p:nvSpPr>
          <p:cNvPr id="6" name="TextBox 5"/>
          <p:cNvSpPr txBox="1"/>
          <p:nvPr/>
        </p:nvSpPr>
        <p:spPr>
          <a:xfrm>
            <a:off x="10972800" y="6583680"/>
            <a:ext cx="640080" cy="182880"/>
          </a:xfrm>
          <a:prstGeom prst="rect">
            <a:avLst/>
          </a:prstGeom>
          <a:noFill/>
        </p:spPr>
        <p:txBody>
          <a:bodyPr wrap="none">
            <a:spAutoFit/>
          </a:bodyPr>
          <a:lstStyle/>
          <a:p>
            <a:pPr algn="r">
              <a:defRPr sz="900">
                <a:solidFill>
                  <a:srgbClr val="FFFFFF"/>
                </a:solidFill>
              </a:defRPr>
            </a:pPr>
            <a:r>
              <a:t>2</a:t>
            </a:r>
          </a:p>
        </p:txBody>
      </p:sp>
      <p:sp>
        <p:nvSpPr>
          <p:cNvPr id="2" name="Rectangle 1"/>
          <p:cNvSpPr/>
          <p:nvPr/>
        </p:nvSpPr>
        <p:spPr>
          <a:xfrm>
            <a:off x="152400" y="483508"/>
            <a:ext cx="10718800" cy="4201150"/>
          </a:xfrm>
          <a:prstGeom prst="rect">
            <a:avLst/>
          </a:prstGeom>
        </p:spPr>
        <p:txBody>
          <a:bodyPr wrap="square">
            <a:spAutoFit/>
          </a:bodyPr>
          <a:lstStyle/>
          <a:p>
            <a:pPr algn="just">
              <a:spcBef>
                <a:spcPts val="1800"/>
              </a:spcBef>
              <a:spcAft>
                <a:spcPts val="0"/>
              </a:spcAft>
            </a:pPr>
            <a:r>
              <a:rPr lang="en-IN" sz="2800" b="1" dirty="0">
                <a:solidFill>
                  <a:srgbClr val="0D0D0D"/>
                </a:solidFill>
                <a:latin typeface="Times New Roman" panose="02020603050405020304" pitchFamily="18" charset="0"/>
                <a:ea typeface="Times New Roman" panose="02020603050405020304" pitchFamily="18" charset="0"/>
              </a:rPr>
              <a:t>Advantages of LRU</a:t>
            </a:r>
            <a:endParaRPr lang="en-IN" sz="2800" b="1"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800" dirty="0">
                <a:solidFill>
                  <a:srgbClr val="0D0D0D"/>
                </a:solidFill>
                <a:latin typeface="Times New Roman" panose="02020603050405020304" pitchFamily="18" charset="0"/>
                <a:ea typeface="Times New Roman" panose="02020603050405020304" pitchFamily="18" charset="0"/>
              </a:rPr>
              <a:t>Uses recent access history to make replacement decisions.</a:t>
            </a:r>
            <a:endParaRPr lang="en-IN" sz="24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800" dirty="0">
                <a:solidFill>
                  <a:srgbClr val="0D0D0D"/>
                </a:solidFill>
                <a:latin typeface="Times New Roman" panose="02020603050405020304" pitchFamily="18" charset="0"/>
                <a:ea typeface="Times New Roman" panose="02020603050405020304" pitchFamily="18" charset="0"/>
              </a:rPr>
              <a:t>Often performs well when programs exhibit temporal locality.</a:t>
            </a:r>
            <a:endParaRPr lang="en-IN" sz="24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800" dirty="0">
                <a:solidFill>
                  <a:srgbClr val="0D0D0D"/>
                </a:solidFill>
                <a:latin typeface="Times New Roman" panose="02020603050405020304" pitchFamily="18" charset="0"/>
                <a:ea typeface="Times New Roman" panose="02020603050405020304" pitchFamily="18" charset="0"/>
              </a:rPr>
              <a:t>Is deterministic for a given access sequence and initial cache state.</a:t>
            </a:r>
            <a:endParaRPr lang="en-IN" sz="2400" dirty="0">
              <a:latin typeface="Times New Roman" panose="02020603050405020304" pitchFamily="18" charset="0"/>
              <a:ea typeface="Times New Roman" panose="02020603050405020304" pitchFamily="18" charset="0"/>
            </a:endParaRPr>
          </a:p>
          <a:p>
            <a:pPr algn="just">
              <a:spcBef>
                <a:spcPts val="1800"/>
              </a:spcBef>
              <a:spcAft>
                <a:spcPts val="0"/>
              </a:spcAft>
            </a:pPr>
            <a:r>
              <a:rPr lang="en-IN" sz="2800" b="1" dirty="0">
                <a:solidFill>
                  <a:srgbClr val="0D0D0D"/>
                </a:solidFill>
                <a:latin typeface="Times New Roman" panose="02020603050405020304" pitchFamily="18" charset="0"/>
                <a:ea typeface="Times New Roman" panose="02020603050405020304" pitchFamily="18" charset="0"/>
              </a:rPr>
              <a:t>Disadvantages of LRU</a:t>
            </a:r>
            <a:endParaRPr lang="en-IN" sz="2800" b="1"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800" dirty="0">
                <a:solidFill>
                  <a:srgbClr val="0D0D0D"/>
                </a:solidFill>
                <a:latin typeface="Times New Roman" panose="02020603050405020304" pitchFamily="18" charset="0"/>
                <a:ea typeface="Times New Roman" panose="02020603050405020304" pitchFamily="18" charset="0"/>
              </a:rPr>
              <a:t>Tracking access order requires extra hardware or bookkeeping.</a:t>
            </a:r>
            <a:endParaRPr lang="en-IN" sz="24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800" dirty="0">
                <a:solidFill>
                  <a:srgbClr val="0D0D0D"/>
                </a:solidFill>
                <a:latin typeface="Times New Roman" panose="02020603050405020304" pitchFamily="18" charset="0"/>
                <a:ea typeface="Times New Roman" panose="02020603050405020304" pitchFamily="18" charset="0"/>
              </a:rPr>
              <a:t>Exact LRU becomes expensive for highly associative caches.</a:t>
            </a:r>
            <a:endParaRPr lang="en-IN" sz="2400" dirty="0">
              <a:latin typeface="Times New Roman" panose="02020603050405020304" pitchFamily="18" charset="0"/>
              <a:ea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n-IN" sz="2800" dirty="0">
                <a:solidFill>
                  <a:srgbClr val="0D0D0D"/>
                </a:solidFill>
                <a:latin typeface="Times New Roman" panose="02020603050405020304" pitchFamily="18" charset="0"/>
                <a:ea typeface="Times New Roman" panose="02020603050405020304" pitchFamily="18" charset="0"/>
              </a:rPr>
              <a:t>It may perform poorly for some access patterns, such as repeatedly scanning a large sequence of blocks.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852540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E570BE-BECD-3142-B01B-7365AB85E185}"/>
              </a:ext>
            </a:extLst>
          </p:cNvPr>
          <p:cNvSpPr txBox="1"/>
          <p:nvPr/>
        </p:nvSpPr>
        <p:spPr>
          <a:xfrm>
            <a:off x="983226" y="386413"/>
            <a:ext cx="10048568" cy="5423088"/>
          </a:xfrm>
          <a:prstGeom prst="rect">
            <a:avLst/>
          </a:prstGeom>
          <a:noFill/>
        </p:spPr>
        <p:txBody>
          <a:bodyPr wrap="square">
            <a:spAutoFit/>
          </a:bodyPr>
          <a:lstStyle/>
          <a:p>
            <a:pPr>
              <a:lnSpc>
                <a:spcPct val="150000"/>
              </a:lnSpc>
              <a:spcAft>
                <a:spcPts val="800"/>
              </a:spcAft>
              <a:buNone/>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Subject:</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Computer Organization &amp; Architecture</a:t>
            </a:r>
            <a:r>
              <a:rPr lang="en-IN" sz="2000" b="1"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800"/>
              </a:spcAft>
              <a:buNone/>
            </a:pPr>
            <a:r>
              <a:rPr lang="en-IN" sz="2000" b="1" u="sng" dirty="0">
                <a:effectLst/>
                <a:latin typeface="Times New Roman" panose="02020603050405020304" pitchFamily="18" charset="0"/>
                <a:ea typeface="Calibri" panose="020F0502020204030204" pitchFamily="34" charset="0"/>
                <a:cs typeface="Times New Roman" panose="02020603050405020304" pitchFamily="18" charset="0"/>
              </a:rPr>
              <a:t>Assignment No – III</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50000"/>
              </a:lnSpc>
              <a:buNone/>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lvl="0" indent="-342900">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Explain Memory Hierarchy in details</a:t>
            </a:r>
          </a:p>
          <a:p>
            <a:pPr marL="342900" lvl="0" indent="-342900">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Define Latency, Throughput and Bandwidth with respect to the memory performance</a:t>
            </a:r>
          </a:p>
          <a:p>
            <a:pPr marL="342900" lvl="0" indent="-342900">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Briefly explain SRAM and DRAM </a:t>
            </a:r>
          </a:p>
          <a:p>
            <a:pPr marL="342900" lvl="0" indent="-342900">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Define is Cache memory and explain need of Cache memory?</a:t>
            </a:r>
          </a:p>
          <a:p>
            <a:pPr marL="342900" lvl="0" indent="-342900">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Explain Cache mapping techniques</a:t>
            </a:r>
          </a:p>
          <a:p>
            <a:pPr marL="342900" lvl="0" indent="-342900">
              <a:lnSpc>
                <a:spcPct val="150000"/>
              </a:lnSpc>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Difference between Write-through and write-back policies</a:t>
            </a:r>
          </a:p>
          <a:p>
            <a:pPr marL="342900" lvl="0" indent="-342900">
              <a:lnSpc>
                <a:spcPct val="150000"/>
              </a:lnSpc>
              <a:spcAft>
                <a:spcPts val="800"/>
              </a:spcAft>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Define tag array and data array with major differences </a:t>
            </a:r>
          </a:p>
          <a:p>
            <a:pPr marL="342900" lvl="0" indent="-342900">
              <a:lnSpc>
                <a:spcPct val="150000"/>
              </a:lnSpc>
              <a:spcAft>
                <a:spcPts val="800"/>
              </a:spcAft>
              <a:buFont typeface="+mj-lt"/>
              <a:buAutoNum type="arabicPeriod"/>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Define Cache Replacement Policies and explain LRU</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2013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2436</TotalTime>
  <Words>6192</Words>
  <Application>Microsoft Office PowerPoint</Application>
  <PresentationFormat>Widescreen</PresentationFormat>
  <Paragraphs>689</Paragraphs>
  <Slides>80</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9" baseType="lpstr">
      <vt:lpstr>Arial</vt:lpstr>
      <vt:lpstr>Calibri</vt:lpstr>
      <vt:lpstr>Calibri Light</vt:lpstr>
      <vt:lpstr>Nunito</vt:lpstr>
      <vt:lpstr>Symbol</vt:lpstr>
      <vt:lpstr>Times New Roman</vt:lpstr>
      <vt:lpstr>Wingdings</vt:lpstr>
      <vt:lpstr>Office Theme</vt:lpstr>
      <vt:lpstr>Document</vt:lpstr>
      <vt:lpstr>Module III: Memory Systems &amp; Cache Organization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NILESH JADHAV</dc:creator>
  <cp:lastModifiedBy>NILESH JADHAV</cp:lastModifiedBy>
  <cp:revision>101</cp:revision>
  <dcterms:created xsi:type="dcterms:W3CDTF">2026-10-11T12:01:34Z</dcterms:created>
  <dcterms:modified xsi:type="dcterms:W3CDTF">2026-10-19T06:56:12Z</dcterms:modified>
</cp:coreProperties>
</file>